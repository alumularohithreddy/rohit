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8125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8E28-625F-648A-A2AE-19D55EF60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A694A-DC84-5CA4-1FA7-C5B57B35AC1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0DBEB52-2A84-DC74-0D71-B14DEB17B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93EA3E-D528-4354-EED3-6C33C5CE102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12610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858000" y="-724486"/>
            <a:ext cx="3200400" cy="3200400"/>
          </a:xfrm>
          <a:prstGeom prst="ellipse">
            <a:avLst/>
          </a:prstGeom>
          <a:solidFill>
            <a:srgbClr val="1E4D8C">
              <a:alpha val="30000"/>
            </a:srgbClr>
          </a:solidFill>
          <a:ln w="12700">
            <a:solidFill>
              <a:srgbClr val="1E4D8C">
                <a:alpha val="30000"/>
              </a:srgbClr>
            </a:solidFill>
            <a:prstDash val="solid"/>
          </a:ln>
        </p:spPr>
        <p:txBody>
          <a:bodyPr/>
          <a:lstStyle/>
          <a:p>
            <a:endParaRPr lang="en-IN"/>
          </a:p>
        </p:txBody>
      </p:sp>
      <p:sp>
        <p:nvSpPr>
          <p:cNvPr id="4" name="Shape 2"/>
          <p:cNvSpPr/>
          <p:nvPr/>
        </p:nvSpPr>
        <p:spPr>
          <a:xfrm>
            <a:off x="7498080" y="2926080"/>
            <a:ext cx="2286000" cy="2286000"/>
          </a:xfrm>
          <a:prstGeom prst="ellipse">
            <a:avLst/>
          </a:prstGeom>
          <a:solidFill>
            <a:srgbClr val="0096B4">
              <a:alpha val="25000"/>
            </a:srgbClr>
          </a:solidFill>
          <a:ln w="12700">
            <a:solidFill>
              <a:srgbClr val="0096B4">
                <a:alpha val="25000"/>
              </a:srgbClr>
            </a:solidFill>
            <a:prstDash val="solid"/>
          </a:ln>
        </p:spPr>
        <p:txBody>
          <a:bodyPr/>
          <a:lstStyle/>
          <a:p>
            <a:endParaRPr lang="en-IN"/>
          </a:p>
        </p:txBody>
      </p:sp>
      <p:sp>
        <p:nvSpPr>
          <p:cNvPr id="5" name="Text 3"/>
          <p:cNvSpPr/>
          <p:nvPr/>
        </p:nvSpPr>
        <p:spPr>
          <a:xfrm>
            <a:off x="457200" y="548640"/>
            <a:ext cx="8412480" cy="640080"/>
          </a:xfrm>
          <a:prstGeom prst="rect">
            <a:avLst/>
          </a:prstGeom>
          <a:noFill/>
          <a:ln/>
        </p:spPr>
        <p:txBody>
          <a:bodyPr wrap="square" rtlCol="0" anchor="ctr"/>
          <a:lstStyle/>
          <a:p>
            <a:pPr marL="0" indent="0" algn="ctr">
              <a:buNone/>
            </a:pPr>
            <a:r>
              <a:rPr lang="en-US" sz="4000" b="1" kern="0" spc="400" dirty="0">
                <a:solidFill>
                  <a:srgbClr val="FFFFFF"/>
                </a:solidFill>
              </a:rPr>
              <a:t>VEHICLE INSURANCE</a:t>
            </a:r>
            <a:endParaRPr lang="en-US" sz="4000" dirty="0"/>
          </a:p>
        </p:txBody>
      </p:sp>
      <p:sp>
        <p:nvSpPr>
          <p:cNvPr id="6" name="Text 4"/>
          <p:cNvSpPr/>
          <p:nvPr/>
        </p:nvSpPr>
        <p:spPr>
          <a:xfrm>
            <a:off x="457200" y="1554480"/>
            <a:ext cx="8412480" cy="738554"/>
          </a:xfrm>
          <a:prstGeom prst="rect">
            <a:avLst/>
          </a:prstGeom>
          <a:noFill/>
          <a:ln/>
        </p:spPr>
        <p:txBody>
          <a:bodyPr wrap="square" rtlCol="0" anchor="ctr"/>
          <a:lstStyle/>
          <a:p>
            <a:pPr marL="0" indent="0" algn="ctr">
              <a:buNone/>
            </a:pPr>
            <a:r>
              <a:rPr lang="en-US" sz="4000" b="1" kern="0" spc="400" dirty="0">
                <a:solidFill>
                  <a:srgbClr val="00B4D8"/>
                </a:solidFill>
              </a:rPr>
              <a:t>MANAGEMENT SYSTEM</a:t>
            </a:r>
          </a:p>
          <a:p>
            <a:pPr marL="0" indent="0" algn="ctr">
              <a:buNone/>
            </a:pPr>
            <a:r>
              <a:rPr lang="en-US" sz="4000" b="1" kern="0" spc="400" dirty="0">
                <a:solidFill>
                  <a:schemeClr val="bg1">
                    <a:lumMod val="85000"/>
                  </a:schemeClr>
                </a:solidFill>
              </a:rPr>
              <a:t>(SHIELD DRIVE)</a:t>
            </a:r>
          </a:p>
          <a:p>
            <a:pPr marL="0" indent="0" algn="ctr">
              <a:buNone/>
            </a:pPr>
            <a:endParaRPr lang="en-US" sz="4000" dirty="0"/>
          </a:p>
        </p:txBody>
      </p:sp>
      <p:sp>
        <p:nvSpPr>
          <p:cNvPr id="7" name="Shape 5"/>
          <p:cNvSpPr/>
          <p:nvPr/>
        </p:nvSpPr>
        <p:spPr>
          <a:xfrm>
            <a:off x="2286000" y="2222696"/>
            <a:ext cx="4572000" cy="0"/>
          </a:xfrm>
          <a:prstGeom prst="line">
            <a:avLst/>
          </a:prstGeom>
          <a:noFill/>
          <a:ln w="25400">
            <a:solidFill>
              <a:srgbClr val="00B4D8"/>
            </a:solidFill>
            <a:prstDash val="solid"/>
          </a:ln>
        </p:spPr>
        <p:txBody>
          <a:bodyPr/>
          <a:lstStyle/>
          <a:p>
            <a:endParaRPr lang="en-IN"/>
          </a:p>
        </p:txBody>
      </p:sp>
      <p:sp>
        <p:nvSpPr>
          <p:cNvPr id="8" name="Text 6"/>
          <p:cNvSpPr/>
          <p:nvPr/>
        </p:nvSpPr>
        <p:spPr>
          <a:xfrm>
            <a:off x="731520" y="2057400"/>
            <a:ext cx="7680960" cy="914400"/>
          </a:xfrm>
          <a:prstGeom prst="rect">
            <a:avLst/>
          </a:prstGeom>
          <a:noFill/>
          <a:ln/>
        </p:spPr>
        <p:txBody>
          <a:bodyPr wrap="square" rtlCol="0" anchor="ctr"/>
          <a:lstStyle/>
          <a:p>
            <a:pPr marL="0" indent="0" algn="ctr">
              <a:buNone/>
            </a:pPr>
            <a:r>
              <a:rPr lang="en-US" sz="1300" i="1" dirty="0">
                <a:solidFill>
                  <a:srgbClr val="8FA8C8"/>
                </a:solidFill>
              </a:rPr>
              <a:t>A full-stack enterprise application for end-to-end vehicle insurance</a:t>
            </a:r>
            <a:endParaRPr lang="en-US" sz="1300" dirty="0"/>
          </a:p>
          <a:p>
            <a:pPr marL="0" indent="0" algn="ctr">
              <a:buNone/>
            </a:pPr>
            <a:r>
              <a:rPr lang="en-US" sz="1300" i="1" dirty="0">
                <a:solidFill>
                  <a:srgbClr val="8FA8C8"/>
                </a:solidFill>
              </a:rPr>
              <a:t>lifecycle management  from policy issuance to claims settlement and financial reporting.</a:t>
            </a:r>
            <a:endParaRPr lang="en-US" sz="1300" dirty="0"/>
          </a:p>
        </p:txBody>
      </p:sp>
      <p:sp>
        <p:nvSpPr>
          <p:cNvPr id="9" name="Shape 7"/>
          <p:cNvSpPr/>
          <p:nvPr/>
        </p:nvSpPr>
        <p:spPr>
          <a:xfrm>
            <a:off x="1188720" y="3108960"/>
            <a:ext cx="2194560" cy="384048"/>
          </a:xfrm>
          <a:prstGeom prst="roundRect">
            <a:avLst>
              <a:gd name="adj" fmla="val 19048"/>
            </a:avLst>
          </a:prstGeom>
          <a:solidFill>
            <a:srgbClr val="1E4D8C"/>
          </a:solidFill>
          <a:ln w="12700">
            <a:solidFill>
              <a:srgbClr val="00B4D8"/>
            </a:solidFill>
            <a:prstDash val="solid"/>
          </a:ln>
        </p:spPr>
        <p:txBody>
          <a:bodyPr/>
          <a:lstStyle/>
          <a:p>
            <a:endParaRPr lang="en-IN"/>
          </a:p>
        </p:txBody>
      </p:sp>
      <p:sp>
        <p:nvSpPr>
          <p:cNvPr id="10" name="Text 8"/>
          <p:cNvSpPr/>
          <p:nvPr/>
        </p:nvSpPr>
        <p:spPr>
          <a:xfrm>
            <a:off x="1188720" y="3108960"/>
            <a:ext cx="2194560" cy="384048"/>
          </a:xfrm>
          <a:prstGeom prst="rect">
            <a:avLst/>
          </a:prstGeom>
          <a:noFill/>
          <a:ln/>
        </p:spPr>
        <p:txBody>
          <a:bodyPr wrap="square" rtlCol="0" anchor="ctr"/>
          <a:lstStyle/>
          <a:p>
            <a:pPr marL="0" indent="0" algn="ctr">
              <a:buNone/>
            </a:pPr>
            <a:r>
              <a:rPr lang="en-US" sz="1100" b="1" dirty="0">
                <a:solidFill>
                  <a:srgbClr val="FFFFFF"/>
                </a:solidFill>
              </a:rPr>
              <a:t>Clean Architecture</a:t>
            </a:r>
            <a:endParaRPr lang="en-US" sz="1100" dirty="0"/>
          </a:p>
        </p:txBody>
      </p:sp>
      <p:sp>
        <p:nvSpPr>
          <p:cNvPr id="11" name="Shape 9"/>
          <p:cNvSpPr/>
          <p:nvPr/>
        </p:nvSpPr>
        <p:spPr>
          <a:xfrm>
            <a:off x="5486400" y="3063240"/>
            <a:ext cx="2194560" cy="384048"/>
          </a:xfrm>
          <a:prstGeom prst="roundRect">
            <a:avLst>
              <a:gd name="adj" fmla="val 19048"/>
            </a:avLst>
          </a:prstGeom>
          <a:solidFill>
            <a:srgbClr val="1E4D8C"/>
          </a:solidFill>
          <a:ln w="12700">
            <a:solidFill>
              <a:srgbClr val="00B4D8"/>
            </a:solidFill>
            <a:prstDash val="solid"/>
          </a:ln>
        </p:spPr>
        <p:txBody>
          <a:bodyPr/>
          <a:lstStyle/>
          <a:p>
            <a:endParaRPr lang="en-IN"/>
          </a:p>
        </p:txBody>
      </p:sp>
      <p:sp>
        <p:nvSpPr>
          <p:cNvPr id="12" name="Text 10"/>
          <p:cNvSpPr/>
          <p:nvPr/>
        </p:nvSpPr>
        <p:spPr>
          <a:xfrm>
            <a:off x="5486400" y="3102630"/>
            <a:ext cx="2194560" cy="384048"/>
          </a:xfrm>
          <a:prstGeom prst="rect">
            <a:avLst/>
          </a:prstGeom>
          <a:noFill/>
          <a:ln/>
        </p:spPr>
        <p:txBody>
          <a:bodyPr wrap="square" rtlCol="0" anchor="ctr"/>
          <a:lstStyle/>
          <a:p>
            <a:pPr marL="0" indent="0" algn="ctr">
              <a:buNone/>
            </a:pPr>
            <a:r>
              <a:rPr lang="en-US" sz="1100" b="1" dirty="0">
                <a:solidFill>
                  <a:srgbClr val="FFFFFF"/>
                </a:solidFill>
              </a:rPr>
              <a:t>RBAC Security</a:t>
            </a:r>
            <a:endParaRPr lang="en-US" sz="1100" dirty="0"/>
          </a:p>
        </p:txBody>
      </p:sp>
      <p:sp>
        <p:nvSpPr>
          <p:cNvPr id="15" name="Text 13"/>
          <p:cNvSpPr/>
          <p:nvPr/>
        </p:nvSpPr>
        <p:spPr>
          <a:xfrm>
            <a:off x="457200" y="3657600"/>
            <a:ext cx="8229600" cy="320040"/>
          </a:xfrm>
          <a:prstGeom prst="rect">
            <a:avLst/>
          </a:prstGeom>
          <a:noFill/>
          <a:ln/>
        </p:spPr>
        <p:txBody>
          <a:bodyPr wrap="square" rtlCol="0" anchor="ctr"/>
          <a:lstStyle/>
          <a:p>
            <a:pPr marL="0" indent="0" algn="ctr">
              <a:buNone/>
            </a:pPr>
            <a:r>
              <a:rPr lang="en-US" sz="1200" kern="0" spc="100" dirty="0">
                <a:solidFill>
                  <a:srgbClr val="00B4D8"/>
                </a:solidFill>
              </a:rPr>
              <a:t>Angular 20  ·  .NET 8  ·  SQL Server</a:t>
            </a:r>
            <a:endParaRPr lang="en-US" sz="1200" dirty="0"/>
          </a:p>
        </p:txBody>
      </p:sp>
      <p:sp>
        <p:nvSpPr>
          <p:cNvPr id="16" name="Text 14"/>
          <p:cNvSpPr/>
          <p:nvPr/>
        </p:nvSpPr>
        <p:spPr>
          <a:xfrm>
            <a:off x="914400" y="4149266"/>
            <a:ext cx="8229600" cy="1154254"/>
          </a:xfrm>
          <a:prstGeom prst="rect">
            <a:avLst/>
          </a:prstGeom>
          <a:noFill/>
          <a:ln/>
        </p:spPr>
        <p:txBody>
          <a:bodyPr wrap="square" rtlCol="0" anchor="ctr"/>
          <a:lstStyle/>
          <a:p>
            <a:pPr marL="0" indent="0">
              <a:buNone/>
            </a:pPr>
            <a:r>
              <a:rPr lang="en-US" sz="1600" dirty="0">
                <a:solidFill>
                  <a:schemeClr val="bg1">
                    <a:lumMod val="85000"/>
                  </a:schemeClr>
                </a:solidFill>
              </a:rPr>
              <a:t>Presented  By        :  Rohith  Reddy  Alumula  (Hartford Intern)</a:t>
            </a:r>
          </a:p>
          <a:p>
            <a:pPr marL="0" indent="0">
              <a:buNone/>
            </a:pPr>
            <a:r>
              <a:rPr lang="en-US" sz="1600" dirty="0">
                <a:solidFill>
                  <a:schemeClr val="bg1">
                    <a:lumMod val="85000"/>
                  </a:schemeClr>
                </a:solidFill>
              </a:rPr>
              <a:t>Project Start Date :  04/03/2026</a:t>
            </a:r>
          </a:p>
          <a:p>
            <a:pPr marL="0" indent="0">
              <a:buNone/>
            </a:pPr>
            <a:r>
              <a:rPr lang="en-US" sz="1600" dirty="0">
                <a:solidFill>
                  <a:schemeClr val="bg1">
                    <a:lumMod val="85000"/>
                  </a:schemeClr>
                </a:solidFill>
              </a:rPr>
              <a:t>Review and Submission Date:  09/03/2026</a:t>
            </a:r>
          </a:p>
          <a:p>
            <a:pPr marL="0" indent="0" algn="ctr">
              <a:buNone/>
            </a:pPr>
            <a:endParaRPr lang="en-US" sz="1600" dirty="0">
              <a:solidFill>
                <a:schemeClr val="bg1">
                  <a:lumMod val="8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00 · PROBLEM STATEMENT</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The Problem We're Solving</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Text 4"/>
          <p:cNvSpPr/>
          <p:nvPr/>
        </p:nvSpPr>
        <p:spPr>
          <a:xfrm>
            <a:off x="320040" y="1024128"/>
            <a:ext cx="8503920" cy="438912"/>
          </a:xfrm>
          <a:prstGeom prst="rect">
            <a:avLst/>
          </a:prstGeom>
          <a:noFill/>
          <a:ln/>
        </p:spPr>
        <p:txBody>
          <a:bodyPr wrap="square" rtlCol="0" anchor="ctr"/>
          <a:lstStyle/>
          <a:p>
            <a:pPr marL="0" indent="0">
              <a:buNone/>
            </a:pPr>
            <a:r>
              <a:rPr lang="en-US" sz="1250" i="1" dirty="0">
                <a:solidFill>
                  <a:srgbClr val="8FA8C8"/>
                </a:solidFill>
              </a:rPr>
              <a:t>Traditional vehicle insurance processes are fragmented, manual, and error-prone — creating pain for every stakeholder.</a:t>
            </a:r>
            <a:endParaRPr lang="en-US" sz="1250" dirty="0"/>
          </a:p>
        </p:txBody>
      </p:sp>
      <p:sp>
        <p:nvSpPr>
          <p:cNvPr id="7" name="Shape 5"/>
          <p:cNvSpPr/>
          <p:nvPr/>
        </p:nvSpPr>
        <p:spPr>
          <a:xfrm>
            <a:off x="274320" y="1536192"/>
            <a:ext cx="2834640" cy="1691640"/>
          </a:xfrm>
          <a:prstGeom prst="rect">
            <a:avLst/>
          </a:prstGeom>
          <a:solidFill>
            <a:srgbClr val="1A1040"/>
          </a:solidFill>
          <a:ln w="12700">
            <a:solidFill>
              <a:srgbClr val="EF476F"/>
            </a:solidFill>
            <a:prstDash val="solid"/>
          </a:ln>
          <a:effectLst>
            <a:outerShdw blurRad="101600" dist="38100" dir="8100000" algn="bl" rotWithShape="0">
              <a:srgbClr val="000000">
                <a:alpha val="20000"/>
              </a:srgbClr>
            </a:outerShdw>
          </a:effectLst>
        </p:spPr>
        <p:txBody>
          <a:bodyPr/>
          <a:lstStyle/>
          <a:p>
            <a:endParaRPr lang="en-IN"/>
          </a:p>
        </p:txBody>
      </p:sp>
      <p:sp>
        <p:nvSpPr>
          <p:cNvPr id="8" name="Shape 6"/>
          <p:cNvSpPr/>
          <p:nvPr/>
        </p:nvSpPr>
        <p:spPr>
          <a:xfrm>
            <a:off x="274320" y="1536192"/>
            <a:ext cx="2834640" cy="64008"/>
          </a:xfrm>
          <a:prstGeom prst="rect">
            <a:avLst/>
          </a:prstGeom>
          <a:solidFill>
            <a:srgbClr val="EF476F"/>
          </a:solidFill>
          <a:ln w="12700">
            <a:solidFill>
              <a:srgbClr val="EF476F"/>
            </a:solidFill>
            <a:prstDash val="solid"/>
          </a:ln>
        </p:spPr>
        <p:txBody>
          <a:bodyPr/>
          <a:lstStyle/>
          <a:p>
            <a:endParaRPr lang="en-IN"/>
          </a:p>
        </p:txBody>
      </p:sp>
      <p:sp>
        <p:nvSpPr>
          <p:cNvPr id="9" name="Text 7"/>
          <p:cNvSpPr/>
          <p:nvPr/>
        </p:nvSpPr>
        <p:spPr>
          <a:xfrm>
            <a:off x="384048" y="1591056"/>
            <a:ext cx="2615184" cy="347472"/>
          </a:xfrm>
          <a:prstGeom prst="rect">
            <a:avLst/>
          </a:prstGeom>
          <a:noFill/>
          <a:ln/>
        </p:spPr>
        <p:txBody>
          <a:bodyPr wrap="square" rtlCol="0" anchor="ctr"/>
          <a:lstStyle/>
          <a:p>
            <a:pPr marL="0" indent="0">
              <a:buNone/>
            </a:pPr>
            <a:r>
              <a:rPr lang="en-US" sz="1200" b="1" dirty="0">
                <a:solidFill>
                  <a:srgbClr val="FFFFFF"/>
                </a:solidFill>
              </a:rPr>
              <a:t>📋  Manual Paper Processes</a:t>
            </a:r>
            <a:endParaRPr lang="en-US" sz="1200" dirty="0"/>
          </a:p>
        </p:txBody>
      </p:sp>
      <p:sp>
        <p:nvSpPr>
          <p:cNvPr id="10" name="Text 8"/>
          <p:cNvSpPr/>
          <p:nvPr/>
        </p:nvSpPr>
        <p:spPr>
          <a:xfrm>
            <a:off x="384048" y="1956816"/>
            <a:ext cx="2615184" cy="1170432"/>
          </a:xfrm>
          <a:prstGeom prst="rect">
            <a:avLst/>
          </a:prstGeom>
          <a:noFill/>
          <a:ln/>
        </p:spPr>
        <p:txBody>
          <a:bodyPr wrap="square" rtlCol="0" anchor="ctr"/>
          <a:lstStyle/>
          <a:p>
            <a:pPr marL="0" indent="0">
              <a:buNone/>
            </a:pPr>
            <a:r>
              <a:rPr lang="en-US" sz="1000" dirty="0">
                <a:solidFill>
                  <a:srgbClr val="90E0EF"/>
                </a:solidFill>
              </a:rPr>
              <a:t>Policy issuance, renewals, and claim forms handled via paper or disconnected spreadsheets — slow, error-prone, and hard to audit.</a:t>
            </a:r>
            <a:endParaRPr lang="en-US" sz="1000" dirty="0"/>
          </a:p>
        </p:txBody>
      </p:sp>
      <p:sp>
        <p:nvSpPr>
          <p:cNvPr id="11" name="Shape 9"/>
          <p:cNvSpPr/>
          <p:nvPr/>
        </p:nvSpPr>
        <p:spPr>
          <a:xfrm>
            <a:off x="3246120" y="1536192"/>
            <a:ext cx="2834640" cy="1691640"/>
          </a:xfrm>
          <a:prstGeom prst="rect">
            <a:avLst/>
          </a:prstGeom>
          <a:solidFill>
            <a:srgbClr val="0F1F40"/>
          </a:solidFill>
          <a:ln w="12700">
            <a:solidFill>
              <a:srgbClr val="EF476F"/>
            </a:solidFill>
            <a:prstDash val="solid"/>
          </a:ln>
          <a:effectLst>
            <a:outerShdw blurRad="101600" dist="38100" dir="8100000" algn="bl" rotWithShape="0">
              <a:srgbClr val="000000">
                <a:alpha val="20000"/>
              </a:srgbClr>
            </a:outerShdw>
          </a:effectLst>
        </p:spPr>
        <p:txBody>
          <a:bodyPr/>
          <a:lstStyle/>
          <a:p>
            <a:endParaRPr lang="en-IN"/>
          </a:p>
        </p:txBody>
      </p:sp>
      <p:sp>
        <p:nvSpPr>
          <p:cNvPr id="12" name="Shape 10"/>
          <p:cNvSpPr/>
          <p:nvPr/>
        </p:nvSpPr>
        <p:spPr>
          <a:xfrm>
            <a:off x="3246120" y="1536192"/>
            <a:ext cx="2834640" cy="64008"/>
          </a:xfrm>
          <a:prstGeom prst="rect">
            <a:avLst/>
          </a:prstGeom>
          <a:solidFill>
            <a:srgbClr val="EF476F"/>
          </a:solidFill>
          <a:ln w="12700">
            <a:solidFill>
              <a:srgbClr val="EF476F"/>
            </a:solidFill>
            <a:prstDash val="solid"/>
          </a:ln>
        </p:spPr>
        <p:txBody>
          <a:bodyPr/>
          <a:lstStyle/>
          <a:p>
            <a:endParaRPr lang="en-IN"/>
          </a:p>
        </p:txBody>
      </p:sp>
      <p:sp>
        <p:nvSpPr>
          <p:cNvPr id="13" name="Text 11"/>
          <p:cNvSpPr/>
          <p:nvPr/>
        </p:nvSpPr>
        <p:spPr>
          <a:xfrm>
            <a:off x="3355848" y="1591056"/>
            <a:ext cx="2615184" cy="347472"/>
          </a:xfrm>
          <a:prstGeom prst="rect">
            <a:avLst/>
          </a:prstGeom>
          <a:noFill/>
          <a:ln/>
        </p:spPr>
        <p:txBody>
          <a:bodyPr wrap="square" rtlCol="0" anchor="ctr"/>
          <a:lstStyle/>
          <a:p>
            <a:pPr marL="0" indent="0">
              <a:buNone/>
            </a:pPr>
            <a:r>
              <a:rPr lang="en-US" sz="1200" b="1" dirty="0">
                <a:solidFill>
                  <a:srgbClr val="FFFFFF"/>
                </a:solidFill>
              </a:rPr>
              <a:t>🔍  No Fraud Detection</a:t>
            </a:r>
            <a:endParaRPr lang="en-US" sz="1200" dirty="0"/>
          </a:p>
        </p:txBody>
      </p:sp>
      <p:sp>
        <p:nvSpPr>
          <p:cNvPr id="14" name="Text 12"/>
          <p:cNvSpPr/>
          <p:nvPr/>
        </p:nvSpPr>
        <p:spPr>
          <a:xfrm>
            <a:off x="3355848" y="1956816"/>
            <a:ext cx="2615184" cy="1170432"/>
          </a:xfrm>
          <a:prstGeom prst="rect">
            <a:avLst/>
          </a:prstGeom>
          <a:noFill/>
          <a:ln/>
        </p:spPr>
        <p:txBody>
          <a:bodyPr wrap="square" rtlCol="0" anchor="ctr"/>
          <a:lstStyle/>
          <a:p>
            <a:pPr marL="0" indent="0">
              <a:buNone/>
            </a:pPr>
            <a:r>
              <a:rPr lang="en-US" sz="1000" dirty="0">
                <a:solidFill>
                  <a:srgbClr val="90E0EF"/>
                </a:solidFill>
              </a:rPr>
              <a:t>Insurance fraud through duplicate claims, inflated amounts, and staged incidents goes undetected without automated risk scoring.</a:t>
            </a:r>
            <a:endParaRPr lang="en-US" sz="1000" dirty="0"/>
          </a:p>
        </p:txBody>
      </p:sp>
      <p:sp>
        <p:nvSpPr>
          <p:cNvPr id="15" name="Shape 13"/>
          <p:cNvSpPr/>
          <p:nvPr/>
        </p:nvSpPr>
        <p:spPr>
          <a:xfrm>
            <a:off x="6217920" y="1536192"/>
            <a:ext cx="2834640" cy="1691640"/>
          </a:xfrm>
          <a:prstGeom prst="rect">
            <a:avLst/>
          </a:prstGeom>
          <a:solidFill>
            <a:srgbClr val="0A1C3C"/>
          </a:solidFill>
          <a:ln w="12700">
            <a:solidFill>
              <a:srgbClr val="EF476F"/>
            </a:solidFill>
            <a:prstDash val="solid"/>
          </a:ln>
          <a:effectLst>
            <a:outerShdw blurRad="101600" dist="38100" dir="8100000" algn="bl" rotWithShape="0">
              <a:srgbClr val="000000">
                <a:alpha val="20000"/>
              </a:srgbClr>
            </a:outerShdw>
          </a:effectLst>
        </p:spPr>
        <p:txBody>
          <a:bodyPr/>
          <a:lstStyle/>
          <a:p>
            <a:endParaRPr lang="en-IN"/>
          </a:p>
        </p:txBody>
      </p:sp>
      <p:sp>
        <p:nvSpPr>
          <p:cNvPr id="16" name="Shape 14"/>
          <p:cNvSpPr/>
          <p:nvPr/>
        </p:nvSpPr>
        <p:spPr>
          <a:xfrm>
            <a:off x="6217920" y="1536192"/>
            <a:ext cx="2834640" cy="64008"/>
          </a:xfrm>
          <a:prstGeom prst="rect">
            <a:avLst/>
          </a:prstGeom>
          <a:solidFill>
            <a:srgbClr val="EF476F"/>
          </a:solidFill>
          <a:ln w="12700">
            <a:solidFill>
              <a:srgbClr val="EF476F"/>
            </a:solidFill>
            <a:prstDash val="solid"/>
          </a:ln>
        </p:spPr>
        <p:txBody>
          <a:bodyPr/>
          <a:lstStyle/>
          <a:p>
            <a:endParaRPr lang="en-IN"/>
          </a:p>
        </p:txBody>
      </p:sp>
      <p:sp>
        <p:nvSpPr>
          <p:cNvPr id="17" name="Text 15"/>
          <p:cNvSpPr/>
          <p:nvPr/>
        </p:nvSpPr>
        <p:spPr>
          <a:xfrm>
            <a:off x="6327648" y="1591056"/>
            <a:ext cx="2615184" cy="347472"/>
          </a:xfrm>
          <a:prstGeom prst="rect">
            <a:avLst/>
          </a:prstGeom>
          <a:noFill/>
          <a:ln/>
        </p:spPr>
        <p:txBody>
          <a:bodyPr wrap="square" rtlCol="0" anchor="ctr"/>
          <a:lstStyle/>
          <a:p>
            <a:pPr marL="0" indent="0">
              <a:buNone/>
            </a:pPr>
            <a:r>
              <a:rPr lang="en-US" sz="1200" b="1" dirty="0">
                <a:solidFill>
                  <a:srgbClr val="FFFFFF"/>
                </a:solidFill>
              </a:rPr>
              <a:t>🔒  Weak Access Control</a:t>
            </a:r>
            <a:endParaRPr lang="en-US" sz="1200" dirty="0"/>
          </a:p>
        </p:txBody>
      </p:sp>
      <p:sp>
        <p:nvSpPr>
          <p:cNvPr id="18" name="Text 16"/>
          <p:cNvSpPr/>
          <p:nvPr/>
        </p:nvSpPr>
        <p:spPr>
          <a:xfrm>
            <a:off x="6327648" y="1956816"/>
            <a:ext cx="2615184" cy="1170432"/>
          </a:xfrm>
          <a:prstGeom prst="rect">
            <a:avLst/>
          </a:prstGeom>
          <a:noFill/>
          <a:ln/>
        </p:spPr>
        <p:txBody>
          <a:bodyPr wrap="square" rtlCol="0" anchor="ctr"/>
          <a:lstStyle/>
          <a:p>
            <a:pPr marL="0" indent="0">
              <a:buNone/>
            </a:pPr>
            <a:r>
              <a:rPr lang="en-US" sz="1000" dirty="0">
                <a:solidFill>
                  <a:srgbClr val="90E0EF"/>
                </a:solidFill>
              </a:rPr>
              <a:t>Agents, customers, and admins share the same data views — no role-based restrictions leads to data leakage and compliance risk.</a:t>
            </a:r>
            <a:endParaRPr lang="en-US" sz="1000" dirty="0"/>
          </a:p>
        </p:txBody>
      </p:sp>
      <p:sp>
        <p:nvSpPr>
          <p:cNvPr id="19" name="Shape 17"/>
          <p:cNvSpPr/>
          <p:nvPr/>
        </p:nvSpPr>
        <p:spPr>
          <a:xfrm>
            <a:off x="4480560" y="3291840"/>
            <a:ext cx="0" cy="274320"/>
          </a:xfrm>
          <a:prstGeom prst="line">
            <a:avLst/>
          </a:prstGeom>
          <a:noFill/>
          <a:ln w="25400">
            <a:solidFill>
              <a:srgbClr val="00B4D8"/>
            </a:solidFill>
            <a:prstDash val="solid"/>
          </a:ln>
        </p:spPr>
        <p:txBody>
          <a:bodyPr/>
          <a:lstStyle/>
          <a:p>
            <a:endParaRPr lang="en-IN"/>
          </a:p>
        </p:txBody>
      </p:sp>
      <p:sp>
        <p:nvSpPr>
          <p:cNvPr id="20" name="Text 18"/>
          <p:cNvSpPr/>
          <p:nvPr/>
        </p:nvSpPr>
        <p:spPr>
          <a:xfrm>
            <a:off x="4206240" y="3547872"/>
            <a:ext cx="548640" cy="274320"/>
          </a:xfrm>
          <a:prstGeom prst="rect">
            <a:avLst/>
          </a:prstGeom>
          <a:noFill/>
          <a:ln/>
        </p:spPr>
        <p:txBody>
          <a:bodyPr wrap="square" rtlCol="0" anchor="ctr"/>
          <a:lstStyle/>
          <a:p>
            <a:pPr marL="0" indent="0" algn="ctr">
              <a:buNone/>
            </a:pPr>
            <a:r>
              <a:rPr lang="en-US" sz="1600" dirty="0">
                <a:solidFill>
                  <a:srgbClr val="00B4D8"/>
                </a:solidFill>
              </a:rPr>
              <a:t>▼</a:t>
            </a:r>
            <a:endParaRPr lang="en-US" sz="1600" dirty="0"/>
          </a:p>
        </p:txBody>
      </p:sp>
      <p:sp>
        <p:nvSpPr>
          <p:cNvPr id="21" name="Shape 19"/>
          <p:cNvSpPr/>
          <p:nvPr/>
        </p:nvSpPr>
        <p:spPr>
          <a:xfrm>
            <a:off x="274320" y="3858768"/>
            <a:ext cx="8595360" cy="960120"/>
          </a:xfrm>
          <a:prstGeom prst="rect">
            <a:avLst/>
          </a:prstGeom>
          <a:solidFill>
            <a:srgbClr val="1E4D8C"/>
          </a:solidFill>
          <a:ln w="1905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22" name="Shape 20"/>
          <p:cNvSpPr/>
          <p:nvPr/>
        </p:nvSpPr>
        <p:spPr>
          <a:xfrm>
            <a:off x="274320" y="3858768"/>
            <a:ext cx="73152" cy="960120"/>
          </a:xfrm>
          <a:prstGeom prst="rect">
            <a:avLst/>
          </a:prstGeom>
          <a:solidFill>
            <a:srgbClr val="00B4D8"/>
          </a:solidFill>
          <a:ln w="12700">
            <a:solidFill>
              <a:srgbClr val="00B4D8"/>
            </a:solidFill>
            <a:prstDash val="solid"/>
          </a:ln>
        </p:spPr>
        <p:txBody>
          <a:bodyPr/>
          <a:lstStyle/>
          <a:p>
            <a:endParaRPr lang="en-IN"/>
          </a:p>
        </p:txBody>
      </p:sp>
      <p:sp>
        <p:nvSpPr>
          <p:cNvPr id="23" name="Text 21"/>
          <p:cNvSpPr/>
          <p:nvPr/>
        </p:nvSpPr>
        <p:spPr>
          <a:xfrm>
            <a:off x="502920" y="3895344"/>
            <a:ext cx="8229600" cy="886968"/>
          </a:xfrm>
          <a:prstGeom prst="rect">
            <a:avLst/>
          </a:prstGeom>
          <a:noFill/>
          <a:ln/>
        </p:spPr>
        <p:txBody>
          <a:bodyPr wrap="square" rtlCol="0" anchor="ctr"/>
          <a:lstStyle/>
          <a:p>
            <a:pPr marL="0" indent="0">
              <a:buNone/>
            </a:pPr>
            <a:r>
              <a:rPr lang="en-US" sz="1400" b="1" dirty="0">
                <a:solidFill>
                  <a:srgbClr val="00B4D8"/>
                </a:solidFill>
              </a:rPr>
              <a:t>VIMS </a:t>
            </a:r>
            <a:r>
              <a:rPr lang="en-US" sz="1300" dirty="0">
                <a:solidFill>
                  <a:srgbClr val="FFFFFF"/>
                </a:solidFill>
              </a:rPr>
              <a:t>solves this with a unified full-stack platform , digitising the entire insurance lifecycle with </a:t>
            </a:r>
            <a:r>
              <a:rPr lang="en-US" sz="1300" i="1" dirty="0">
                <a:solidFill>
                  <a:srgbClr val="90E0EF"/>
                </a:solidFill>
              </a:rPr>
              <a:t>role-based access, automated premium &amp; fraud engines, real-time claims tracking, and integrated billing</a:t>
            </a:r>
            <a:r>
              <a:rPr lang="en-US" sz="1300" dirty="0">
                <a:solidFill>
                  <a:srgbClr val="FFFFFF"/>
                </a:solidFill>
              </a:rPr>
              <a:t> , all in one secure, auditable system.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01 · PROJECT OVERVIEW</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What Is VIMS?</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Text 4"/>
          <p:cNvSpPr/>
          <p:nvPr/>
        </p:nvSpPr>
        <p:spPr>
          <a:xfrm>
            <a:off x="320040" y="1024128"/>
            <a:ext cx="8503920" cy="457200"/>
          </a:xfrm>
          <a:prstGeom prst="rect">
            <a:avLst/>
          </a:prstGeom>
          <a:noFill/>
          <a:ln/>
        </p:spPr>
        <p:txBody>
          <a:bodyPr wrap="square" rtlCol="0" anchor="ctr"/>
          <a:lstStyle/>
          <a:p>
            <a:pPr marL="0" indent="0">
              <a:buNone/>
            </a:pPr>
            <a:r>
              <a:rPr lang="en-US" sz="1200" i="1" dirty="0">
                <a:solidFill>
                  <a:srgbClr val="8FA8C8"/>
                </a:solidFill>
              </a:rPr>
              <a:t>A full-stack enterprise platform that digitises the entire vehicle insurance lifecycle — from quote to claim to settlement.</a:t>
            </a:r>
            <a:endParaRPr lang="en-US" sz="1200" dirty="0"/>
          </a:p>
        </p:txBody>
      </p:sp>
      <p:sp>
        <p:nvSpPr>
          <p:cNvPr id="7" name="Shape 5"/>
          <p:cNvSpPr/>
          <p:nvPr/>
        </p:nvSpPr>
        <p:spPr>
          <a:xfrm>
            <a:off x="320040" y="1572768"/>
            <a:ext cx="2029968" cy="2331720"/>
          </a:xfrm>
          <a:prstGeom prst="rect">
            <a:avLst/>
          </a:prstGeom>
          <a:solidFill>
            <a:srgbClr val="1E4D8C"/>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8" name="Shape 6"/>
          <p:cNvSpPr/>
          <p:nvPr/>
        </p:nvSpPr>
        <p:spPr>
          <a:xfrm>
            <a:off x="320040" y="1572768"/>
            <a:ext cx="2029968" cy="64008"/>
          </a:xfrm>
          <a:prstGeom prst="rect">
            <a:avLst/>
          </a:prstGeom>
          <a:solidFill>
            <a:srgbClr val="00B4D8"/>
          </a:solidFill>
          <a:ln w="12700">
            <a:solidFill>
              <a:srgbClr val="00B4D8"/>
            </a:solidFill>
            <a:prstDash val="solid"/>
          </a:ln>
        </p:spPr>
        <p:txBody>
          <a:bodyPr/>
          <a:lstStyle/>
          <a:p>
            <a:endParaRPr lang="en-IN"/>
          </a:p>
        </p:txBody>
      </p:sp>
      <p:sp>
        <p:nvSpPr>
          <p:cNvPr id="9" name="Text 7"/>
          <p:cNvSpPr/>
          <p:nvPr/>
        </p:nvSpPr>
        <p:spPr>
          <a:xfrm>
            <a:off x="320040" y="1664208"/>
            <a:ext cx="2029968"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20040" y="2121408"/>
            <a:ext cx="2029968" cy="365760"/>
          </a:xfrm>
          <a:prstGeom prst="rect">
            <a:avLst/>
          </a:prstGeom>
          <a:noFill/>
          <a:ln/>
        </p:spPr>
        <p:txBody>
          <a:bodyPr wrap="square" rtlCol="0" anchor="ctr"/>
          <a:lstStyle/>
          <a:p>
            <a:pPr marL="0" indent="0" algn="ctr">
              <a:buNone/>
            </a:pPr>
            <a:r>
              <a:rPr lang="en-US" sz="1300" b="1" dirty="0">
                <a:solidFill>
                  <a:srgbClr val="FFFFFF"/>
                </a:solidFill>
              </a:rPr>
              <a:t>Admin</a:t>
            </a:r>
            <a:endParaRPr lang="en-US" sz="1300" dirty="0"/>
          </a:p>
        </p:txBody>
      </p:sp>
      <p:sp>
        <p:nvSpPr>
          <p:cNvPr id="11" name="Text 9"/>
          <p:cNvSpPr/>
          <p:nvPr/>
        </p:nvSpPr>
        <p:spPr>
          <a:xfrm>
            <a:off x="411480" y="2514600"/>
            <a:ext cx="1847088" cy="731520"/>
          </a:xfrm>
          <a:prstGeom prst="rect">
            <a:avLst/>
          </a:prstGeom>
          <a:noFill/>
          <a:ln/>
        </p:spPr>
        <p:txBody>
          <a:bodyPr wrap="square" rtlCol="0" anchor="ctr"/>
          <a:lstStyle/>
          <a:p>
            <a:pPr marL="0" indent="0" algn="ctr">
              <a:buNone/>
            </a:pPr>
            <a:r>
              <a:rPr lang="en-US" sz="1000" dirty="0">
                <a:solidFill>
                  <a:srgbClr val="90E0EF"/>
                </a:solidFill>
              </a:rPr>
              <a:t>Full system access</a:t>
            </a:r>
            <a:endParaRPr lang="en-US" sz="1000" dirty="0"/>
          </a:p>
          <a:p>
            <a:pPr marL="0" indent="0" algn="ctr">
              <a:buNone/>
            </a:pPr>
            <a:r>
              <a:rPr lang="en-US" sz="1000" dirty="0">
                <a:solidFill>
                  <a:srgbClr val="90E0EF"/>
                </a:solidFill>
              </a:rPr>
              <a:t>User &amp; plan management</a:t>
            </a:r>
            <a:endParaRPr lang="en-US" sz="1000" dirty="0"/>
          </a:p>
        </p:txBody>
      </p:sp>
      <p:sp>
        <p:nvSpPr>
          <p:cNvPr id="12" name="Shape 10"/>
          <p:cNvSpPr/>
          <p:nvPr/>
        </p:nvSpPr>
        <p:spPr>
          <a:xfrm>
            <a:off x="2532888" y="1572768"/>
            <a:ext cx="2029968" cy="2331720"/>
          </a:xfrm>
          <a:prstGeom prst="rect">
            <a:avLst/>
          </a:prstGeom>
          <a:solidFill>
            <a:srgbClr val="1B5E8C"/>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13" name="Shape 11"/>
          <p:cNvSpPr/>
          <p:nvPr/>
        </p:nvSpPr>
        <p:spPr>
          <a:xfrm>
            <a:off x="2532888" y="1572768"/>
            <a:ext cx="2029968" cy="64008"/>
          </a:xfrm>
          <a:prstGeom prst="rect">
            <a:avLst/>
          </a:prstGeom>
          <a:solidFill>
            <a:srgbClr val="00B4D8"/>
          </a:solidFill>
          <a:ln w="12700">
            <a:solidFill>
              <a:srgbClr val="00B4D8"/>
            </a:solidFill>
            <a:prstDash val="solid"/>
          </a:ln>
        </p:spPr>
        <p:txBody>
          <a:bodyPr/>
          <a:lstStyle/>
          <a:p>
            <a:endParaRPr lang="en-IN"/>
          </a:p>
        </p:txBody>
      </p:sp>
      <p:sp>
        <p:nvSpPr>
          <p:cNvPr id="14" name="Text 12"/>
          <p:cNvSpPr/>
          <p:nvPr/>
        </p:nvSpPr>
        <p:spPr>
          <a:xfrm>
            <a:off x="2532888" y="1664208"/>
            <a:ext cx="2029968"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5" name="Text 13"/>
          <p:cNvSpPr/>
          <p:nvPr/>
        </p:nvSpPr>
        <p:spPr>
          <a:xfrm>
            <a:off x="2532888" y="2121408"/>
            <a:ext cx="2029968" cy="365760"/>
          </a:xfrm>
          <a:prstGeom prst="rect">
            <a:avLst/>
          </a:prstGeom>
          <a:noFill/>
          <a:ln/>
        </p:spPr>
        <p:txBody>
          <a:bodyPr wrap="square" rtlCol="0" anchor="ctr"/>
          <a:lstStyle/>
          <a:p>
            <a:pPr marL="0" indent="0" algn="ctr">
              <a:buNone/>
            </a:pPr>
            <a:r>
              <a:rPr lang="en-US" sz="1300" b="1" dirty="0">
                <a:solidFill>
                  <a:srgbClr val="FFFFFF"/>
                </a:solidFill>
              </a:rPr>
              <a:t>Agent</a:t>
            </a:r>
            <a:endParaRPr lang="en-US" sz="1300" dirty="0"/>
          </a:p>
        </p:txBody>
      </p:sp>
      <p:sp>
        <p:nvSpPr>
          <p:cNvPr id="16" name="Text 14"/>
          <p:cNvSpPr/>
          <p:nvPr/>
        </p:nvSpPr>
        <p:spPr>
          <a:xfrm>
            <a:off x="2624328" y="2514600"/>
            <a:ext cx="1847088" cy="731520"/>
          </a:xfrm>
          <a:prstGeom prst="rect">
            <a:avLst/>
          </a:prstGeom>
          <a:noFill/>
          <a:ln/>
        </p:spPr>
        <p:txBody>
          <a:bodyPr wrap="square" rtlCol="0" anchor="ctr"/>
          <a:lstStyle/>
          <a:p>
            <a:pPr marL="0" indent="0" algn="ctr">
              <a:buNone/>
            </a:pPr>
            <a:r>
              <a:rPr lang="en-US" sz="1000" dirty="0">
                <a:solidFill>
                  <a:srgbClr val="90E0EF"/>
                </a:solidFill>
              </a:rPr>
              <a:t>Issue &amp; renew policies</a:t>
            </a:r>
            <a:endParaRPr lang="en-US" sz="1000" dirty="0"/>
          </a:p>
          <a:p>
            <a:pPr marL="0" indent="0" algn="ctr">
              <a:buNone/>
            </a:pPr>
            <a:r>
              <a:rPr lang="en-US" sz="1000" dirty="0">
                <a:solidFill>
                  <a:srgbClr val="90E0EF"/>
                </a:solidFill>
              </a:rPr>
              <a:t>Earn commissions</a:t>
            </a:r>
            <a:endParaRPr lang="en-US" sz="1000" dirty="0"/>
          </a:p>
        </p:txBody>
      </p:sp>
      <p:sp>
        <p:nvSpPr>
          <p:cNvPr id="17" name="Shape 15"/>
          <p:cNvSpPr/>
          <p:nvPr/>
        </p:nvSpPr>
        <p:spPr>
          <a:xfrm>
            <a:off x="4745736" y="1572768"/>
            <a:ext cx="2029968" cy="2331720"/>
          </a:xfrm>
          <a:prstGeom prst="rect">
            <a:avLst/>
          </a:prstGeom>
          <a:solidFill>
            <a:srgbClr val="0D4F6B"/>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18" name="Shape 16"/>
          <p:cNvSpPr/>
          <p:nvPr/>
        </p:nvSpPr>
        <p:spPr>
          <a:xfrm>
            <a:off x="4745736" y="1572768"/>
            <a:ext cx="2029968" cy="64008"/>
          </a:xfrm>
          <a:prstGeom prst="rect">
            <a:avLst/>
          </a:prstGeom>
          <a:solidFill>
            <a:srgbClr val="00B4D8"/>
          </a:solidFill>
          <a:ln w="12700">
            <a:solidFill>
              <a:srgbClr val="00B4D8"/>
            </a:solidFill>
            <a:prstDash val="solid"/>
          </a:ln>
        </p:spPr>
        <p:txBody>
          <a:bodyPr/>
          <a:lstStyle/>
          <a:p>
            <a:endParaRPr lang="en-IN"/>
          </a:p>
        </p:txBody>
      </p:sp>
      <p:sp>
        <p:nvSpPr>
          <p:cNvPr id="19" name="Text 17"/>
          <p:cNvSpPr/>
          <p:nvPr/>
        </p:nvSpPr>
        <p:spPr>
          <a:xfrm>
            <a:off x="4745736" y="1664208"/>
            <a:ext cx="2029968"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0" name="Text 18"/>
          <p:cNvSpPr/>
          <p:nvPr/>
        </p:nvSpPr>
        <p:spPr>
          <a:xfrm>
            <a:off x="4745736" y="2121408"/>
            <a:ext cx="2029968" cy="365760"/>
          </a:xfrm>
          <a:prstGeom prst="rect">
            <a:avLst/>
          </a:prstGeom>
          <a:noFill/>
          <a:ln/>
        </p:spPr>
        <p:txBody>
          <a:bodyPr wrap="square" rtlCol="0" anchor="ctr"/>
          <a:lstStyle/>
          <a:p>
            <a:pPr marL="0" indent="0" algn="ctr">
              <a:buNone/>
            </a:pPr>
            <a:r>
              <a:rPr lang="en-US" sz="1300" b="1" dirty="0">
                <a:solidFill>
                  <a:srgbClr val="FFFFFF"/>
                </a:solidFill>
              </a:rPr>
              <a:t>Customer</a:t>
            </a:r>
            <a:endParaRPr lang="en-US" sz="1300" dirty="0"/>
          </a:p>
        </p:txBody>
      </p:sp>
      <p:sp>
        <p:nvSpPr>
          <p:cNvPr id="21" name="Text 19"/>
          <p:cNvSpPr/>
          <p:nvPr/>
        </p:nvSpPr>
        <p:spPr>
          <a:xfrm>
            <a:off x="4837176" y="2514600"/>
            <a:ext cx="1847088" cy="731520"/>
          </a:xfrm>
          <a:prstGeom prst="rect">
            <a:avLst/>
          </a:prstGeom>
          <a:noFill/>
          <a:ln/>
        </p:spPr>
        <p:txBody>
          <a:bodyPr wrap="square" rtlCol="0" anchor="ctr"/>
          <a:lstStyle/>
          <a:p>
            <a:pPr marL="0" indent="0" algn="ctr">
              <a:buNone/>
            </a:pPr>
            <a:r>
              <a:rPr lang="en-US" sz="1000" dirty="0">
                <a:solidFill>
                  <a:srgbClr val="90E0EF"/>
                </a:solidFill>
              </a:rPr>
              <a:t>View own policies</a:t>
            </a:r>
            <a:endParaRPr lang="en-US" sz="1000" dirty="0"/>
          </a:p>
          <a:p>
            <a:pPr marL="0" indent="0" algn="ctr">
              <a:buNone/>
            </a:pPr>
            <a:r>
              <a:rPr lang="en-US" sz="1000" dirty="0">
                <a:solidFill>
                  <a:srgbClr val="90E0EF"/>
                </a:solidFill>
              </a:rPr>
              <a:t>Raise &amp; track claims</a:t>
            </a:r>
            <a:endParaRPr lang="en-US" sz="1000" dirty="0"/>
          </a:p>
        </p:txBody>
      </p:sp>
      <p:sp>
        <p:nvSpPr>
          <p:cNvPr id="22" name="Shape 20"/>
          <p:cNvSpPr/>
          <p:nvPr/>
        </p:nvSpPr>
        <p:spPr>
          <a:xfrm>
            <a:off x="6958584" y="1572768"/>
            <a:ext cx="2029968" cy="2331720"/>
          </a:xfrm>
          <a:prstGeom prst="rect">
            <a:avLst/>
          </a:prstGeom>
          <a:solidFill>
            <a:srgbClr val="094A5E"/>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23" name="Shape 21"/>
          <p:cNvSpPr/>
          <p:nvPr/>
        </p:nvSpPr>
        <p:spPr>
          <a:xfrm>
            <a:off x="6958584" y="1572768"/>
            <a:ext cx="2029968" cy="64008"/>
          </a:xfrm>
          <a:prstGeom prst="rect">
            <a:avLst/>
          </a:prstGeom>
          <a:solidFill>
            <a:srgbClr val="00B4D8"/>
          </a:solidFill>
          <a:ln w="12700">
            <a:solidFill>
              <a:srgbClr val="00B4D8"/>
            </a:solidFill>
            <a:prstDash val="solid"/>
          </a:ln>
        </p:spPr>
        <p:txBody>
          <a:bodyPr/>
          <a:lstStyle/>
          <a:p>
            <a:endParaRPr lang="en-IN"/>
          </a:p>
        </p:txBody>
      </p:sp>
      <p:sp>
        <p:nvSpPr>
          <p:cNvPr id="24" name="Text 22"/>
          <p:cNvSpPr/>
          <p:nvPr/>
        </p:nvSpPr>
        <p:spPr>
          <a:xfrm>
            <a:off x="6958584" y="1664208"/>
            <a:ext cx="2029968"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6958584" y="2121408"/>
            <a:ext cx="2029968" cy="365760"/>
          </a:xfrm>
          <a:prstGeom prst="rect">
            <a:avLst/>
          </a:prstGeom>
          <a:noFill/>
          <a:ln/>
        </p:spPr>
        <p:txBody>
          <a:bodyPr wrap="square" rtlCol="0" anchor="ctr"/>
          <a:lstStyle/>
          <a:p>
            <a:pPr marL="0" indent="0" algn="ctr">
              <a:buNone/>
            </a:pPr>
            <a:r>
              <a:rPr lang="en-US" sz="1300" b="1" dirty="0">
                <a:solidFill>
                  <a:srgbClr val="FFFFFF"/>
                </a:solidFill>
              </a:rPr>
              <a:t>Claims Officer</a:t>
            </a:r>
            <a:endParaRPr lang="en-US" sz="1300" dirty="0"/>
          </a:p>
        </p:txBody>
      </p:sp>
      <p:sp>
        <p:nvSpPr>
          <p:cNvPr id="26" name="Text 24"/>
          <p:cNvSpPr/>
          <p:nvPr/>
        </p:nvSpPr>
        <p:spPr>
          <a:xfrm>
            <a:off x="7050024" y="2514600"/>
            <a:ext cx="1847088" cy="731520"/>
          </a:xfrm>
          <a:prstGeom prst="rect">
            <a:avLst/>
          </a:prstGeom>
          <a:noFill/>
          <a:ln/>
        </p:spPr>
        <p:txBody>
          <a:bodyPr wrap="square" rtlCol="0" anchor="ctr"/>
          <a:lstStyle/>
          <a:p>
            <a:pPr marL="0" indent="0" algn="ctr">
              <a:buNone/>
            </a:pPr>
            <a:r>
              <a:rPr lang="en-US" sz="1000" dirty="0">
                <a:solidFill>
                  <a:srgbClr val="90E0EF"/>
                </a:solidFill>
              </a:rPr>
              <a:t>Review submissions</a:t>
            </a:r>
            <a:endParaRPr lang="en-US" sz="1000" dirty="0"/>
          </a:p>
          <a:p>
            <a:pPr marL="0" indent="0" algn="ctr">
              <a:buNone/>
            </a:pPr>
            <a:r>
              <a:rPr lang="en-US" sz="1000" dirty="0">
                <a:solidFill>
                  <a:srgbClr val="90E0EF"/>
                </a:solidFill>
              </a:rPr>
              <a:t>Settle claims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02 · SYSTEM ARCHITECTURE</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Clean Architecture — Dependency Flow</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Shape 4"/>
          <p:cNvSpPr/>
          <p:nvPr/>
        </p:nvSpPr>
        <p:spPr>
          <a:xfrm>
            <a:off x="274320" y="1078992"/>
            <a:ext cx="6400800" cy="749808"/>
          </a:xfrm>
          <a:prstGeom prst="rect">
            <a:avLst/>
          </a:prstGeom>
          <a:solidFill>
            <a:srgbClr val="1A3F6F"/>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7" name="Shape 5"/>
          <p:cNvSpPr/>
          <p:nvPr/>
        </p:nvSpPr>
        <p:spPr>
          <a:xfrm>
            <a:off x="384048" y="1243584"/>
            <a:ext cx="420624" cy="420624"/>
          </a:xfrm>
          <a:prstGeom prst="ellipse">
            <a:avLst/>
          </a:prstGeom>
          <a:solidFill>
            <a:srgbClr val="00B4D8"/>
          </a:solidFill>
          <a:ln w="12700">
            <a:solidFill>
              <a:srgbClr val="00B4D8"/>
            </a:solidFill>
            <a:prstDash val="solid"/>
          </a:ln>
        </p:spPr>
        <p:txBody>
          <a:bodyPr/>
          <a:lstStyle/>
          <a:p>
            <a:endParaRPr lang="en-IN"/>
          </a:p>
        </p:txBody>
      </p:sp>
      <p:sp>
        <p:nvSpPr>
          <p:cNvPr id="8" name="Text 6"/>
          <p:cNvSpPr/>
          <p:nvPr/>
        </p:nvSpPr>
        <p:spPr>
          <a:xfrm>
            <a:off x="384048" y="1243584"/>
            <a:ext cx="420624" cy="420624"/>
          </a:xfrm>
          <a:prstGeom prst="rect">
            <a:avLst/>
          </a:prstGeom>
          <a:noFill/>
          <a:ln/>
        </p:spPr>
        <p:txBody>
          <a:bodyPr wrap="square" rtlCol="0" anchor="ctr"/>
          <a:lstStyle/>
          <a:p>
            <a:pPr marL="0" indent="0" algn="ctr">
              <a:buNone/>
            </a:pPr>
            <a:r>
              <a:rPr lang="en-US" sz="1100" b="1" dirty="0">
                <a:solidFill>
                  <a:srgbClr val="0A1628"/>
                </a:solidFill>
              </a:rPr>
              <a:t>1</a:t>
            </a:r>
            <a:endParaRPr lang="en-US" sz="1100" dirty="0"/>
          </a:p>
        </p:txBody>
      </p:sp>
      <p:sp>
        <p:nvSpPr>
          <p:cNvPr id="9" name="Text 7"/>
          <p:cNvSpPr/>
          <p:nvPr/>
        </p:nvSpPr>
        <p:spPr>
          <a:xfrm>
            <a:off x="896112" y="1115568"/>
            <a:ext cx="5623560" cy="292608"/>
          </a:xfrm>
          <a:prstGeom prst="rect">
            <a:avLst/>
          </a:prstGeom>
          <a:noFill/>
          <a:ln/>
        </p:spPr>
        <p:txBody>
          <a:bodyPr wrap="square" lIns="0" tIns="0" rIns="0" bIns="0" rtlCol="0" anchor="ctr"/>
          <a:lstStyle/>
          <a:p>
            <a:pPr marL="0" indent="0">
              <a:buNone/>
            </a:pPr>
            <a:r>
              <a:rPr lang="en-US" sz="1300" b="1" dirty="0">
                <a:solidFill>
                  <a:srgbClr val="FFFFFF"/>
                </a:solidFill>
              </a:rPr>
              <a:t>Presentation Layer</a:t>
            </a:r>
            <a:endParaRPr lang="en-US" sz="1300" dirty="0"/>
          </a:p>
        </p:txBody>
      </p:sp>
      <p:sp>
        <p:nvSpPr>
          <p:cNvPr id="10" name="Text 8"/>
          <p:cNvSpPr/>
          <p:nvPr/>
        </p:nvSpPr>
        <p:spPr>
          <a:xfrm>
            <a:off x="896112" y="1408176"/>
            <a:ext cx="5623560" cy="292608"/>
          </a:xfrm>
          <a:prstGeom prst="rect">
            <a:avLst/>
          </a:prstGeom>
          <a:noFill/>
          <a:ln/>
        </p:spPr>
        <p:txBody>
          <a:bodyPr wrap="square" lIns="0" tIns="0" rIns="0" bIns="0" rtlCol="0" anchor="ctr"/>
          <a:lstStyle/>
          <a:p>
            <a:pPr marL="0" indent="0">
              <a:buNone/>
            </a:pPr>
            <a:r>
              <a:rPr lang="en-US" sz="1000" dirty="0">
                <a:solidFill>
                  <a:srgbClr val="90E0EF"/>
                </a:solidFill>
              </a:rPr>
              <a:t>Angular 20 · Standalone Components · Lazy Loading</a:t>
            </a:r>
            <a:endParaRPr lang="en-US" sz="1000" dirty="0"/>
          </a:p>
        </p:txBody>
      </p:sp>
      <p:sp>
        <p:nvSpPr>
          <p:cNvPr id="11" name="Shape 9"/>
          <p:cNvSpPr/>
          <p:nvPr/>
        </p:nvSpPr>
        <p:spPr>
          <a:xfrm>
            <a:off x="3566160" y="1828800"/>
            <a:ext cx="0" cy="118872"/>
          </a:xfrm>
          <a:prstGeom prst="line">
            <a:avLst/>
          </a:prstGeom>
          <a:noFill/>
          <a:ln w="19050">
            <a:solidFill>
              <a:srgbClr val="00B4D8"/>
            </a:solidFill>
            <a:prstDash val="solid"/>
          </a:ln>
        </p:spPr>
        <p:txBody>
          <a:bodyPr/>
          <a:lstStyle/>
          <a:p>
            <a:endParaRPr lang="en-IN"/>
          </a:p>
        </p:txBody>
      </p:sp>
      <p:sp>
        <p:nvSpPr>
          <p:cNvPr id="12" name="Shape 10"/>
          <p:cNvSpPr/>
          <p:nvPr/>
        </p:nvSpPr>
        <p:spPr>
          <a:xfrm>
            <a:off x="822960" y="1947672"/>
            <a:ext cx="5303520" cy="749808"/>
          </a:xfrm>
          <a:prstGeom prst="rect">
            <a:avLst/>
          </a:prstGeom>
          <a:solidFill>
            <a:srgbClr val="153461"/>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13" name="Shape 11"/>
          <p:cNvSpPr/>
          <p:nvPr/>
        </p:nvSpPr>
        <p:spPr>
          <a:xfrm>
            <a:off x="932688" y="2112264"/>
            <a:ext cx="420624" cy="420624"/>
          </a:xfrm>
          <a:prstGeom prst="ellipse">
            <a:avLst/>
          </a:prstGeom>
          <a:solidFill>
            <a:srgbClr val="00B4D8"/>
          </a:solidFill>
          <a:ln w="12700">
            <a:solidFill>
              <a:srgbClr val="00B4D8"/>
            </a:solidFill>
            <a:prstDash val="solid"/>
          </a:ln>
        </p:spPr>
        <p:txBody>
          <a:bodyPr/>
          <a:lstStyle/>
          <a:p>
            <a:endParaRPr lang="en-IN"/>
          </a:p>
        </p:txBody>
      </p:sp>
      <p:sp>
        <p:nvSpPr>
          <p:cNvPr id="14" name="Text 12"/>
          <p:cNvSpPr/>
          <p:nvPr/>
        </p:nvSpPr>
        <p:spPr>
          <a:xfrm>
            <a:off x="932688" y="2112264"/>
            <a:ext cx="420624" cy="420624"/>
          </a:xfrm>
          <a:prstGeom prst="rect">
            <a:avLst/>
          </a:prstGeom>
          <a:noFill/>
          <a:ln/>
        </p:spPr>
        <p:txBody>
          <a:bodyPr wrap="square" rtlCol="0" anchor="ctr"/>
          <a:lstStyle/>
          <a:p>
            <a:pPr marL="0" indent="0" algn="ctr">
              <a:buNone/>
            </a:pPr>
            <a:r>
              <a:rPr lang="en-US" sz="1100" b="1" dirty="0">
                <a:solidFill>
                  <a:srgbClr val="0A1628"/>
                </a:solidFill>
              </a:rPr>
              <a:t>2</a:t>
            </a:r>
            <a:endParaRPr lang="en-US" sz="1100" dirty="0"/>
          </a:p>
        </p:txBody>
      </p:sp>
      <p:sp>
        <p:nvSpPr>
          <p:cNvPr id="15" name="Text 13"/>
          <p:cNvSpPr/>
          <p:nvPr/>
        </p:nvSpPr>
        <p:spPr>
          <a:xfrm>
            <a:off x="1444752" y="1984248"/>
            <a:ext cx="4526280" cy="292608"/>
          </a:xfrm>
          <a:prstGeom prst="rect">
            <a:avLst/>
          </a:prstGeom>
          <a:noFill/>
          <a:ln/>
        </p:spPr>
        <p:txBody>
          <a:bodyPr wrap="square" lIns="0" tIns="0" rIns="0" bIns="0" rtlCol="0" anchor="ctr"/>
          <a:lstStyle/>
          <a:p>
            <a:pPr marL="0" indent="0">
              <a:buNone/>
            </a:pPr>
            <a:r>
              <a:rPr lang="en-US" sz="1300" b="1" dirty="0">
                <a:solidFill>
                  <a:srgbClr val="FFFFFF"/>
                </a:solidFill>
              </a:rPr>
              <a:t>Application Layer</a:t>
            </a:r>
            <a:endParaRPr lang="en-US" sz="1300" dirty="0"/>
          </a:p>
        </p:txBody>
      </p:sp>
      <p:sp>
        <p:nvSpPr>
          <p:cNvPr id="16" name="Text 14"/>
          <p:cNvSpPr/>
          <p:nvPr/>
        </p:nvSpPr>
        <p:spPr>
          <a:xfrm>
            <a:off x="1444752" y="2276856"/>
            <a:ext cx="4526280" cy="292608"/>
          </a:xfrm>
          <a:prstGeom prst="rect">
            <a:avLst/>
          </a:prstGeom>
          <a:noFill/>
          <a:ln/>
        </p:spPr>
        <p:txBody>
          <a:bodyPr wrap="square" lIns="0" tIns="0" rIns="0" bIns="0" rtlCol="0" anchor="ctr"/>
          <a:lstStyle/>
          <a:p>
            <a:pPr marL="0" indent="0">
              <a:buNone/>
            </a:pPr>
            <a:r>
              <a:rPr lang="en-US" sz="1000" dirty="0">
                <a:solidFill>
                  <a:srgbClr val="90E0EF"/>
                </a:solidFill>
              </a:rPr>
              <a:t>Services · Business Logic · DTOs · Validators</a:t>
            </a:r>
            <a:endParaRPr lang="en-US" sz="1000" dirty="0"/>
          </a:p>
        </p:txBody>
      </p:sp>
      <p:sp>
        <p:nvSpPr>
          <p:cNvPr id="17" name="Shape 15"/>
          <p:cNvSpPr/>
          <p:nvPr/>
        </p:nvSpPr>
        <p:spPr>
          <a:xfrm>
            <a:off x="3566160" y="2697480"/>
            <a:ext cx="0" cy="118872"/>
          </a:xfrm>
          <a:prstGeom prst="line">
            <a:avLst/>
          </a:prstGeom>
          <a:noFill/>
          <a:ln w="19050">
            <a:solidFill>
              <a:srgbClr val="00B4D8"/>
            </a:solidFill>
            <a:prstDash val="solid"/>
          </a:ln>
        </p:spPr>
        <p:txBody>
          <a:bodyPr/>
          <a:lstStyle/>
          <a:p>
            <a:endParaRPr lang="en-IN"/>
          </a:p>
        </p:txBody>
      </p:sp>
      <p:sp>
        <p:nvSpPr>
          <p:cNvPr id="18" name="Shape 16"/>
          <p:cNvSpPr/>
          <p:nvPr/>
        </p:nvSpPr>
        <p:spPr>
          <a:xfrm>
            <a:off x="1371600" y="2816352"/>
            <a:ext cx="4206240" cy="749808"/>
          </a:xfrm>
          <a:prstGeom prst="rect">
            <a:avLst/>
          </a:prstGeom>
          <a:solidFill>
            <a:srgbClr val="102A52"/>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19" name="Shape 17"/>
          <p:cNvSpPr/>
          <p:nvPr/>
        </p:nvSpPr>
        <p:spPr>
          <a:xfrm>
            <a:off x="1481328" y="2980944"/>
            <a:ext cx="420624" cy="420624"/>
          </a:xfrm>
          <a:prstGeom prst="ellipse">
            <a:avLst/>
          </a:prstGeom>
          <a:solidFill>
            <a:srgbClr val="00B4D8"/>
          </a:solidFill>
          <a:ln w="12700">
            <a:solidFill>
              <a:srgbClr val="00B4D8"/>
            </a:solidFill>
            <a:prstDash val="solid"/>
          </a:ln>
        </p:spPr>
        <p:txBody>
          <a:bodyPr/>
          <a:lstStyle/>
          <a:p>
            <a:endParaRPr lang="en-IN"/>
          </a:p>
        </p:txBody>
      </p:sp>
      <p:sp>
        <p:nvSpPr>
          <p:cNvPr id="20" name="Text 18"/>
          <p:cNvSpPr/>
          <p:nvPr/>
        </p:nvSpPr>
        <p:spPr>
          <a:xfrm>
            <a:off x="1481328" y="2980944"/>
            <a:ext cx="420624" cy="420624"/>
          </a:xfrm>
          <a:prstGeom prst="rect">
            <a:avLst/>
          </a:prstGeom>
          <a:noFill/>
          <a:ln/>
        </p:spPr>
        <p:txBody>
          <a:bodyPr wrap="square" rtlCol="0" anchor="ctr"/>
          <a:lstStyle/>
          <a:p>
            <a:pPr marL="0" indent="0" algn="ctr">
              <a:buNone/>
            </a:pPr>
            <a:r>
              <a:rPr lang="en-US" sz="1100" b="1" dirty="0">
                <a:solidFill>
                  <a:srgbClr val="0A1628"/>
                </a:solidFill>
              </a:rPr>
              <a:t>3</a:t>
            </a:r>
            <a:endParaRPr lang="en-US" sz="1100" dirty="0"/>
          </a:p>
        </p:txBody>
      </p:sp>
      <p:sp>
        <p:nvSpPr>
          <p:cNvPr id="21" name="Text 19"/>
          <p:cNvSpPr/>
          <p:nvPr/>
        </p:nvSpPr>
        <p:spPr>
          <a:xfrm>
            <a:off x="1993392" y="2852928"/>
            <a:ext cx="3429000" cy="292608"/>
          </a:xfrm>
          <a:prstGeom prst="rect">
            <a:avLst/>
          </a:prstGeom>
          <a:noFill/>
          <a:ln/>
        </p:spPr>
        <p:txBody>
          <a:bodyPr wrap="square" lIns="0" tIns="0" rIns="0" bIns="0" rtlCol="0" anchor="ctr"/>
          <a:lstStyle/>
          <a:p>
            <a:pPr marL="0" indent="0">
              <a:buNone/>
            </a:pPr>
            <a:r>
              <a:rPr lang="en-US" sz="1300" b="1" dirty="0">
                <a:solidFill>
                  <a:srgbClr val="FFFFFF"/>
                </a:solidFill>
              </a:rPr>
              <a:t>Domain Layer</a:t>
            </a:r>
            <a:endParaRPr lang="en-US" sz="1300" dirty="0"/>
          </a:p>
        </p:txBody>
      </p:sp>
      <p:sp>
        <p:nvSpPr>
          <p:cNvPr id="22" name="Text 20"/>
          <p:cNvSpPr/>
          <p:nvPr/>
        </p:nvSpPr>
        <p:spPr>
          <a:xfrm>
            <a:off x="1993392" y="3145536"/>
            <a:ext cx="3429000" cy="292608"/>
          </a:xfrm>
          <a:prstGeom prst="rect">
            <a:avLst/>
          </a:prstGeom>
          <a:noFill/>
          <a:ln/>
        </p:spPr>
        <p:txBody>
          <a:bodyPr wrap="square" lIns="0" tIns="0" rIns="0" bIns="0" rtlCol="0" anchor="ctr"/>
          <a:lstStyle/>
          <a:p>
            <a:pPr marL="0" indent="0">
              <a:buNone/>
            </a:pPr>
            <a:r>
              <a:rPr lang="en-US" sz="1000" dirty="0">
                <a:solidFill>
                  <a:srgbClr val="90E0EF"/>
                </a:solidFill>
              </a:rPr>
              <a:t>Entities · Interfaces · Domain Rules</a:t>
            </a:r>
            <a:endParaRPr lang="en-US" sz="1000" dirty="0"/>
          </a:p>
        </p:txBody>
      </p:sp>
      <p:sp>
        <p:nvSpPr>
          <p:cNvPr id="23" name="Shape 21"/>
          <p:cNvSpPr/>
          <p:nvPr/>
        </p:nvSpPr>
        <p:spPr>
          <a:xfrm>
            <a:off x="3566160" y="3566160"/>
            <a:ext cx="0" cy="118872"/>
          </a:xfrm>
          <a:prstGeom prst="line">
            <a:avLst/>
          </a:prstGeom>
          <a:noFill/>
          <a:ln w="19050">
            <a:solidFill>
              <a:srgbClr val="00B4D8"/>
            </a:solidFill>
            <a:prstDash val="solid"/>
          </a:ln>
        </p:spPr>
        <p:txBody>
          <a:bodyPr/>
          <a:lstStyle/>
          <a:p>
            <a:endParaRPr lang="en-IN"/>
          </a:p>
        </p:txBody>
      </p:sp>
      <p:sp>
        <p:nvSpPr>
          <p:cNvPr id="24" name="Shape 22"/>
          <p:cNvSpPr/>
          <p:nvPr/>
        </p:nvSpPr>
        <p:spPr>
          <a:xfrm>
            <a:off x="1920240" y="3685032"/>
            <a:ext cx="3108960" cy="749808"/>
          </a:xfrm>
          <a:prstGeom prst="rect">
            <a:avLst/>
          </a:prstGeom>
          <a:solidFill>
            <a:srgbClr val="0B2043"/>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25" name="Shape 23"/>
          <p:cNvSpPr/>
          <p:nvPr/>
        </p:nvSpPr>
        <p:spPr>
          <a:xfrm>
            <a:off x="2029968" y="3849624"/>
            <a:ext cx="420624" cy="420624"/>
          </a:xfrm>
          <a:prstGeom prst="ellipse">
            <a:avLst/>
          </a:prstGeom>
          <a:solidFill>
            <a:srgbClr val="00B4D8"/>
          </a:solidFill>
          <a:ln w="12700">
            <a:solidFill>
              <a:srgbClr val="00B4D8"/>
            </a:solidFill>
            <a:prstDash val="solid"/>
          </a:ln>
        </p:spPr>
        <p:txBody>
          <a:bodyPr/>
          <a:lstStyle/>
          <a:p>
            <a:endParaRPr lang="en-IN"/>
          </a:p>
        </p:txBody>
      </p:sp>
      <p:sp>
        <p:nvSpPr>
          <p:cNvPr id="26" name="Text 24"/>
          <p:cNvSpPr/>
          <p:nvPr/>
        </p:nvSpPr>
        <p:spPr>
          <a:xfrm>
            <a:off x="2029968" y="3849624"/>
            <a:ext cx="420624" cy="420624"/>
          </a:xfrm>
          <a:prstGeom prst="rect">
            <a:avLst/>
          </a:prstGeom>
          <a:noFill/>
          <a:ln/>
        </p:spPr>
        <p:txBody>
          <a:bodyPr wrap="square" rtlCol="0" anchor="ctr"/>
          <a:lstStyle/>
          <a:p>
            <a:pPr marL="0" indent="0" algn="ctr">
              <a:buNone/>
            </a:pPr>
            <a:r>
              <a:rPr lang="en-US" sz="1100" b="1" dirty="0">
                <a:solidFill>
                  <a:srgbClr val="0A1628"/>
                </a:solidFill>
              </a:rPr>
              <a:t>4</a:t>
            </a:r>
            <a:endParaRPr lang="en-US" sz="1100" dirty="0"/>
          </a:p>
        </p:txBody>
      </p:sp>
      <p:sp>
        <p:nvSpPr>
          <p:cNvPr id="27" name="Text 25"/>
          <p:cNvSpPr/>
          <p:nvPr/>
        </p:nvSpPr>
        <p:spPr>
          <a:xfrm>
            <a:off x="2542032" y="3721608"/>
            <a:ext cx="2331720" cy="292608"/>
          </a:xfrm>
          <a:prstGeom prst="rect">
            <a:avLst/>
          </a:prstGeom>
          <a:noFill/>
          <a:ln/>
        </p:spPr>
        <p:txBody>
          <a:bodyPr wrap="square" lIns="0" tIns="0" rIns="0" bIns="0" rtlCol="0" anchor="ctr"/>
          <a:lstStyle/>
          <a:p>
            <a:pPr marL="0" indent="0">
              <a:buNone/>
            </a:pPr>
            <a:r>
              <a:rPr lang="en-US" sz="1300" b="1" dirty="0">
                <a:solidFill>
                  <a:srgbClr val="FFFFFF"/>
                </a:solidFill>
              </a:rPr>
              <a:t>Infrastructure Layer</a:t>
            </a:r>
            <a:endParaRPr lang="en-US" sz="1300" dirty="0"/>
          </a:p>
        </p:txBody>
      </p:sp>
      <p:sp>
        <p:nvSpPr>
          <p:cNvPr id="28" name="Text 26"/>
          <p:cNvSpPr/>
          <p:nvPr/>
        </p:nvSpPr>
        <p:spPr>
          <a:xfrm>
            <a:off x="2542032" y="4014216"/>
            <a:ext cx="2331720" cy="292608"/>
          </a:xfrm>
          <a:prstGeom prst="rect">
            <a:avLst/>
          </a:prstGeom>
          <a:noFill/>
          <a:ln/>
        </p:spPr>
        <p:txBody>
          <a:bodyPr wrap="square" lIns="0" tIns="0" rIns="0" bIns="0" rtlCol="0" anchor="ctr"/>
          <a:lstStyle/>
          <a:p>
            <a:pPr marL="0" indent="0">
              <a:buNone/>
            </a:pPr>
            <a:r>
              <a:rPr lang="en-US" sz="1000" dirty="0">
                <a:solidFill>
                  <a:srgbClr val="90E0EF"/>
                </a:solidFill>
              </a:rPr>
              <a:t>EF Core · Repositories · JWT · SQL Server</a:t>
            </a:r>
            <a:endParaRPr lang="en-US" sz="1000" dirty="0"/>
          </a:p>
        </p:txBody>
      </p:sp>
      <p:sp>
        <p:nvSpPr>
          <p:cNvPr id="29" name="Text 27"/>
          <p:cNvSpPr/>
          <p:nvPr/>
        </p:nvSpPr>
        <p:spPr>
          <a:xfrm>
            <a:off x="274320" y="4617720"/>
            <a:ext cx="6400800" cy="320040"/>
          </a:xfrm>
          <a:prstGeom prst="rect">
            <a:avLst/>
          </a:prstGeom>
          <a:noFill/>
          <a:ln/>
        </p:spPr>
        <p:txBody>
          <a:bodyPr wrap="square" rtlCol="0" anchor="ctr"/>
          <a:lstStyle/>
          <a:p>
            <a:pPr marL="0" indent="0">
              <a:buNone/>
            </a:pPr>
            <a:r>
              <a:rPr lang="en-US" sz="1000" i="1" dirty="0">
                <a:solidFill>
                  <a:srgbClr val="8FA8C8"/>
                </a:solidFill>
              </a:rPr>
              <a:t>⟶  Dependency Rule: outer layers depend on inner; inner layers are framework-agnostic.</a:t>
            </a:r>
            <a:endParaRPr lang="en-US" sz="1000" dirty="0"/>
          </a:p>
        </p:txBody>
      </p:sp>
      <p:sp>
        <p:nvSpPr>
          <p:cNvPr id="31" name="Text 29"/>
          <p:cNvSpPr/>
          <p:nvPr/>
        </p:nvSpPr>
        <p:spPr>
          <a:xfrm>
            <a:off x="7132320" y="1115568"/>
            <a:ext cx="1691640" cy="320040"/>
          </a:xfrm>
          <a:prstGeom prst="rect">
            <a:avLst/>
          </a:prstGeom>
          <a:noFill/>
          <a:ln/>
        </p:spPr>
        <p:txBody>
          <a:bodyPr wrap="square" rtlCol="0" anchor="ctr"/>
          <a:lstStyle/>
          <a:p>
            <a:pPr marL="0" indent="0" algn="ctr">
              <a:buNone/>
            </a:pPr>
            <a:r>
              <a:rPr lang="en-US" sz="1000" b="1" kern="0" spc="100" dirty="0">
                <a:solidFill>
                  <a:srgbClr val="00B4D8"/>
                </a:solidFill>
              </a:rPr>
              <a:t>TECH STACK</a:t>
            </a:r>
            <a:endParaRPr lang="en-US" sz="1000" dirty="0"/>
          </a:p>
        </p:txBody>
      </p:sp>
      <p:sp>
        <p:nvSpPr>
          <p:cNvPr id="32" name="Shape 30"/>
          <p:cNvSpPr/>
          <p:nvPr/>
        </p:nvSpPr>
        <p:spPr>
          <a:xfrm>
            <a:off x="7178040" y="1508760"/>
            <a:ext cx="749808" cy="502920"/>
          </a:xfrm>
          <a:prstGeom prst="rect">
            <a:avLst/>
          </a:prstGeom>
          <a:solidFill>
            <a:srgbClr val="1E4D8C"/>
          </a:solidFill>
          <a:ln w="12700">
            <a:solidFill>
              <a:srgbClr val="0096B4"/>
            </a:solidFill>
            <a:prstDash val="solid"/>
          </a:ln>
        </p:spPr>
        <p:txBody>
          <a:bodyPr/>
          <a:lstStyle/>
          <a:p>
            <a:endParaRPr lang="en-IN"/>
          </a:p>
        </p:txBody>
      </p:sp>
      <p:sp>
        <p:nvSpPr>
          <p:cNvPr id="33" name="Text 31"/>
          <p:cNvSpPr/>
          <p:nvPr/>
        </p:nvSpPr>
        <p:spPr>
          <a:xfrm>
            <a:off x="7178040" y="1508760"/>
            <a:ext cx="749808" cy="502920"/>
          </a:xfrm>
          <a:prstGeom prst="rect">
            <a:avLst/>
          </a:prstGeom>
          <a:noFill/>
          <a:ln/>
        </p:spPr>
        <p:txBody>
          <a:bodyPr wrap="square" rtlCol="0" anchor="ctr"/>
          <a:lstStyle/>
          <a:p>
            <a:pPr marL="0" indent="0" algn="ctr">
              <a:buNone/>
            </a:pPr>
            <a:r>
              <a:rPr lang="en-US" sz="900" b="1" dirty="0">
                <a:solidFill>
                  <a:srgbClr val="FFFFFF"/>
                </a:solidFill>
              </a:rPr>
              <a:t>Angular 20</a:t>
            </a:r>
            <a:endParaRPr lang="en-US" sz="900" dirty="0"/>
          </a:p>
        </p:txBody>
      </p:sp>
      <p:sp>
        <p:nvSpPr>
          <p:cNvPr id="34" name="Shape 32"/>
          <p:cNvSpPr/>
          <p:nvPr/>
        </p:nvSpPr>
        <p:spPr>
          <a:xfrm>
            <a:off x="8001000" y="1508760"/>
            <a:ext cx="749808" cy="502920"/>
          </a:xfrm>
          <a:prstGeom prst="rect">
            <a:avLst/>
          </a:prstGeom>
          <a:solidFill>
            <a:srgbClr val="1E4D8C"/>
          </a:solidFill>
          <a:ln w="12700">
            <a:solidFill>
              <a:srgbClr val="0096B4"/>
            </a:solidFill>
            <a:prstDash val="solid"/>
          </a:ln>
        </p:spPr>
        <p:txBody>
          <a:bodyPr/>
          <a:lstStyle/>
          <a:p>
            <a:endParaRPr lang="en-IN"/>
          </a:p>
        </p:txBody>
      </p:sp>
      <p:sp>
        <p:nvSpPr>
          <p:cNvPr id="35" name="Text 33"/>
          <p:cNvSpPr/>
          <p:nvPr/>
        </p:nvSpPr>
        <p:spPr>
          <a:xfrm>
            <a:off x="8001000" y="1508760"/>
            <a:ext cx="749808" cy="502920"/>
          </a:xfrm>
          <a:prstGeom prst="rect">
            <a:avLst/>
          </a:prstGeom>
          <a:noFill/>
          <a:ln/>
        </p:spPr>
        <p:txBody>
          <a:bodyPr wrap="square" rtlCol="0" anchor="ctr"/>
          <a:lstStyle/>
          <a:p>
            <a:pPr marL="0" indent="0" algn="ctr">
              <a:buNone/>
            </a:pPr>
            <a:r>
              <a:rPr lang="en-US" sz="900" b="1" dirty="0">
                <a:solidFill>
                  <a:srgbClr val="FFFFFF"/>
                </a:solidFill>
              </a:rPr>
              <a:t>.NET 8.0</a:t>
            </a:r>
            <a:endParaRPr lang="en-US" sz="900" dirty="0"/>
          </a:p>
        </p:txBody>
      </p:sp>
      <p:sp>
        <p:nvSpPr>
          <p:cNvPr id="36" name="Shape 34"/>
          <p:cNvSpPr/>
          <p:nvPr/>
        </p:nvSpPr>
        <p:spPr>
          <a:xfrm>
            <a:off x="7178040" y="2167128"/>
            <a:ext cx="749808" cy="502920"/>
          </a:xfrm>
          <a:prstGeom prst="rect">
            <a:avLst/>
          </a:prstGeom>
          <a:solidFill>
            <a:srgbClr val="1E4D8C"/>
          </a:solidFill>
          <a:ln w="12700">
            <a:solidFill>
              <a:srgbClr val="0096B4"/>
            </a:solidFill>
            <a:prstDash val="solid"/>
          </a:ln>
        </p:spPr>
        <p:txBody>
          <a:bodyPr/>
          <a:lstStyle/>
          <a:p>
            <a:endParaRPr lang="en-IN"/>
          </a:p>
        </p:txBody>
      </p:sp>
      <p:sp>
        <p:nvSpPr>
          <p:cNvPr id="37" name="Text 35"/>
          <p:cNvSpPr/>
          <p:nvPr/>
        </p:nvSpPr>
        <p:spPr>
          <a:xfrm>
            <a:off x="7178040" y="2167128"/>
            <a:ext cx="749808" cy="502920"/>
          </a:xfrm>
          <a:prstGeom prst="rect">
            <a:avLst/>
          </a:prstGeom>
          <a:noFill/>
          <a:ln/>
        </p:spPr>
        <p:txBody>
          <a:bodyPr wrap="square" rtlCol="0" anchor="ctr"/>
          <a:lstStyle/>
          <a:p>
            <a:pPr marL="0" indent="0" algn="ctr">
              <a:buNone/>
            </a:pPr>
            <a:r>
              <a:rPr lang="en-US" sz="900" b="1" dirty="0">
                <a:solidFill>
                  <a:srgbClr val="FFFFFF"/>
                </a:solidFill>
              </a:rPr>
              <a:t>SQL Server</a:t>
            </a:r>
            <a:endParaRPr lang="en-US" sz="900" dirty="0"/>
          </a:p>
        </p:txBody>
      </p:sp>
      <p:sp>
        <p:nvSpPr>
          <p:cNvPr id="38" name="Shape 36"/>
          <p:cNvSpPr/>
          <p:nvPr/>
        </p:nvSpPr>
        <p:spPr>
          <a:xfrm>
            <a:off x="8001000" y="2167128"/>
            <a:ext cx="749808" cy="502920"/>
          </a:xfrm>
          <a:prstGeom prst="rect">
            <a:avLst/>
          </a:prstGeom>
          <a:solidFill>
            <a:srgbClr val="1E4D8C"/>
          </a:solidFill>
          <a:ln w="12700">
            <a:solidFill>
              <a:srgbClr val="0096B4"/>
            </a:solidFill>
            <a:prstDash val="solid"/>
          </a:ln>
        </p:spPr>
        <p:txBody>
          <a:bodyPr/>
          <a:lstStyle/>
          <a:p>
            <a:endParaRPr lang="en-IN"/>
          </a:p>
        </p:txBody>
      </p:sp>
      <p:sp>
        <p:nvSpPr>
          <p:cNvPr id="39" name="Text 37"/>
          <p:cNvSpPr/>
          <p:nvPr/>
        </p:nvSpPr>
        <p:spPr>
          <a:xfrm>
            <a:off x="8001000" y="2167128"/>
            <a:ext cx="749808" cy="502920"/>
          </a:xfrm>
          <a:prstGeom prst="rect">
            <a:avLst/>
          </a:prstGeom>
          <a:noFill/>
          <a:ln/>
        </p:spPr>
        <p:txBody>
          <a:bodyPr wrap="square" rtlCol="0" anchor="ctr"/>
          <a:lstStyle/>
          <a:p>
            <a:pPr marL="0" indent="0" algn="ctr">
              <a:buNone/>
            </a:pPr>
            <a:r>
              <a:rPr lang="en-US" sz="900" b="1" dirty="0">
                <a:solidFill>
                  <a:srgbClr val="FFFFFF"/>
                </a:solidFill>
              </a:rPr>
              <a:t>EF Core 8</a:t>
            </a:r>
            <a:endParaRPr lang="en-US" sz="900" dirty="0"/>
          </a:p>
        </p:txBody>
      </p:sp>
      <p:sp>
        <p:nvSpPr>
          <p:cNvPr id="40" name="Shape 38"/>
          <p:cNvSpPr/>
          <p:nvPr/>
        </p:nvSpPr>
        <p:spPr>
          <a:xfrm>
            <a:off x="7178040" y="2825496"/>
            <a:ext cx="749808" cy="502920"/>
          </a:xfrm>
          <a:prstGeom prst="rect">
            <a:avLst/>
          </a:prstGeom>
          <a:solidFill>
            <a:srgbClr val="1E4D8C"/>
          </a:solidFill>
          <a:ln w="12700">
            <a:solidFill>
              <a:srgbClr val="0096B4"/>
            </a:solidFill>
            <a:prstDash val="solid"/>
          </a:ln>
        </p:spPr>
        <p:txBody>
          <a:bodyPr/>
          <a:lstStyle/>
          <a:p>
            <a:endParaRPr lang="en-IN"/>
          </a:p>
        </p:txBody>
      </p:sp>
      <p:sp>
        <p:nvSpPr>
          <p:cNvPr id="41" name="Text 39"/>
          <p:cNvSpPr/>
          <p:nvPr/>
        </p:nvSpPr>
        <p:spPr>
          <a:xfrm>
            <a:off x="7178040" y="2825496"/>
            <a:ext cx="749808" cy="502920"/>
          </a:xfrm>
          <a:prstGeom prst="rect">
            <a:avLst/>
          </a:prstGeom>
          <a:noFill/>
          <a:ln/>
        </p:spPr>
        <p:txBody>
          <a:bodyPr wrap="square" rtlCol="0" anchor="ctr"/>
          <a:lstStyle/>
          <a:p>
            <a:pPr marL="0" indent="0" algn="ctr">
              <a:buNone/>
            </a:pPr>
            <a:r>
              <a:rPr lang="en-US" sz="900" b="1" dirty="0">
                <a:solidFill>
                  <a:srgbClr val="FFFFFF"/>
                </a:solidFill>
              </a:rPr>
              <a:t>JWT Bearer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03 · CORE BUSINESS ENGINES</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Three Calculation Engines</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Shape 4"/>
          <p:cNvSpPr/>
          <p:nvPr/>
        </p:nvSpPr>
        <p:spPr>
          <a:xfrm>
            <a:off x="274320" y="1024128"/>
            <a:ext cx="2788920" cy="301752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a:p>
        </p:txBody>
      </p:sp>
      <p:sp>
        <p:nvSpPr>
          <p:cNvPr id="7" name="Shape 5"/>
          <p:cNvSpPr/>
          <p:nvPr/>
        </p:nvSpPr>
        <p:spPr>
          <a:xfrm>
            <a:off x="274320" y="1024128"/>
            <a:ext cx="2788920" cy="73152"/>
          </a:xfrm>
          <a:prstGeom prst="rect">
            <a:avLst/>
          </a:prstGeom>
          <a:solidFill>
            <a:srgbClr val="00B4D8"/>
          </a:solidFill>
          <a:ln w="12700">
            <a:solidFill>
              <a:srgbClr val="00B4D8"/>
            </a:solidFill>
            <a:prstDash val="solid"/>
          </a:ln>
        </p:spPr>
        <p:txBody>
          <a:bodyPr/>
          <a:lstStyle/>
          <a:p>
            <a:endParaRPr lang="en-IN"/>
          </a:p>
        </p:txBody>
      </p:sp>
      <p:sp>
        <p:nvSpPr>
          <p:cNvPr id="8" name="Text 6"/>
          <p:cNvSpPr/>
          <p:nvPr/>
        </p:nvSpPr>
        <p:spPr>
          <a:xfrm>
            <a:off x="320040" y="1042416"/>
            <a:ext cx="2697480" cy="347472"/>
          </a:xfrm>
          <a:prstGeom prst="rect">
            <a:avLst/>
          </a:prstGeom>
          <a:noFill/>
          <a:ln/>
        </p:spPr>
        <p:txBody>
          <a:bodyPr wrap="square" rtlCol="0" anchor="ctr"/>
          <a:lstStyle/>
          <a:p>
            <a:pPr marL="0" indent="0" algn="ctr">
              <a:buNone/>
            </a:pPr>
            <a:r>
              <a:rPr lang="en-US" sz="1100" b="1" dirty="0">
                <a:solidFill>
                  <a:srgbClr val="FFFFFF"/>
                </a:solidFill>
              </a:rPr>
              <a:t>💰 Premium Calc Engine</a:t>
            </a:r>
            <a:endParaRPr lang="en-US" sz="1100" dirty="0"/>
          </a:p>
        </p:txBody>
      </p:sp>
      <p:sp>
        <p:nvSpPr>
          <p:cNvPr id="9" name="Text 7"/>
          <p:cNvSpPr/>
          <p:nvPr/>
        </p:nvSpPr>
        <p:spPr>
          <a:xfrm>
            <a:off x="320040" y="1371600"/>
            <a:ext cx="2697480" cy="201168"/>
          </a:xfrm>
          <a:prstGeom prst="rect">
            <a:avLst/>
          </a:prstGeom>
          <a:noFill/>
          <a:ln/>
        </p:spPr>
        <p:txBody>
          <a:bodyPr wrap="square" rtlCol="0" anchor="ctr"/>
          <a:lstStyle/>
          <a:p>
            <a:pPr marL="0" indent="0" algn="ctr">
              <a:buNone/>
            </a:pPr>
            <a:r>
              <a:rPr lang="en-US" sz="800" i="1" dirty="0">
                <a:solidFill>
                  <a:srgbClr val="00B4D8"/>
                </a:solidFill>
              </a:rPr>
              <a:t>PremiumCalculationService.cs</a:t>
            </a:r>
            <a:endParaRPr lang="en-US" sz="800" dirty="0"/>
          </a:p>
        </p:txBody>
      </p:sp>
      <p:sp>
        <p:nvSpPr>
          <p:cNvPr id="10" name="Shape 8"/>
          <p:cNvSpPr/>
          <p:nvPr/>
        </p:nvSpPr>
        <p:spPr>
          <a:xfrm>
            <a:off x="384048" y="1600200"/>
            <a:ext cx="2560320" cy="329184"/>
          </a:xfrm>
          <a:prstGeom prst="rect">
            <a:avLst/>
          </a:prstGeom>
          <a:solidFill>
            <a:srgbClr val="1E4D8C"/>
          </a:solidFill>
          <a:ln w="10160">
            <a:solidFill>
              <a:srgbClr val="0096B4"/>
            </a:solidFill>
            <a:prstDash val="solid"/>
          </a:ln>
        </p:spPr>
        <p:txBody>
          <a:bodyPr/>
          <a:lstStyle/>
          <a:p>
            <a:endParaRPr lang="en-IN"/>
          </a:p>
        </p:txBody>
      </p:sp>
      <p:sp>
        <p:nvSpPr>
          <p:cNvPr id="11" name="Text 9"/>
          <p:cNvSpPr/>
          <p:nvPr/>
        </p:nvSpPr>
        <p:spPr>
          <a:xfrm>
            <a:off x="475488" y="1600200"/>
            <a:ext cx="2377440" cy="329184"/>
          </a:xfrm>
          <a:prstGeom prst="rect">
            <a:avLst/>
          </a:prstGeom>
          <a:noFill/>
          <a:ln/>
        </p:spPr>
        <p:txBody>
          <a:bodyPr wrap="square" rtlCol="0" anchor="ctr"/>
          <a:lstStyle/>
          <a:p>
            <a:pPr marL="0" indent="0">
              <a:buNone/>
            </a:pPr>
            <a:r>
              <a:rPr lang="en-US" sz="900" b="1" dirty="0">
                <a:solidFill>
                  <a:srgbClr val="FFFFFF"/>
                </a:solidFill>
              </a:rPr>
              <a:t>IDV Base  </a:t>
            </a:r>
            <a:r>
              <a:rPr lang="en-US" sz="800" dirty="0">
                <a:solidFill>
                  <a:srgbClr val="90E0EF"/>
                </a:solidFill>
              </a:rPr>
              <a:t>80% current market value</a:t>
            </a:r>
            <a:endParaRPr lang="en-US" sz="900" dirty="0"/>
          </a:p>
        </p:txBody>
      </p:sp>
      <p:sp>
        <p:nvSpPr>
          <p:cNvPr id="12" name="Shape 10"/>
          <p:cNvSpPr/>
          <p:nvPr/>
        </p:nvSpPr>
        <p:spPr>
          <a:xfrm>
            <a:off x="1664208" y="1929384"/>
            <a:ext cx="0" cy="73152"/>
          </a:xfrm>
          <a:prstGeom prst="line">
            <a:avLst/>
          </a:prstGeom>
          <a:noFill/>
          <a:ln w="12700">
            <a:solidFill>
              <a:srgbClr val="00B4D8"/>
            </a:solidFill>
            <a:prstDash val="solid"/>
          </a:ln>
        </p:spPr>
        <p:txBody>
          <a:bodyPr/>
          <a:lstStyle/>
          <a:p>
            <a:endParaRPr lang="en-IN"/>
          </a:p>
        </p:txBody>
      </p:sp>
      <p:sp>
        <p:nvSpPr>
          <p:cNvPr id="13" name="Shape 11"/>
          <p:cNvSpPr/>
          <p:nvPr/>
        </p:nvSpPr>
        <p:spPr>
          <a:xfrm>
            <a:off x="384048" y="2002536"/>
            <a:ext cx="2560320" cy="329184"/>
          </a:xfrm>
          <a:prstGeom prst="rect">
            <a:avLst/>
          </a:prstGeom>
          <a:solidFill>
            <a:srgbClr val="0D2137"/>
          </a:solidFill>
          <a:ln w="10160">
            <a:solidFill>
              <a:srgbClr val="0096B4"/>
            </a:solidFill>
            <a:prstDash val="solid"/>
          </a:ln>
        </p:spPr>
        <p:txBody>
          <a:bodyPr/>
          <a:lstStyle/>
          <a:p>
            <a:endParaRPr lang="en-IN"/>
          </a:p>
        </p:txBody>
      </p:sp>
      <p:sp>
        <p:nvSpPr>
          <p:cNvPr id="14" name="Text 12"/>
          <p:cNvSpPr/>
          <p:nvPr/>
        </p:nvSpPr>
        <p:spPr>
          <a:xfrm>
            <a:off x="475488" y="2002536"/>
            <a:ext cx="2377440" cy="329184"/>
          </a:xfrm>
          <a:prstGeom prst="rect">
            <a:avLst/>
          </a:prstGeom>
          <a:noFill/>
          <a:ln/>
        </p:spPr>
        <p:txBody>
          <a:bodyPr wrap="square" rtlCol="0" anchor="ctr"/>
          <a:lstStyle/>
          <a:p>
            <a:pPr marL="0" indent="0">
              <a:buNone/>
            </a:pPr>
            <a:r>
              <a:rPr lang="en-US" sz="900" b="1" dirty="0">
                <a:solidFill>
                  <a:srgbClr val="FFFFFF"/>
                </a:solidFill>
              </a:rPr>
              <a:t>Base Premium  </a:t>
            </a:r>
            <a:r>
              <a:rPr lang="en-US" sz="800" dirty="0">
                <a:solidFill>
                  <a:srgbClr val="90E0EF"/>
                </a:solidFill>
              </a:rPr>
              <a:t>2% of IDV</a:t>
            </a:r>
            <a:endParaRPr lang="en-US" sz="900" dirty="0"/>
          </a:p>
        </p:txBody>
      </p:sp>
      <p:sp>
        <p:nvSpPr>
          <p:cNvPr id="15" name="Shape 13"/>
          <p:cNvSpPr/>
          <p:nvPr/>
        </p:nvSpPr>
        <p:spPr>
          <a:xfrm>
            <a:off x="1664208" y="2331720"/>
            <a:ext cx="0" cy="73152"/>
          </a:xfrm>
          <a:prstGeom prst="line">
            <a:avLst/>
          </a:prstGeom>
          <a:noFill/>
          <a:ln w="12700">
            <a:solidFill>
              <a:srgbClr val="00B4D8"/>
            </a:solidFill>
            <a:prstDash val="solid"/>
          </a:ln>
        </p:spPr>
        <p:txBody>
          <a:bodyPr/>
          <a:lstStyle/>
          <a:p>
            <a:endParaRPr lang="en-IN"/>
          </a:p>
        </p:txBody>
      </p:sp>
      <p:sp>
        <p:nvSpPr>
          <p:cNvPr id="16" name="Shape 14"/>
          <p:cNvSpPr/>
          <p:nvPr/>
        </p:nvSpPr>
        <p:spPr>
          <a:xfrm>
            <a:off x="384048" y="2404872"/>
            <a:ext cx="2560320" cy="329184"/>
          </a:xfrm>
          <a:prstGeom prst="rect">
            <a:avLst/>
          </a:prstGeom>
          <a:solidFill>
            <a:srgbClr val="1E4D8C"/>
          </a:solidFill>
          <a:ln w="10160">
            <a:solidFill>
              <a:srgbClr val="0096B4"/>
            </a:solidFill>
            <a:prstDash val="solid"/>
          </a:ln>
        </p:spPr>
        <p:txBody>
          <a:bodyPr/>
          <a:lstStyle/>
          <a:p>
            <a:endParaRPr lang="en-IN"/>
          </a:p>
        </p:txBody>
      </p:sp>
      <p:sp>
        <p:nvSpPr>
          <p:cNvPr id="17" name="Text 15"/>
          <p:cNvSpPr/>
          <p:nvPr/>
        </p:nvSpPr>
        <p:spPr>
          <a:xfrm>
            <a:off x="475488" y="2404872"/>
            <a:ext cx="2377440" cy="329184"/>
          </a:xfrm>
          <a:prstGeom prst="rect">
            <a:avLst/>
          </a:prstGeom>
          <a:noFill/>
          <a:ln/>
        </p:spPr>
        <p:txBody>
          <a:bodyPr wrap="square" rtlCol="0" anchor="ctr"/>
          <a:lstStyle/>
          <a:p>
            <a:pPr marL="0" indent="0">
              <a:buNone/>
            </a:pPr>
            <a:r>
              <a:rPr lang="en-US" sz="900" b="1" dirty="0">
                <a:solidFill>
                  <a:srgbClr val="FFFFFF"/>
                </a:solidFill>
              </a:rPr>
              <a:t>Risk Factor  </a:t>
            </a:r>
            <a:r>
              <a:rPr lang="en-US" sz="800" dirty="0">
                <a:solidFill>
                  <a:srgbClr val="90E0EF"/>
                </a:solidFill>
              </a:rPr>
              <a:t>+5% per VehicleRiskScore pt</a:t>
            </a:r>
            <a:endParaRPr lang="en-US" sz="900" dirty="0"/>
          </a:p>
        </p:txBody>
      </p:sp>
      <p:sp>
        <p:nvSpPr>
          <p:cNvPr id="18" name="Shape 16"/>
          <p:cNvSpPr/>
          <p:nvPr/>
        </p:nvSpPr>
        <p:spPr>
          <a:xfrm>
            <a:off x="1664208" y="2734056"/>
            <a:ext cx="0" cy="73152"/>
          </a:xfrm>
          <a:prstGeom prst="line">
            <a:avLst/>
          </a:prstGeom>
          <a:noFill/>
          <a:ln w="12700">
            <a:solidFill>
              <a:srgbClr val="00B4D8"/>
            </a:solidFill>
            <a:prstDash val="solid"/>
          </a:ln>
        </p:spPr>
        <p:txBody>
          <a:bodyPr/>
          <a:lstStyle/>
          <a:p>
            <a:endParaRPr lang="en-IN"/>
          </a:p>
        </p:txBody>
      </p:sp>
      <p:sp>
        <p:nvSpPr>
          <p:cNvPr id="19" name="Shape 17"/>
          <p:cNvSpPr/>
          <p:nvPr/>
        </p:nvSpPr>
        <p:spPr>
          <a:xfrm>
            <a:off x="384048" y="2807208"/>
            <a:ext cx="2560320" cy="329184"/>
          </a:xfrm>
          <a:prstGeom prst="rect">
            <a:avLst/>
          </a:prstGeom>
          <a:solidFill>
            <a:srgbClr val="0D2137"/>
          </a:solidFill>
          <a:ln w="10160">
            <a:solidFill>
              <a:srgbClr val="0096B4"/>
            </a:solidFill>
            <a:prstDash val="solid"/>
          </a:ln>
        </p:spPr>
        <p:txBody>
          <a:bodyPr/>
          <a:lstStyle/>
          <a:p>
            <a:endParaRPr lang="en-IN"/>
          </a:p>
        </p:txBody>
      </p:sp>
      <p:sp>
        <p:nvSpPr>
          <p:cNvPr id="20" name="Text 18"/>
          <p:cNvSpPr/>
          <p:nvPr/>
        </p:nvSpPr>
        <p:spPr>
          <a:xfrm>
            <a:off x="475488" y="2807208"/>
            <a:ext cx="2377440" cy="329184"/>
          </a:xfrm>
          <a:prstGeom prst="rect">
            <a:avLst/>
          </a:prstGeom>
          <a:noFill/>
          <a:ln/>
        </p:spPr>
        <p:txBody>
          <a:bodyPr wrap="square" rtlCol="0" anchor="ctr"/>
          <a:lstStyle/>
          <a:p>
            <a:pPr marL="0" indent="0">
              <a:buNone/>
            </a:pPr>
            <a:r>
              <a:rPr lang="en-US" sz="900" b="1" dirty="0">
                <a:solidFill>
                  <a:srgbClr val="FFFFFF"/>
                </a:solidFill>
              </a:rPr>
              <a:t>Age Adj.  </a:t>
            </a:r>
            <a:r>
              <a:rPr lang="en-US" sz="800" dirty="0">
                <a:solidFill>
                  <a:srgbClr val="90E0EF"/>
                </a:solidFill>
              </a:rPr>
              <a:t>&gt;10yr +20%  |  &lt;2yr −10%</a:t>
            </a:r>
            <a:endParaRPr lang="en-US" sz="900" dirty="0"/>
          </a:p>
        </p:txBody>
      </p:sp>
      <p:sp>
        <p:nvSpPr>
          <p:cNvPr id="21" name="Shape 19"/>
          <p:cNvSpPr/>
          <p:nvPr/>
        </p:nvSpPr>
        <p:spPr>
          <a:xfrm>
            <a:off x="1664208" y="3136392"/>
            <a:ext cx="0" cy="73152"/>
          </a:xfrm>
          <a:prstGeom prst="line">
            <a:avLst/>
          </a:prstGeom>
          <a:noFill/>
          <a:ln w="12700">
            <a:solidFill>
              <a:srgbClr val="00B4D8"/>
            </a:solidFill>
            <a:prstDash val="solid"/>
          </a:ln>
        </p:spPr>
        <p:txBody>
          <a:bodyPr/>
          <a:lstStyle/>
          <a:p>
            <a:endParaRPr lang="en-IN"/>
          </a:p>
        </p:txBody>
      </p:sp>
      <p:sp>
        <p:nvSpPr>
          <p:cNvPr id="22" name="Shape 20"/>
          <p:cNvSpPr/>
          <p:nvPr/>
        </p:nvSpPr>
        <p:spPr>
          <a:xfrm>
            <a:off x="384048" y="3209544"/>
            <a:ext cx="2560320" cy="329184"/>
          </a:xfrm>
          <a:prstGeom prst="rect">
            <a:avLst/>
          </a:prstGeom>
          <a:solidFill>
            <a:srgbClr val="1E4D8C"/>
          </a:solidFill>
          <a:ln w="10160">
            <a:solidFill>
              <a:srgbClr val="0096B4"/>
            </a:solidFill>
            <a:prstDash val="solid"/>
          </a:ln>
        </p:spPr>
        <p:txBody>
          <a:bodyPr/>
          <a:lstStyle/>
          <a:p>
            <a:endParaRPr lang="en-IN"/>
          </a:p>
        </p:txBody>
      </p:sp>
      <p:sp>
        <p:nvSpPr>
          <p:cNvPr id="23" name="Text 21"/>
          <p:cNvSpPr/>
          <p:nvPr/>
        </p:nvSpPr>
        <p:spPr>
          <a:xfrm>
            <a:off x="475488" y="3209544"/>
            <a:ext cx="2377440" cy="329184"/>
          </a:xfrm>
          <a:prstGeom prst="rect">
            <a:avLst/>
          </a:prstGeom>
          <a:noFill/>
          <a:ln/>
        </p:spPr>
        <p:txBody>
          <a:bodyPr wrap="square" rtlCol="0" anchor="ctr"/>
          <a:lstStyle/>
          <a:p>
            <a:pPr marL="0" indent="0">
              <a:buNone/>
            </a:pPr>
            <a:r>
              <a:rPr lang="en-US" sz="900" b="1" dirty="0">
                <a:solidFill>
                  <a:srgbClr val="FFFFFF"/>
                </a:solidFill>
              </a:rPr>
              <a:t>NCB Disc.  </a:t>
            </a:r>
            <a:r>
              <a:rPr lang="en-US" sz="800" dirty="0">
                <a:solidFill>
                  <a:srgbClr val="90E0EF"/>
                </a:solidFill>
              </a:rPr>
              <a:t>−10% if risk score &lt; 7</a:t>
            </a:r>
            <a:endParaRPr lang="en-US" sz="900" dirty="0"/>
          </a:p>
        </p:txBody>
      </p:sp>
      <p:sp>
        <p:nvSpPr>
          <p:cNvPr id="24" name="Shape 22"/>
          <p:cNvSpPr/>
          <p:nvPr/>
        </p:nvSpPr>
        <p:spPr>
          <a:xfrm>
            <a:off x="1664208" y="3538728"/>
            <a:ext cx="0" cy="73152"/>
          </a:xfrm>
          <a:prstGeom prst="line">
            <a:avLst/>
          </a:prstGeom>
          <a:noFill/>
          <a:ln w="12700">
            <a:solidFill>
              <a:srgbClr val="00B4D8"/>
            </a:solidFill>
            <a:prstDash val="solid"/>
          </a:ln>
        </p:spPr>
        <p:txBody>
          <a:bodyPr/>
          <a:lstStyle/>
          <a:p>
            <a:endParaRPr lang="en-IN"/>
          </a:p>
        </p:txBody>
      </p:sp>
      <p:sp>
        <p:nvSpPr>
          <p:cNvPr id="25" name="Shape 23"/>
          <p:cNvSpPr/>
          <p:nvPr/>
        </p:nvSpPr>
        <p:spPr>
          <a:xfrm>
            <a:off x="384048" y="3611880"/>
            <a:ext cx="2560320" cy="329184"/>
          </a:xfrm>
          <a:prstGeom prst="rect">
            <a:avLst/>
          </a:prstGeom>
          <a:solidFill>
            <a:srgbClr val="0D2137"/>
          </a:solidFill>
          <a:ln w="10160">
            <a:solidFill>
              <a:srgbClr val="0096B4"/>
            </a:solidFill>
            <a:prstDash val="solid"/>
          </a:ln>
        </p:spPr>
        <p:txBody>
          <a:bodyPr/>
          <a:lstStyle/>
          <a:p>
            <a:endParaRPr lang="en-IN"/>
          </a:p>
        </p:txBody>
      </p:sp>
      <p:sp>
        <p:nvSpPr>
          <p:cNvPr id="26" name="Text 24"/>
          <p:cNvSpPr/>
          <p:nvPr/>
        </p:nvSpPr>
        <p:spPr>
          <a:xfrm>
            <a:off x="475488" y="3611880"/>
            <a:ext cx="2377440" cy="329184"/>
          </a:xfrm>
          <a:prstGeom prst="rect">
            <a:avLst/>
          </a:prstGeom>
          <a:noFill/>
          <a:ln/>
        </p:spPr>
        <p:txBody>
          <a:bodyPr wrap="square" rtlCol="0" anchor="ctr"/>
          <a:lstStyle/>
          <a:p>
            <a:pPr marL="0" indent="0">
              <a:buNone/>
            </a:pPr>
            <a:r>
              <a:rPr lang="en-US" sz="900" b="1" dirty="0">
                <a:solidFill>
                  <a:srgbClr val="FFFFFF"/>
                </a:solidFill>
              </a:rPr>
              <a:t>Floor ₹500  </a:t>
            </a:r>
            <a:r>
              <a:rPr lang="en-US" sz="800" dirty="0">
                <a:solidFill>
                  <a:srgbClr val="90E0EF"/>
                </a:solidFill>
              </a:rPr>
              <a:t>Minimum premium cap</a:t>
            </a:r>
            <a:endParaRPr lang="en-US" sz="900" dirty="0"/>
          </a:p>
        </p:txBody>
      </p:sp>
      <p:sp>
        <p:nvSpPr>
          <p:cNvPr id="27" name="Shape 25"/>
          <p:cNvSpPr/>
          <p:nvPr/>
        </p:nvSpPr>
        <p:spPr>
          <a:xfrm>
            <a:off x="3291840" y="1024128"/>
            <a:ext cx="2788920" cy="301752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a:p>
        </p:txBody>
      </p:sp>
      <p:sp>
        <p:nvSpPr>
          <p:cNvPr id="28" name="Shape 26"/>
          <p:cNvSpPr/>
          <p:nvPr/>
        </p:nvSpPr>
        <p:spPr>
          <a:xfrm>
            <a:off x="3291840" y="1024128"/>
            <a:ext cx="2788920" cy="73152"/>
          </a:xfrm>
          <a:prstGeom prst="rect">
            <a:avLst/>
          </a:prstGeom>
          <a:solidFill>
            <a:srgbClr val="FFB703"/>
          </a:solidFill>
          <a:ln w="12700">
            <a:solidFill>
              <a:srgbClr val="FFB703"/>
            </a:solidFill>
            <a:prstDash val="solid"/>
          </a:ln>
        </p:spPr>
        <p:txBody>
          <a:bodyPr/>
          <a:lstStyle/>
          <a:p>
            <a:endParaRPr lang="en-IN"/>
          </a:p>
        </p:txBody>
      </p:sp>
      <p:sp>
        <p:nvSpPr>
          <p:cNvPr id="29" name="Text 27"/>
          <p:cNvSpPr/>
          <p:nvPr/>
        </p:nvSpPr>
        <p:spPr>
          <a:xfrm>
            <a:off x="3337560" y="1042416"/>
            <a:ext cx="2697480" cy="347472"/>
          </a:xfrm>
          <a:prstGeom prst="rect">
            <a:avLst/>
          </a:prstGeom>
          <a:noFill/>
          <a:ln/>
        </p:spPr>
        <p:txBody>
          <a:bodyPr wrap="square" rtlCol="0" anchor="ctr"/>
          <a:lstStyle/>
          <a:p>
            <a:pPr marL="0" indent="0" algn="ctr">
              <a:buNone/>
            </a:pPr>
            <a:r>
              <a:rPr lang="en-US" sz="1100" b="1" dirty="0">
                <a:solidFill>
                  <a:srgbClr val="FFFFFF"/>
                </a:solidFill>
              </a:rPr>
              <a:t>🔍 Fraud Detection Engine</a:t>
            </a:r>
            <a:endParaRPr lang="en-US" sz="1100" dirty="0"/>
          </a:p>
        </p:txBody>
      </p:sp>
      <p:sp>
        <p:nvSpPr>
          <p:cNvPr id="30" name="Text 28"/>
          <p:cNvSpPr/>
          <p:nvPr/>
        </p:nvSpPr>
        <p:spPr>
          <a:xfrm>
            <a:off x="3337560" y="1371600"/>
            <a:ext cx="2697480" cy="201168"/>
          </a:xfrm>
          <a:prstGeom prst="rect">
            <a:avLst/>
          </a:prstGeom>
          <a:noFill/>
          <a:ln/>
        </p:spPr>
        <p:txBody>
          <a:bodyPr wrap="square" rtlCol="0" anchor="ctr"/>
          <a:lstStyle/>
          <a:p>
            <a:pPr marL="0" indent="0" algn="ctr">
              <a:buNone/>
            </a:pPr>
            <a:r>
              <a:rPr lang="en-US" sz="800" i="1" dirty="0">
                <a:solidFill>
                  <a:srgbClr val="FFB703"/>
                </a:solidFill>
              </a:rPr>
              <a:t>FraudDetectionService.cs</a:t>
            </a:r>
            <a:endParaRPr lang="en-US" sz="800" dirty="0"/>
          </a:p>
        </p:txBody>
      </p:sp>
      <p:sp>
        <p:nvSpPr>
          <p:cNvPr id="31" name="Shape 29"/>
          <p:cNvSpPr/>
          <p:nvPr/>
        </p:nvSpPr>
        <p:spPr>
          <a:xfrm>
            <a:off x="3401568" y="1600200"/>
            <a:ext cx="2560320" cy="402336"/>
          </a:xfrm>
          <a:prstGeom prst="rect">
            <a:avLst/>
          </a:prstGeom>
          <a:solidFill>
            <a:srgbClr val="0D2137"/>
          </a:solidFill>
          <a:ln w="10160">
            <a:solidFill>
              <a:srgbClr val="FFB703"/>
            </a:solidFill>
            <a:prstDash val="solid"/>
          </a:ln>
        </p:spPr>
        <p:txBody>
          <a:bodyPr/>
          <a:lstStyle/>
          <a:p>
            <a:endParaRPr lang="en-IN"/>
          </a:p>
        </p:txBody>
      </p:sp>
      <p:sp>
        <p:nvSpPr>
          <p:cNvPr id="32" name="Shape 30"/>
          <p:cNvSpPr/>
          <p:nvPr/>
        </p:nvSpPr>
        <p:spPr>
          <a:xfrm>
            <a:off x="3401568" y="1600200"/>
            <a:ext cx="475488" cy="402336"/>
          </a:xfrm>
          <a:prstGeom prst="rect">
            <a:avLst/>
          </a:prstGeom>
          <a:solidFill>
            <a:srgbClr val="FFB703"/>
          </a:solidFill>
          <a:ln w="12700">
            <a:solidFill>
              <a:srgbClr val="FFB703"/>
            </a:solidFill>
            <a:prstDash val="solid"/>
          </a:ln>
        </p:spPr>
        <p:txBody>
          <a:bodyPr/>
          <a:lstStyle/>
          <a:p>
            <a:endParaRPr lang="en-IN"/>
          </a:p>
        </p:txBody>
      </p:sp>
      <p:sp>
        <p:nvSpPr>
          <p:cNvPr id="33" name="Text 31"/>
          <p:cNvSpPr/>
          <p:nvPr/>
        </p:nvSpPr>
        <p:spPr>
          <a:xfrm>
            <a:off x="3401568" y="1600200"/>
            <a:ext cx="475488" cy="402336"/>
          </a:xfrm>
          <a:prstGeom prst="rect">
            <a:avLst/>
          </a:prstGeom>
          <a:noFill/>
          <a:ln/>
        </p:spPr>
        <p:txBody>
          <a:bodyPr wrap="square" rtlCol="0" anchor="ctr"/>
          <a:lstStyle/>
          <a:p>
            <a:pPr marL="0" indent="0" algn="ctr">
              <a:buNone/>
            </a:pPr>
            <a:r>
              <a:rPr lang="en-US" sz="1100" b="1" dirty="0">
                <a:solidFill>
                  <a:srgbClr val="0A1628"/>
                </a:solidFill>
              </a:rPr>
              <a:t>+20</a:t>
            </a:r>
            <a:endParaRPr lang="en-US" sz="1100" dirty="0"/>
          </a:p>
        </p:txBody>
      </p:sp>
      <p:sp>
        <p:nvSpPr>
          <p:cNvPr id="34" name="Text 32"/>
          <p:cNvSpPr/>
          <p:nvPr/>
        </p:nvSpPr>
        <p:spPr>
          <a:xfrm>
            <a:off x="3913632" y="1600200"/>
            <a:ext cx="2011680" cy="402336"/>
          </a:xfrm>
          <a:prstGeom prst="rect">
            <a:avLst/>
          </a:prstGeom>
          <a:noFill/>
          <a:ln/>
        </p:spPr>
        <p:txBody>
          <a:bodyPr wrap="square" rtlCol="0" anchor="ctr"/>
          <a:lstStyle/>
          <a:p>
            <a:pPr marL="0" indent="0">
              <a:buNone/>
            </a:pPr>
            <a:r>
              <a:rPr lang="en-US" sz="900" dirty="0">
                <a:solidFill>
                  <a:srgbClr val="FFFFFF"/>
                </a:solidFill>
              </a:rPr>
              <a:t>Claim within 7 days of policy start</a:t>
            </a:r>
            <a:endParaRPr lang="en-US" sz="900" dirty="0"/>
          </a:p>
        </p:txBody>
      </p:sp>
      <p:sp>
        <p:nvSpPr>
          <p:cNvPr id="35" name="Shape 33"/>
          <p:cNvSpPr/>
          <p:nvPr/>
        </p:nvSpPr>
        <p:spPr>
          <a:xfrm>
            <a:off x="3401568" y="2075688"/>
            <a:ext cx="2560320" cy="402336"/>
          </a:xfrm>
          <a:prstGeom prst="rect">
            <a:avLst/>
          </a:prstGeom>
          <a:solidFill>
            <a:srgbClr val="0D2137"/>
          </a:solidFill>
          <a:ln w="10160">
            <a:solidFill>
              <a:srgbClr val="FFB703"/>
            </a:solidFill>
            <a:prstDash val="solid"/>
          </a:ln>
        </p:spPr>
        <p:txBody>
          <a:bodyPr/>
          <a:lstStyle/>
          <a:p>
            <a:endParaRPr lang="en-IN"/>
          </a:p>
        </p:txBody>
      </p:sp>
      <p:sp>
        <p:nvSpPr>
          <p:cNvPr id="36" name="Shape 34"/>
          <p:cNvSpPr/>
          <p:nvPr/>
        </p:nvSpPr>
        <p:spPr>
          <a:xfrm>
            <a:off x="3401568" y="2075688"/>
            <a:ext cx="475488" cy="402336"/>
          </a:xfrm>
          <a:prstGeom prst="rect">
            <a:avLst/>
          </a:prstGeom>
          <a:solidFill>
            <a:srgbClr val="FFB703"/>
          </a:solidFill>
          <a:ln w="12700">
            <a:solidFill>
              <a:srgbClr val="FFB703"/>
            </a:solidFill>
            <a:prstDash val="solid"/>
          </a:ln>
        </p:spPr>
        <p:txBody>
          <a:bodyPr/>
          <a:lstStyle/>
          <a:p>
            <a:endParaRPr lang="en-IN"/>
          </a:p>
        </p:txBody>
      </p:sp>
      <p:sp>
        <p:nvSpPr>
          <p:cNvPr id="37" name="Text 35"/>
          <p:cNvSpPr/>
          <p:nvPr/>
        </p:nvSpPr>
        <p:spPr>
          <a:xfrm>
            <a:off x="3401568" y="2075688"/>
            <a:ext cx="475488" cy="402336"/>
          </a:xfrm>
          <a:prstGeom prst="rect">
            <a:avLst/>
          </a:prstGeom>
          <a:noFill/>
          <a:ln/>
        </p:spPr>
        <p:txBody>
          <a:bodyPr wrap="square" rtlCol="0" anchor="ctr"/>
          <a:lstStyle/>
          <a:p>
            <a:pPr marL="0" indent="0" algn="ctr">
              <a:buNone/>
            </a:pPr>
            <a:r>
              <a:rPr lang="en-US" sz="1100" b="1" dirty="0">
                <a:solidFill>
                  <a:srgbClr val="0A1628"/>
                </a:solidFill>
              </a:rPr>
              <a:t>+30</a:t>
            </a:r>
            <a:endParaRPr lang="en-US" sz="1100" dirty="0"/>
          </a:p>
        </p:txBody>
      </p:sp>
      <p:sp>
        <p:nvSpPr>
          <p:cNvPr id="38" name="Text 36"/>
          <p:cNvSpPr/>
          <p:nvPr/>
        </p:nvSpPr>
        <p:spPr>
          <a:xfrm>
            <a:off x="3913632" y="2075688"/>
            <a:ext cx="2011680" cy="402336"/>
          </a:xfrm>
          <a:prstGeom prst="rect">
            <a:avLst/>
          </a:prstGeom>
          <a:noFill/>
          <a:ln/>
        </p:spPr>
        <p:txBody>
          <a:bodyPr wrap="square" rtlCol="0" anchor="ctr"/>
          <a:lstStyle/>
          <a:p>
            <a:pPr marL="0" indent="0">
              <a:buNone/>
            </a:pPr>
            <a:r>
              <a:rPr lang="en-US" sz="900" dirty="0">
                <a:solidFill>
                  <a:srgbClr val="FFFFFF"/>
                </a:solidFill>
              </a:rPr>
              <a:t>&gt;2 claims in last 6 months</a:t>
            </a:r>
            <a:endParaRPr lang="en-US" sz="900" dirty="0"/>
          </a:p>
        </p:txBody>
      </p:sp>
      <p:sp>
        <p:nvSpPr>
          <p:cNvPr id="39" name="Shape 37"/>
          <p:cNvSpPr/>
          <p:nvPr/>
        </p:nvSpPr>
        <p:spPr>
          <a:xfrm>
            <a:off x="3401568" y="2551176"/>
            <a:ext cx="2560320" cy="402336"/>
          </a:xfrm>
          <a:prstGeom prst="rect">
            <a:avLst/>
          </a:prstGeom>
          <a:solidFill>
            <a:srgbClr val="0D2137"/>
          </a:solidFill>
          <a:ln w="10160">
            <a:solidFill>
              <a:srgbClr val="FFB703"/>
            </a:solidFill>
            <a:prstDash val="solid"/>
          </a:ln>
        </p:spPr>
        <p:txBody>
          <a:bodyPr/>
          <a:lstStyle/>
          <a:p>
            <a:endParaRPr lang="en-IN"/>
          </a:p>
        </p:txBody>
      </p:sp>
      <p:sp>
        <p:nvSpPr>
          <p:cNvPr id="40" name="Shape 38"/>
          <p:cNvSpPr/>
          <p:nvPr/>
        </p:nvSpPr>
        <p:spPr>
          <a:xfrm>
            <a:off x="3401568" y="2551176"/>
            <a:ext cx="475488" cy="402336"/>
          </a:xfrm>
          <a:prstGeom prst="rect">
            <a:avLst/>
          </a:prstGeom>
          <a:solidFill>
            <a:srgbClr val="FFB703"/>
          </a:solidFill>
          <a:ln w="12700">
            <a:solidFill>
              <a:srgbClr val="FFB703"/>
            </a:solidFill>
            <a:prstDash val="solid"/>
          </a:ln>
        </p:spPr>
        <p:txBody>
          <a:bodyPr/>
          <a:lstStyle/>
          <a:p>
            <a:endParaRPr lang="en-IN"/>
          </a:p>
        </p:txBody>
      </p:sp>
      <p:sp>
        <p:nvSpPr>
          <p:cNvPr id="41" name="Text 39"/>
          <p:cNvSpPr/>
          <p:nvPr/>
        </p:nvSpPr>
        <p:spPr>
          <a:xfrm>
            <a:off x="3401568" y="2551176"/>
            <a:ext cx="475488" cy="402336"/>
          </a:xfrm>
          <a:prstGeom prst="rect">
            <a:avLst/>
          </a:prstGeom>
          <a:noFill/>
          <a:ln/>
        </p:spPr>
        <p:txBody>
          <a:bodyPr wrap="square" rtlCol="0" anchor="ctr"/>
          <a:lstStyle/>
          <a:p>
            <a:pPr marL="0" indent="0" algn="ctr">
              <a:buNone/>
            </a:pPr>
            <a:r>
              <a:rPr lang="en-US" sz="1100" b="1" dirty="0">
                <a:solidFill>
                  <a:srgbClr val="0A1628"/>
                </a:solidFill>
              </a:rPr>
              <a:t>+25</a:t>
            </a:r>
            <a:endParaRPr lang="en-US" sz="1100" dirty="0"/>
          </a:p>
        </p:txBody>
      </p:sp>
      <p:sp>
        <p:nvSpPr>
          <p:cNvPr id="42" name="Text 40"/>
          <p:cNvSpPr/>
          <p:nvPr/>
        </p:nvSpPr>
        <p:spPr>
          <a:xfrm>
            <a:off x="3913632" y="2551176"/>
            <a:ext cx="2011680" cy="402336"/>
          </a:xfrm>
          <a:prstGeom prst="rect">
            <a:avLst/>
          </a:prstGeom>
          <a:noFill/>
          <a:ln/>
        </p:spPr>
        <p:txBody>
          <a:bodyPr wrap="square" rtlCol="0" anchor="ctr"/>
          <a:lstStyle/>
          <a:p>
            <a:pPr marL="0" indent="0">
              <a:buNone/>
            </a:pPr>
            <a:r>
              <a:rPr lang="en-US" sz="900" dirty="0">
                <a:solidFill>
                  <a:srgbClr val="FFFFFF"/>
                </a:solidFill>
              </a:rPr>
              <a:t>Claim &gt; 50% of IDV</a:t>
            </a:r>
            <a:endParaRPr lang="en-US" sz="900" dirty="0"/>
          </a:p>
        </p:txBody>
      </p:sp>
      <p:sp>
        <p:nvSpPr>
          <p:cNvPr id="43" name="Shape 41"/>
          <p:cNvSpPr/>
          <p:nvPr/>
        </p:nvSpPr>
        <p:spPr>
          <a:xfrm>
            <a:off x="3401568" y="3026664"/>
            <a:ext cx="2560320" cy="402336"/>
          </a:xfrm>
          <a:prstGeom prst="rect">
            <a:avLst/>
          </a:prstGeom>
          <a:solidFill>
            <a:srgbClr val="0D2137"/>
          </a:solidFill>
          <a:ln w="10160">
            <a:solidFill>
              <a:srgbClr val="FFB703"/>
            </a:solidFill>
            <a:prstDash val="solid"/>
          </a:ln>
        </p:spPr>
        <p:txBody>
          <a:bodyPr/>
          <a:lstStyle/>
          <a:p>
            <a:endParaRPr lang="en-IN"/>
          </a:p>
        </p:txBody>
      </p:sp>
      <p:sp>
        <p:nvSpPr>
          <p:cNvPr id="44" name="Shape 42"/>
          <p:cNvSpPr/>
          <p:nvPr/>
        </p:nvSpPr>
        <p:spPr>
          <a:xfrm>
            <a:off x="3401568" y="3026664"/>
            <a:ext cx="475488" cy="402336"/>
          </a:xfrm>
          <a:prstGeom prst="rect">
            <a:avLst/>
          </a:prstGeom>
          <a:solidFill>
            <a:srgbClr val="FFB703"/>
          </a:solidFill>
          <a:ln w="12700">
            <a:solidFill>
              <a:srgbClr val="FFB703"/>
            </a:solidFill>
            <a:prstDash val="solid"/>
          </a:ln>
        </p:spPr>
        <p:txBody>
          <a:bodyPr/>
          <a:lstStyle/>
          <a:p>
            <a:endParaRPr lang="en-IN"/>
          </a:p>
        </p:txBody>
      </p:sp>
      <p:sp>
        <p:nvSpPr>
          <p:cNvPr id="45" name="Text 43"/>
          <p:cNvSpPr/>
          <p:nvPr/>
        </p:nvSpPr>
        <p:spPr>
          <a:xfrm>
            <a:off x="3401568" y="3026664"/>
            <a:ext cx="475488" cy="402336"/>
          </a:xfrm>
          <a:prstGeom prst="rect">
            <a:avLst/>
          </a:prstGeom>
          <a:noFill/>
          <a:ln/>
        </p:spPr>
        <p:txBody>
          <a:bodyPr wrap="square" rtlCol="0" anchor="ctr"/>
          <a:lstStyle/>
          <a:p>
            <a:pPr marL="0" indent="0" algn="ctr">
              <a:buNone/>
            </a:pPr>
            <a:r>
              <a:rPr lang="en-US" sz="1100" b="1" dirty="0">
                <a:solidFill>
                  <a:srgbClr val="0A1628"/>
                </a:solidFill>
              </a:rPr>
              <a:t>+15</a:t>
            </a:r>
            <a:endParaRPr lang="en-US" sz="1100" dirty="0"/>
          </a:p>
        </p:txBody>
      </p:sp>
      <p:sp>
        <p:nvSpPr>
          <p:cNvPr id="46" name="Text 44"/>
          <p:cNvSpPr/>
          <p:nvPr/>
        </p:nvSpPr>
        <p:spPr>
          <a:xfrm>
            <a:off x="3913632" y="3026664"/>
            <a:ext cx="2011680" cy="402336"/>
          </a:xfrm>
          <a:prstGeom prst="rect">
            <a:avLst/>
          </a:prstGeom>
          <a:noFill/>
          <a:ln/>
        </p:spPr>
        <p:txBody>
          <a:bodyPr wrap="square" rtlCol="0" anchor="ctr"/>
          <a:lstStyle/>
          <a:p>
            <a:pPr marL="0" indent="0">
              <a:buNone/>
            </a:pPr>
            <a:r>
              <a:rPr lang="en-US" sz="900" dirty="0">
                <a:solidFill>
                  <a:srgbClr val="FFFFFF"/>
                </a:solidFill>
              </a:rPr>
              <a:t>Policy created/upgraded in 30 days</a:t>
            </a:r>
            <a:endParaRPr lang="en-US" sz="900" dirty="0"/>
          </a:p>
        </p:txBody>
      </p:sp>
      <p:sp>
        <p:nvSpPr>
          <p:cNvPr id="47" name="Shape 45"/>
          <p:cNvSpPr/>
          <p:nvPr/>
        </p:nvSpPr>
        <p:spPr>
          <a:xfrm>
            <a:off x="3401568" y="3611880"/>
            <a:ext cx="822960" cy="292608"/>
          </a:xfrm>
          <a:prstGeom prst="rect">
            <a:avLst/>
          </a:prstGeom>
          <a:solidFill>
            <a:srgbClr val="06D6A0"/>
          </a:solidFill>
          <a:ln w="12700">
            <a:solidFill>
              <a:srgbClr val="06D6A0"/>
            </a:solidFill>
            <a:prstDash val="solid"/>
          </a:ln>
        </p:spPr>
        <p:txBody>
          <a:bodyPr/>
          <a:lstStyle/>
          <a:p>
            <a:endParaRPr lang="en-IN"/>
          </a:p>
        </p:txBody>
      </p:sp>
      <p:sp>
        <p:nvSpPr>
          <p:cNvPr id="48" name="Text 46"/>
          <p:cNvSpPr/>
          <p:nvPr/>
        </p:nvSpPr>
        <p:spPr>
          <a:xfrm>
            <a:off x="3401568" y="3611880"/>
            <a:ext cx="822960" cy="292608"/>
          </a:xfrm>
          <a:prstGeom prst="rect">
            <a:avLst/>
          </a:prstGeom>
          <a:noFill/>
          <a:ln/>
        </p:spPr>
        <p:txBody>
          <a:bodyPr wrap="square" rtlCol="0" anchor="ctr"/>
          <a:lstStyle/>
          <a:p>
            <a:pPr marL="0" indent="0" algn="ctr">
              <a:buNone/>
            </a:pPr>
            <a:r>
              <a:rPr lang="en-US" sz="900" b="1" dirty="0">
                <a:solidFill>
                  <a:srgbClr val="0A1628"/>
                </a:solidFill>
              </a:rPr>
              <a:t>LOW &lt; 30</a:t>
            </a:r>
            <a:endParaRPr lang="en-US" sz="900" dirty="0"/>
          </a:p>
        </p:txBody>
      </p:sp>
      <p:sp>
        <p:nvSpPr>
          <p:cNvPr id="49" name="Shape 47"/>
          <p:cNvSpPr/>
          <p:nvPr/>
        </p:nvSpPr>
        <p:spPr>
          <a:xfrm>
            <a:off x="4297680" y="3611880"/>
            <a:ext cx="822960" cy="292608"/>
          </a:xfrm>
          <a:prstGeom prst="rect">
            <a:avLst/>
          </a:prstGeom>
          <a:solidFill>
            <a:srgbClr val="FFB703"/>
          </a:solidFill>
          <a:ln w="12700">
            <a:solidFill>
              <a:srgbClr val="FFB703"/>
            </a:solidFill>
            <a:prstDash val="solid"/>
          </a:ln>
        </p:spPr>
        <p:txBody>
          <a:bodyPr/>
          <a:lstStyle/>
          <a:p>
            <a:endParaRPr lang="en-IN"/>
          </a:p>
        </p:txBody>
      </p:sp>
      <p:sp>
        <p:nvSpPr>
          <p:cNvPr id="50" name="Text 48"/>
          <p:cNvSpPr/>
          <p:nvPr/>
        </p:nvSpPr>
        <p:spPr>
          <a:xfrm>
            <a:off x="4297680" y="3611880"/>
            <a:ext cx="822960" cy="292608"/>
          </a:xfrm>
          <a:prstGeom prst="rect">
            <a:avLst/>
          </a:prstGeom>
          <a:noFill/>
          <a:ln/>
        </p:spPr>
        <p:txBody>
          <a:bodyPr wrap="square" rtlCol="0" anchor="ctr"/>
          <a:lstStyle/>
          <a:p>
            <a:pPr marL="0" indent="0" algn="ctr">
              <a:buNone/>
            </a:pPr>
            <a:r>
              <a:rPr lang="en-US" sz="900" b="1" dirty="0">
                <a:solidFill>
                  <a:srgbClr val="0A1628"/>
                </a:solidFill>
              </a:rPr>
              <a:t>MED 30–59</a:t>
            </a:r>
            <a:endParaRPr lang="en-US" sz="900" dirty="0"/>
          </a:p>
        </p:txBody>
      </p:sp>
      <p:sp>
        <p:nvSpPr>
          <p:cNvPr id="51" name="Shape 49"/>
          <p:cNvSpPr/>
          <p:nvPr/>
        </p:nvSpPr>
        <p:spPr>
          <a:xfrm>
            <a:off x="5193792" y="3611880"/>
            <a:ext cx="822960" cy="292608"/>
          </a:xfrm>
          <a:prstGeom prst="rect">
            <a:avLst/>
          </a:prstGeom>
          <a:solidFill>
            <a:srgbClr val="EF476F"/>
          </a:solidFill>
          <a:ln w="12700">
            <a:solidFill>
              <a:srgbClr val="EF476F"/>
            </a:solidFill>
            <a:prstDash val="solid"/>
          </a:ln>
        </p:spPr>
        <p:txBody>
          <a:bodyPr/>
          <a:lstStyle/>
          <a:p>
            <a:endParaRPr lang="en-IN"/>
          </a:p>
        </p:txBody>
      </p:sp>
      <p:sp>
        <p:nvSpPr>
          <p:cNvPr id="52" name="Text 50"/>
          <p:cNvSpPr/>
          <p:nvPr/>
        </p:nvSpPr>
        <p:spPr>
          <a:xfrm>
            <a:off x="5193792" y="3611880"/>
            <a:ext cx="822960" cy="292608"/>
          </a:xfrm>
          <a:prstGeom prst="rect">
            <a:avLst/>
          </a:prstGeom>
          <a:noFill/>
          <a:ln/>
        </p:spPr>
        <p:txBody>
          <a:bodyPr wrap="square" rtlCol="0" anchor="ctr"/>
          <a:lstStyle/>
          <a:p>
            <a:pPr marL="0" indent="0" algn="ctr">
              <a:buNone/>
            </a:pPr>
            <a:r>
              <a:rPr lang="en-US" sz="900" b="1" dirty="0">
                <a:solidFill>
                  <a:srgbClr val="0A1628"/>
                </a:solidFill>
              </a:rPr>
              <a:t>HIGH ≥60</a:t>
            </a:r>
            <a:endParaRPr lang="en-US" sz="900" dirty="0"/>
          </a:p>
        </p:txBody>
      </p:sp>
      <p:sp>
        <p:nvSpPr>
          <p:cNvPr id="53" name="Shape 51"/>
          <p:cNvSpPr/>
          <p:nvPr/>
        </p:nvSpPr>
        <p:spPr>
          <a:xfrm>
            <a:off x="6309360" y="1024128"/>
            <a:ext cx="2514600" cy="301752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a:p>
        </p:txBody>
      </p:sp>
      <p:sp>
        <p:nvSpPr>
          <p:cNvPr id="54" name="Shape 52"/>
          <p:cNvSpPr/>
          <p:nvPr/>
        </p:nvSpPr>
        <p:spPr>
          <a:xfrm>
            <a:off x="6309360" y="1024128"/>
            <a:ext cx="2514600" cy="73152"/>
          </a:xfrm>
          <a:prstGeom prst="rect">
            <a:avLst/>
          </a:prstGeom>
          <a:solidFill>
            <a:srgbClr val="06D6A0"/>
          </a:solidFill>
          <a:ln w="12700">
            <a:solidFill>
              <a:srgbClr val="06D6A0"/>
            </a:solidFill>
            <a:prstDash val="solid"/>
          </a:ln>
        </p:spPr>
        <p:txBody>
          <a:bodyPr/>
          <a:lstStyle/>
          <a:p>
            <a:endParaRPr lang="en-IN"/>
          </a:p>
        </p:txBody>
      </p:sp>
      <p:sp>
        <p:nvSpPr>
          <p:cNvPr id="55" name="Text 53"/>
          <p:cNvSpPr/>
          <p:nvPr/>
        </p:nvSpPr>
        <p:spPr>
          <a:xfrm>
            <a:off x="6355080" y="1042416"/>
            <a:ext cx="2423160" cy="347472"/>
          </a:xfrm>
          <a:prstGeom prst="rect">
            <a:avLst/>
          </a:prstGeom>
          <a:noFill/>
          <a:ln/>
        </p:spPr>
        <p:txBody>
          <a:bodyPr wrap="square" rtlCol="0" anchor="ctr"/>
          <a:lstStyle/>
          <a:p>
            <a:pPr marL="0" indent="0" algn="ctr">
              <a:buNone/>
            </a:pPr>
            <a:r>
              <a:rPr lang="en-US" sz="1100" b="1" dirty="0">
                <a:solidFill>
                  <a:srgbClr val="FFFFFF"/>
                </a:solidFill>
              </a:rPr>
              <a:t>🚗 Vehicle Risk Engine</a:t>
            </a:r>
            <a:endParaRPr lang="en-US" sz="1100" dirty="0"/>
          </a:p>
        </p:txBody>
      </p:sp>
      <p:sp>
        <p:nvSpPr>
          <p:cNvPr id="56" name="Text 54"/>
          <p:cNvSpPr/>
          <p:nvPr/>
        </p:nvSpPr>
        <p:spPr>
          <a:xfrm>
            <a:off x="6355080" y="1371600"/>
            <a:ext cx="2423160" cy="201168"/>
          </a:xfrm>
          <a:prstGeom prst="rect">
            <a:avLst/>
          </a:prstGeom>
          <a:noFill/>
          <a:ln/>
        </p:spPr>
        <p:txBody>
          <a:bodyPr wrap="square" rtlCol="0" anchor="ctr"/>
          <a:lstStyle/>
          <a:p>
            <a:pPr marL="0" indent="0" algn="ctr">
              <a:buNone/>
            </a:pPr>
            <a:r>
              <a:rPr lang="en-US" sz="800" i="1" dirty="0">
                <a:solidFill>
                  <a:srgbClr val="06D6A0"/>
                </a:solidFill>
              </a:rPr>
              <a:t>VehicleRiskService.cs  ·  Score: 1–10</a:t>
            </a:r>
            <a:endParaRPr lang="en-US" sz="800" dirty="0"/>
          </a:p>
        </p:txBody>
      </p:sp>
      <p:sp>
        <p:nvSpPr>
          <p:cNvPr id="57" name="Shape 55"/>
          <p:cNvSpPr/>
          <p:nvPr/>
        </p:nvSpPr>
        <p:spPr>
          <a:xfrm>
            <a:off x="6400800" y="1627632"/>
            <a:ext cx="2331720" cy="438912"/>
          </a:xfrm>
          <a:prstGeom prst="rect">
            <a:avLst/>
          </a:prstGeom>
          <a:solidFill>
            <a:srgbClr val="0D2B3E"/>
          </a:solidFill>
          <a:ln w="10160">
            <a:solidFill>
              <a:srgbClr val="06D6A0"/>
            </a:solidFill>
            <a:prstDash val="solid"/>
          </a:ln>
        </p:spPr>
        <p:txBody>
          <a:bodyPr/>
          <a:lstStyle/>
          <a:p>
            <a:endParaRPr lang="en-IN"/>
          </a:p>
        </p:txBody>
      </p:sp>
      <p:sp>
        <p:nvSpPr>
          <p:cNvPr id="58" name="Text 56"/>
          <p:cNvSpPr/>
          <p:nvPr/>
        </p:nvSpPr>
        <p:spPr>
          <a:xfrm>
            <a:off x="6473952" y="1645920"/>
            <a:ext cx="1828800" cy="219456"/>
          </a:xfrm>
          <a:prstGeom prst="rect">
            <a:avLst/>
          </a:prstGeom>
          <a:noFill/>
          <a:ln/>
        </p:spPr>
        <p:txBody>
          <a:bodyPr wrap="square" lIns="0" tIns="0" rIns="0" bIns="0" rtlCol="0" anchor="ctr"/>
          <a:lstStyle/>
          <a:p>
            <a:pPr marL="0" indent="0">
              <a:buNone/>
            </a:pPr>
            <a:r>
              <a:rPr lang="en-US" sz="1000" b="1" dirty="0">
                <a:solidFill>
                  <a:srgbClr val="FFFFFF"/>
                </a:solidFill>
              </a:rPr>
              <a:t>Age &gt; 15 yrs</a:t>
            </a:r>
            <a:endParaRPr lang="en-US" sz="1000" dirty="0"/>
          </a:p>
        </p:txBody>
      </p:sp>
      <p:sp>
        <p:nvSpPr>
          <p:cNvPr id="59" name="Text 57"/>
          <p:cNvSpPr/>
          <p:nvPr/>
        </p:nvSpPr>
        <p:spPr>
          <a:xfrm>
            <a:off x="6473952" y="1856232"/>
            <a:ext cx="1828800" cy="182880"/>
          </a:xfrm>
          <a:prstGeom prst="rect">
            <a:avLst/>
          </a:prstGeom>
          <a:noFill/>
          <a:ln/>
        </p:spPr>
        <p:txBody>
          <a:bodyPr wrap="square" lIns="0" tIns="0" rIns="0" bIns="0" rtlCol="0" anchor="ctr"/>
          <a:lstStyle/>
          <a:p>
            <a:pPr marL="0" indent="0">
              <a:buNone/>
            </a:pPr>
            <a:r>
              <a:rPr lang="en-US" sz="900" dirty="0">
                <a:solidFill>
                  <a:srgbClr val="06D6A0"/>
                </a:solidFill>
              </a:rPr>
              <a:t>+3 pts</a:t>
            </a:r>
            <a:endParaRPr lang="en-US" sz="900" dirty="0"/>
          </a:p>
        </p:txBody>
      </p:sp>
      <p:sp>
        <p:nvSpPr>
          <p:cNvPr id="60" name="Shape 58"/>
          <p:cNvSpPr/>
          <p:nvPr/>
        </p:nvSpPr>
        <p:spPr>
          <a:xfrm>
            <a:off x="6400800" y="2176272"/>
            <a:ext cx="2331720" cy="438912"/>
          </a:xfrm>
          <a:prstGeom prst="rect">
            <a:avLst/>
          </a:prstGeom>
          <a:solidFill>
            <a:srgbClr val="0D2137"/>
          </a:solidFill>
          <a:ln w="10160">
            <a:solidFill>
              <a:srgbClr val="06D6A0"/>
            </a:solidFill>
            <a:prstDash val="solid"/>
          </a:ln>
        </p:spPr>
        <p:txBody>
          <a:bodyPr/>
          <a:lstStyle/>
          <a:p>
            <a:endParaRPr lang="en-IN"/>
          </a:p>
        </p:txBody>
      </p:sp>
      <p:sp>
        <p:nvSpPr>
          <p:cNvPr id="61" name="Text 59"/>
          <p:cNvSpPr/>
          <p:nvPr/>
        </p:nvSpPr>
        <p:spPr>
          <a:xfrm>
            <a:off x="6473952" y="2194560"/>
            <a:ext cx="1828800" cy="219456"/>
          </a:xfrm>
          <a:prstGeom prst="rect">
            <a:avLst/>
          </a:prstGeom>
          <a:noFill/>
          <a:ln/>
        </p:spPr>
        <p:txBody>
          <a:bodyPr wrap="square" lIns="0" tIns="0" rIns="0" bIns="0" rtlCol="0" anchor="ctr"/>
          <a:lstStyle/>
          <a:p>
            <a:pPr marL="0" indent="0">
              <a:buNone/>
            </a:pPr>
            <a:r>
              <a:rPr lang="en-US" sz="1000" b="1" dirty="0">
                <a:solidFill>
                  <a:srgbClr val="FFFFFF"/>
                </a:solidFill>
              </a:rPr>
              <a:t>Supercar/Luxury</a:t>
            </a:r>
            <a:endParaRPr lang="en-US" sz="1000" dirty="0"/>
          </a:p>
        </p:txBody>
      </p:sp>
      <p:sp>
        <p:nvSpPr>
          <p:cNvPr id="62" name="Text 60"/>
          <p:cNvSpPr/>
          <p:nvPr/>
        </p:nvSpPr>
        <p:spPr>
          <a:xfrm>
            <a:off x="6473952" y="2404872"/>
            <a:ext cx="1828800" cy="182880"/>
          </a:xfrm>
          <a:prstGeom prst="rect">
            <a:avLst/>
          </a:prstGeom>
          <a:noFill/>
          <a:ln/>
        </p:spPr>
        <p:txBody>
          <a:bodyPr wrap="square" lIns="0" tIns="0" rIns="0" bIns="0" rtlCol="0" anchor="ctr"/>
          <a:lstStyle/>
          <a:p>
            <a:pPr marL="0" indent="0">
              <a:buNone/>
            </a:pPr>
            <a:r>
              <a:rPr lang="en-US" sz="900" dirty="0">
                <a:solidFill>
                  <a:srgbClr val="06D6A0"/>
                </a:solidFill>
              </a:rPr>
              <a:t>+3 pts</a:t>
            </a:r>
            <a:endParaRPr lang="en-US" sz="900" dirty="0"/>
          </a:p>
        </p:txBody>
      </p:sp>
      <p:sp>
        <p:nvSpPr>
          <p:cNvPr id="63" name="Shape 61"/>
          <p:cNvSpPr/>
          <p:nvPr/>
        </p:nvSpPr>
        <p:spPr>
          <a:xfrm>
            <a:off x="6400800" y="2724912"/>
            <a:ext cx="2331720" cy="438912"/>
          </a:xfrm>
          <a:prstGeom prst="rect">
            <a:avLst/>
          </a:prstGeom>
          <a:solidFill>
            <a:srgbClr val="0D2B3E"/>
          </a:solidFill>
          <a:ln w="10160">
            <a:solidFill>
              <a:srgbClr val="06D6A0"/>
            </a:solidFill>
            <a:prstDash val="solid"/>
          </a:ln>
        </p:spPr>
        <p:txBody>
          <a:bodyPr/>
          <a:lstStyle/>
          <a:p>
            <a:endParaRPr lang="en-IN"/>
          </a:p>
        </p:txBody>
      </p:sp>
      <p:sp>
        <p:nvSpPr>
          <p:cNvPr id="64" name="Text 62"/>
          <p:cNvSpPr/>
          <p:nvPr/>
        </p:nvSpPr>
        <p:spPr>
          <a:xfrm>
            <a:off x="6473952" y="2743200"/>
            <a:ext cx="1828800" cy="219456"/>
          </a:xfrm>
          <a:prstGeom prst="rect">
            <a:avLst/>
          </a:prstGeom>
          <a:noFill/>
          <a:ln/>
        </p:spPr>
        <p:txBody>
          <a:bodyPr wrap="square" lIns="0" tIns="0" rIns="0" bIns="0" rtlCol="0" anchor="ctr"/>
          <a:lstStyle/>
          <a:p>
            <a:pPr marL="0" indent="0">
              <a:buNone/>
            </a:pPr>
            <a:r>
              <a:rPr lang="en-US" sz="1000" b="1" dirty="0">
                <a:solidFill>
                  <a:srgbClr val="FFFFFF"/>
                </a:solidFill>
              </a:rPr>
              <a:t>Prior claims</a:t>
            </a:r>
            <a:endParaRPr lang="en-US" sz="1000" dirty="0"/>
          </a:p>
        </p:txBody>
      </p:sp>
      <p:sp>
        <p:nvSpPr>
          <p:cNvPr id="65" name="Text 63"/>
          <p:cNvSpPr/>
          <p:nvPr/>
        </p:nvSpPr>
        <p:spPr>
          <a:xfrm>
            <a:off x="6473952" y="2953512"/>
            <a:ext cx="1828800" cy="182880"/>
          </a:xfrm>
          <a:prstGeom prst="rect">
            <a:avLst/>
          </a:prstGeom>
          <a:noFill/>
          <a:ln/>
        </p:spPr>
        <p:txBody>
          <a:bodyPr wrap="square" lIns="0" tIns="0" rIns="0" bIns="0" rtlCol="0" anchor="ctr"/>
          <a:lstStyle/>
          <a:p>
            <a:pPr marL="0" indent="0">
              <a:buNone/>
            </a:pPr>
            <a:r>
              <a:rPr lang="en-US" sz="900" dirty="0">
                <a:solidFill>
                  <a:srgbClr val="06D6A0"/>
                </a:solidFill>
              </a:rPr>
              <a:t>+2–4 pts</a:t>
            </a:r>
            <a:endParaRPr lang="en-US" sz="900" dirty="0"/>
          </a:p>
        </p:txBody>
      </p:sp>
      <p:sp>
        <p:nvSpPr>
          <p:cNvPr id="66" name="Shape 64"/>
          <p:cNvSpPr/>
          <p:nvPr/>
        </p:nvSpPr>
        <p:spPr>
          <a:xfrm>
            <a:off x="6400800" y="3337560"/>
            <a:ext cx="2331720" cy="228600"/>
          </a:xfrm>
          <a:prstGeom prst="rect">
            <a:avLst/>
          </a:prstGeom>
          <a:solidFill>
            <a:srgbClr val="0D2137"/>
          </a:solidFill>
          <a:ln w="6350">
            <a:solidFill>
              <a:srgbClr val="8FA8C8"/>
            </a:solidFill>
            <a:prstDash val="solid"/>
          </a:ln>
        </p:spPr>
        <p:txBody>
          <a:bodyPr/>
          <a:lstStyle/>
          <a:p>
            <a:endParaRPr lang="en-IN"/>
          </a:p>
        </p:txBody>
      </p:sp>
      <p:sp>
        <p:nvSpPr>
          <p:cNvPr id="67" name="Shape 65"/>
          <p:cNvSpPr/>
          <p:nvPr/>
        </p:nvSpPr>
        <p:spPr>
          <a:xfrm>
            <a:off x="6400800" y="3337560"/>
            <a:ext cx="777240" cy="228600"/>
          </a:xfrm>
          <a:prstGeom prst="rect">
            <a:avLst/>
          </a:prstGeom>
          <a:solidFill>
            <a:srgbClr val="06D6A0"/>
          </a:solidFill>
          <a:ln w="12700">
            <a:solidFill>
              <a:srgbClr val="06D6A0"/>
            </a:solidFill>
            <a:prstDash val="solid"/>
          </a:ln>
        </p:spPr>
        <p:txBody>
          <a:bodyPr/>
          <a:lstStyle/>
          <a:p>
            <a:endParaRPr lang="en-IN"/>
          </a:p>
        </p:txBody>
      </p:sp>
      <p:sp>
        <p:nvSpPr>
          <p:cNvPr id="68" name="Shape 66"/>
          <p:cNvSpPr/>
          <p:nvPr/>
        </p:nvSpPr>
        <p:spPr>
          <a:xfrm>
            <a:off x="7178040" y="3337560"/>
            <a:ext cx="777240" cy="228600"/>
          </a:xfrm>
          <a:prstGeom prst="rect">
            <a:avLst/>
          </a:prstGeom>
          <a:solidFill>
            <a:srgbClr val="FFB703"/>
          </a:solidFill>
          <a:ln w="12700">
            <a:solidFill>
              <a:srgbClr val="FFB703"/>
            </a:solidFill>
            <a:prstDash val="solid"/>
          </a:ln>
        </p:spPr>
        <p:txBody>
          <a:bodyPr/>
          <a:lstStyle/>
          <a:p>
            <a:endParaRPr lang="en-IN"/>
          </a:p>
        </p:txBody>
      </p:sp>
      <p:sp>
        <p:nvSpPr>
          <p:cNvPr id="69" name="Shape 67"/>
          <p:cNvSpPr/>
          <p:nvPr/>
        </p:nvSpPr>
        <p:spPr>
          <a:xfrm>
            <a:off x="7955280" y="3337560"/>
            <a:ext cx="777240" cy="228600"/>
          </a:xfrm>
          <a:prstGeom prst="rect">
            <a:avLst/>
          </a:prstGeom>
          <a:solidFill>
            <a:srgbClr val="EF476F"/>
          </a:solidFill>
          <a:ln w="12700">
            <a:solidFill>
              <a:srgbClr val="EF476F"/>
            </a:solidFill>
            <a:prstDash val="solid"/>
          </a:ln>
        </p:spPr>
        <p:txBody>
          <a:bodyPr/>
          <a:lstStyle/>
          <a:p>
            <a:endParaRPr lang="en-IN"/>
          </a:p>
        </p:txBody>
      </p:sp>
      <p:sp>
        <p:nvSpPr>
          <p:cNvPr id="70" name="Text 68"/>
          <p:cNvSpPr/>
          <p:nvPr/>
        </p:nvSpPr>
        <p:spPr>
          <a:xfrm>
            <a:off x="6400800" y="3584448"/>
            <a:ext cx="2331720" cy="182880"/>
          </a:xfrm>
          <a:prstGeom prst="rect">
            <a:avLst/>
          </a:prstGeom>
          <a:noFill/>
          <a:ln/>
        </p:spPr>
        <p:txBody>
          <a:bodyPr wrap="square" rtlCol="0" anchor="ctr"/>
          <a:lstStyle/>
          <a:p>
            <a:pPr marL="0" indent="0" algn="ctr">
              <a:buNone/>
            </a:pPr>
            <a:r>
              <a:rPr lang="en-US" sz="800" dirty="0">
                <a:solidFill>
                  <a:srgbClr val="8FA8C8"/>
                </a:solidFill>
              </a:rPr>
              <a:t>1          5         10</a:t>
            </a:r>
            <a:endParaRPr lang="en-US" sz="800" dirty="0"/>
          </a:p>
        </p:txBody>
      </p:sp>
      <p:sp>
        <p:nvSpPr>
          <p:cNvPr id="71" name="Text 69"/>
          <p:cNvSpPr/>
          <p:nvPr/>
        </p:nvSpPr>
        <p:spPr>
          <a:xfrm>
            <a:off x="6400800" y="3767328"/>
            <a:ext cx="2331720" cy="182880"/>
          </a:xfrm>
          <a:prstGeom prst="rect">
            <a:avLst/>
          </a:prstGeom>
          <a:noFill/>
          <a:ln/>
        </p:spPr>
        <p:txBody>
          <a:bodyPr wrap="square" rtlCol="0" anchor="ctr"/>
          <a:lstStyle/>
          <a:p>
            <a:pPr marL="0" indent="0" algn="ctr">
              <a:buNone/>
            </a:pPr>
            <a:r>
              <a:rPr lang="en-US" sz="900" i="1" dirty="0">
                <a:solidFill>
                  <a:srgbClr val="8FA8C8"/>
                </a:solidFill>
              </a:rPr>
              <a:t>Risk Score Scale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04 · DATABASE DESIGN</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Entity Relationships &amp; Constraints</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Shape 4"/>
          <p:cNvSpPr/>
          <p:nvPr/>
        </p:nvSpPr>
        <p:spPr>
          <a:xfrm>
            <a:off x="274320" y="1097280"/>
            <a:ext cx="1920240" cy="1691640"/>
          </a:xfrm>
          <a:prstGeom prst="rect">
            <a:avLst/>
          </a:prstGeom>
          <a:solidFill>
            <a:srgbClr val="1E4D8C"/>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7" name="Shape 5"/>
          <p:cNvSpPr/>
          <p:nvPr/>
        </p:nvSpPr>
        <p:spPr>
          <a:xfrm>
            <a:off x="274320" y="1097280"/>
            <a:ext cx="1920240" cy="274320"/>
          </a:xfrm>
          <a:prstGeom prst="rect">
            <a:avLst/>
          </a:prstGeom>
          <a:solidFill>
            <a:srgbClr val="00B4D8"/>
          </a:solidFill>
          <a:ln w="12700">
            <a:solidFill>
              <a:srgbClr val="00B4D8"/>
            </a:solidFill>
            <a:prstDash val="solid"/>
          </a:ln>
        </p:spPr>
        <p:txBody>
          <a:bodyPr/>
          <a:lstStyle/>
          <a:p>
            <a:endParaRPr lang="en-IN"/>
          </a:p>
        </p:txBody>
      </p:sp>
      <p:sp>
        <p:nvSpPr>
          <p:cNvPr id="8" name="Text 6"/>
          <p:cNvSpPr/>
          <p:nvPr/>
        </p:nvSpPr>
        <p:spPr>
          <a:xfrm>
            <a:off x="274320" y="1097280"/>
            <a:ext cx="1920240" cy="274320"/>
          </a:xfrm>
          <a:prstGeom prst="rect">
            <a:avLst/>
          </a:prstGeom>
          <a:noFill/>
          <a:ln/>
        </p:spPr>
        <p:txBody>
          <a:bodyPr wrap="square" rtlCol="0" anchor="ctr"/>
          <a:lstStyle/>
          <a:p>
            <a:pPr marL="0" indent="0" algn="ctr">
              <a:buNone/>
            </a:pPr>
            <a:r>
              <a:rPr lang="en-US" sz="1000" b="1" dirty="0">
                <a:solidFill>
                  <a:srgbClr val="0A1628"/>
                </a:solidFill>
              </a:rPr>
              <a:t>USER</a:t>
            </a:r>
            <a:endParaRPr lang="en-US" sz="1000" dirty="0"/>
          </a:p>
        </p:txBody>
      </p:sp>
      <p:sp>
        <p:nvSpPr>
          <p:cNvPr id="9" name="Text 7"/>
          <p:cNvSpPr/>
          <p:nvPr/>
        </p:nvSpPr>
        <p:spPr>
          <a:xfrm>
            <a:off x="347472" y="1399032"/>
            <a:ext cx="1773936" cy="228600"/>
          </a:xfrm>
          <a:prstGeom prst="rect">
            <a:avLst/>
          </a:prstGeom>
          <a:noFill/>
          <a:ln/>
        </p:spPr>
        <p:txBody>
          <a:bodyPr wrap="square" lIns="0" tIns="0" rIns="0" bIns="0" rtlCol="0" anchor="ctr"/>
          <a:lstStyle/>
          <a:p>
            <a:pPr marL="0" indent="0">
              <a:buNone/>
            </a:pPr>
            <a:r>
              <a:rPr lang="en-US" sz="900" b="1" dirty="0">
                <a:solidFill>
                  <a:srgbClr val="FFB703"/>
                </a:solidFill>
              </a:rPr>
              <a:t>🔑 userId (PK)</a:t>
            </a:r>
            <a:endParaRPr lang="en-US" sz="900" dirty="0"/>
          </a:p>
        </p:txBody>
      </p:sp>
      <p:sp>
        <p:nvSpPr>
          <p:cNvPr id="10" name="Shape 8"/>
          <p:cNvSpPr/>
          <p:nvPr/>
        </p:nvSpPr>
        <p:spPr>
          <a:xfrm>
            <a:off x="347472" y="1627632"/>
            <a:ext cx="1773936" cy="0"/>
          </a:xfrm>
          <a:prstGeom prst="line">
            <a:avLst/>
          </a:prstGeom>
          <a:noFill/>
          <a:ln w="6350">
            <a:solidFill>
              <a:srgbClr val="8FA8C8"/>
            </a:solidFill>
            <a:prstDash val="solid"/>
          </a:ln>
        </p:spPr>
        <p:txBody>
          <a:bodyPr/>
          <a:lstStyle/>
          <a:p>
            <a:endParaRPr lang="en-IN"/>
          </a:p>
        </p:txBody>
      </p:sp>
      <p:sp>
        <p:nvSpPr>
          <p:cNvPr id="11" name="Text 9"/>
          <p:cNvSpPr/>
          <p:nvPr/>
        </p:nvSpPr>
        <p:spPr>
          <a:xfrm>
            <a:off x="365760" y="1673352"/>
            <a:ext cx="1737360" cy="201168"/>
          </a:xfrm>
          <a:prstGeom prst="rect">
            <a:avLst/>
          </a:prstGeom>
          <a:noFill/>
          <a:ln/>
        </p:spPr>
        <p:txBody>
          <a:bodyPr wrap="square" lIns="0" tIns="0" rIns="0" bIns="0" rtlCol="0" anchor="ctr"/>
          <a:lstStyle/>
          <a:p>
            <a:pPr marL="0" indent="0">
              <a:buNone/>
            </a:pPr>
            <a:r>
              <a:rPr lang="en-US" sz="900" dirty="0">
                <a:solidFill>
                  <a:srgbClr val="90E0EF"/>
                </a:solidFill>
              </a:rPr>
              <a:t>fullName</a:t>
            </a:r>
            <a:endParaRPr lang="en-US" sz="900" dirty="0"/>
          </a:p>
        </p:txBody>
      </p:sp>
      <p:sp>
        <p:nvSpPr>
          <p:cNvPr id="12" name="Text 10"/>
          <p:cNvSpPr/>
          <p:nvPr/>
        </p:nvSpPr>
        <p:spPr>
          <a:xfrm>
            <a:off x="365760" y="1901952"/>
            <a:ext cx="1737360" cy="201168"/>
          </a:xfrm>
          <a:prstGeom prst="rect">
            <a:avLst/>
          </a:prstGeom>
          <a:noFill/>
          <a:ln/>
        </p:spPr>
        <p:txBody>
          <a:bodyPr wrap="square" lIns="0" tIns="0" rIns="0" bIns="0" rtlCol="0" anchor="ctr"/>
          <a:lstStyle/>
          <a:p>
            <a:pPr marL="0" indent="0">
              <a:buNone/>
            </a:pPr>
            <a:r>
              <a:rPr lang="en-US" sz="900" dirty="0">
                <a:solidFill>
                  <a:srgbClr val="90E0EF"/>
                </a:solidFill>
              </a:rPr>
              <a:t>email</a:t>
            </a:r>
            <a:endParaRPr lang="en-US" sz="900" dirty="0"/>
          </a:p>
        </p:txBody>
      </p:sp>
      <p:sp>
        <p:nvSpPr>
          <p:cNvPr id="13" name="Text 11"/>
          <p:cNvSpPr/>
          <p:nvPr/>
        </p:nvSpPr>
        <p:spPr>
          <a:xfrm>
            <a:off x="365760" y="2130552"/>
            <a:ext cx="1737360" cy="201168"/>
          </a:xfrm>
          <a:prstGeom prst="rect">
            <a:avLst/>
          </a:prstGeom>
          <a:noFill/>
          <a:ln/>
        </p:spPr>
        <p:txBody>
          <a:bodyPr wrap="square" lIns="0" tIns="0" rIns="0" bIns="0" rtlCol="0" anchor="ctr"/>
          <a:lstStyle/>
          <a:p>
            <a:pPr marL="0" indent="0">
              <a:buNone/>
            </a:pPr>
            <a:r>
              <a:rPr lang="en-US" sz="900" dirty="0">
                <a:solidFill>
                  <a:srgbClr val="90E0EF"/>
                </a:solidFill>
              </a:rPr>
              <a:t>role</a:t>
            </a:r>
            <a:endParaRPr lang="en-US" sz="900" dirty="0"/>
          </a:p>
        </p:txBody>
      </p:sp>
      <p:sp>
        <p:nvSpPr>
          <p:cNvPr id="14" name="Text 12"/>
          <p:cNvSpPr/>
          <p:nvPr/>
        </p:nvSpPr>
        <p:spPr>
          <a:xfrm>
            <a:off x="365760" y="2359152"/>
            <a:ext cx="1737360" cy="201168"/>
          </a:xfrm>
          <a:prstGeom prst="rect">
            <a:avLst/>
          </a:prstGeom>
          <a:noFill/>
          <a:ln/>
        </p:spPr>
        <p:txBody>
          <a:bodyPr wrap="square" lIns="0" tIns="0" rIns="0" bIns="0" rtlCol="0" anchor="ctr"/>
          <a:lstStyle/>
          <a:p>
            <a:pPr marL="0" indent="0">
              <a:buNone/>
            </a:pPr>
            <a:r>
              <a:rPr lang="en-US" sz="900" dirty="0">
                <a:solidFill>
                  <a:srgbClr val="90E0EF"/>
                </a:solidFill>
              </a:rPr>
              <a:t>passwordHash</a:t>
            </a:r>
            <a:endParaRPr lang="en-US" sz="900" dirty="0"/>
          </a:p>
        </p:txBody>
      </p:sp>
      <p:sp>
        <p:nvSpPr>
          <p:cNvPr id="15" name="Shape 13"/>
          <p:cNvSpPr/>
          <p:nvPr/>
        </p:nvSpPr>
        <p:spPr>
          <a:xfrm>
            <a:off x="274320" y="2926080"/>
            <a:ext cx="1920240" cy="1417320"/>
          </a:xfrm>
          <a:prstGeom prst="rect">
            <a:avLst/>
          </a:prstGeom>
          <a:solidFill>
            <a:srgbClr val="1B5E8C"/>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16" name="Shape 14"/>
          <p:cNvSpPr/>
          <p:nvPr/>
        </p:nvSpPr>
        <p:spPr>
          <a:xfrm>
            <a:off x="274320" y="2926080"/>
            <a:ext cx="1920240" cy="274320"/>
          </a:xfrm>
          <a:prstGeom prst="rect">
            <a:avLst/>
          </a:prstGeom>
          <a:solidFill>
            <a:srgbClr val="00B4D8"/>
          </a:solidFill>
          <a:ln w="12700">
            <a:solidFill>
              <a:srgbClr val="00B4D8"/>
            </a:solidFill>
            <a:prstDash val="solid"/>
          </a:ln>
        </p:spPr>
        <p:txBody>
          <a:bodyPr/>
          <a:lstStyle/>
          <a:p>
            <a:endParaRPr lang="en-IN"/>
          </a:p>
        </p:txBody>
      </p:sp>
      <p:sp>
        <p:nvSpPr>
          <p:cNvPr id="17" name="Text 15"/>
          <p:cNvSpPr/>
          <p:nvPr/>
        </p:nvSpPr>
        <p:spPr>
          <a:xfrm>
            <a:off x="274320" y="2926080"/>
            <a:ext cx="1920240" cy="274320"/>
          </a:xfrm>
          <a:prstGeom prst="rect">
            <a:avLst/>
          </a:prstGeom>
          <a:noFill/>
          <a:ln/>
        </p:spPr>
        <p:txBody>
          <a:bodyPr wrap="square" rtlCol="0" anchor="ctr"/>
          <a:lstStyle/>
          <a:p>
            <a:pPr marL="0" indent="0" algn="ctr">
              <a:buNone/>
            </a:pPr>
            <a:r>
              <a:rPr lang="en-US" sz="1000" b="1" dirty="0">
                <a:solidFill>
                  <a:srgbClr val="0A1628"/>
                </a:solidFill>
              </a:rPr>
              <a:t>VEHICLE</a:t>
            </a:r>
            <a:endParaRPr lang="en-US" sz="1000" dirty="0"/>
          </a:p>
        </p:txBody>
      </p:sp>
      <p:sp>
        <p:nvSpPr>
          <p:cNvPr id="18" name="Text 16"/>
          <p:cNvSpPr/>
          <p:nvPr/>
        </p:nvSpPr>
        <p:spPr>
          <a:xfrm>
            <a:off x="347472" y="3227832"/>
            <a:ext cx="1773936" cy="228600"/>
          </a:xfrm>
          <a:prstGeom prst="rect">
            <a:avLst/>
          </a:prstGeom>
          <a:noFill/>
          <a:ln/>
        </p:spPr>
        <p:txBody>
          <a:bodyPr wrap="square" lIns="0" tIns="0" rIns="0" bIns="0" rtlCol="0" anchor="ctr"/>
          <a:lstStyle/>
          <a:p>
            <a:pPr marL="0" indent="0">
              <a:buNone/>
            </a:pPr>
            <a:r>
              <a:rPr lang="en-US" sz="900" b="1" dirty="0">
                <a:solidFill>
                  <a:srgbClr val="FFB703"/>
                </a:solidFill>
              </a:rPr>
              <a:t>🔑 vehicleId (PK)</a:t>
            </a:r>
            <a:endParaRPr lang="en-US" sz="900" dirty="0"/>
          </a:p>
        </p:txBody>
      </p:sp>
      <p:sp>
        <p:nvSpPr>
          <p:cNvPr id="19" name="Shape 17"/>
          <p:cNvSpPr/>
          <p:nvPr/>
        </p:nvSpPr>
        <p:spPr>
          <a:xfrm>
            <a:off x="347472" y="3456432"/>
            <a:ext cx="1773936" cy="0"/>
          </a:xfrm>
          <a:prstGeom prst="line">
            <a:avLst/>
          </a:prstGeom>
          <a:noFill/>
          <a:ln w="6350">
            <a:solidFill>
              <a:srgbClr val="8FA8C8"/>
            </a:solidFill>
            <a:prstDash val="solid"/>
          </a:ln>
        </p:spPr>
        <p:txBody>
          <a:bodyPr/>
          <a:lstStyle/>
          <a:p>
            <a:endParaRPr lang="en-IN"/>
          </a:p>
        </p:txBody>
      </p:sp>
      <p:sp>
        <p:nvSpPr>
          <p:cNvPr id="20" name="Text 18"/>
          <p:cNvSpPr/>
          <p:nvPr/>
        </p:nvSpPr>
        <p:spPr>
          <a:xfrm>
            <a:off x="365760" y="3502152"/>
            <a:ext cx="1737360" cy="201168"/>
          </a:xfrm>
          <a:prstGeom prst="rect">
            <a:avLst/>
          </a:prstGeom>
          <a:noFill/>
          <a:ln/>
        </p:spPr>
        <p:txBody>
          <a:bodyPr wrap="square" lIns="0" tIns="0" rIns="0" bIns="0" rtlCol="0" anchor="ctr"/>
          <a:lstStyle/>
          <a:p>
            <a:pPr marL="0" indent="0">
              <a:buNone/>
            </a:pPr>
            <a:r>
              <a:rPr lang="en-US" sz="900" dirty="0">
                <a:solidFill>
                  <a:srgbClr val="90E0EF"/>
                </a:solidFill>
              </a:rPr>
              <a:t>customerId (FK)</a:t>
            </a:r>
            <a:endParaRPr lang="en-US" sz="900" dirty="0"/>
          </a:p>
        </p:txBody>
      </p:sp>
      <p:sp>
        <p:nvSpPr>
          <p:cNvPr id="21" name="Text 19"/>
          <p:cNvSpPr/>
          <p:nvPr/>
        </p:nvSpPr>
        <p:spPr>
          <a:xfrm>
            <a:off x="365760" y="3730752"/>
            <a:ext cx="1737360" cy="201168"/>
          </a:xfrm>
          <a:prstGeom prst="rect">
            <a:avLst/>
          </a:prstGeom>
          <a:noFill/>
          <a:ln/>
        </p:spPr>
        <p:txBody>
          <a:bodyPr wrap="square" lIns="0" tIns="0" rIns="0" bIns="0" rtlCol="0" anchor="ctr"/>
          <a:lstStyle/>
          <a:p>
            <a:pPr marL="0" indent="0">
              <a:buNone/>
            </a:pPr>
            <a:r>
              <a:rPr lang="en-US" sz="900" dirty="0">
                <a:solidFill>
                  <a:srgbClr val="90E0EF"/>
                </a:solidFill>
              </a:rPr>
              <a:t>regNumber</a:t>
            </a:r>
            <a:endParaRPr lang="en-US" sz="900" dirty="0"/>
          </a:p>
        </p:txBody>
      </p:sp>
      <p:sp>
        <p:nvSpPr>
          <p:cNvPr id="22" name="Text 20"/>
          <p:cNvSpPr/>
          <p:nvPr/>
        </p:nvSpPr>
        <p:spPr>
          <a:xfrm>
            <a:off x="365760" y="3959352"/>
            <a:ext cx="1737360" cy="201168"/>
          </a:xfrm>
          <a:prstGeom prst="rect">
            <a:avLst/>
          </a:prstGeom>
          <a:noFill/>
          <a:ln/>
        </p:spPr>
        <p:txBody>
          <a:bodyPr wrap="square" lIns="0" tIns="0" rIns="0" bIns="0" rtlCol="0" anchor="ctr"/>
          <a:lstStyle/>
          <a:p>
            <a:pPr marL="0" indent="0">
              <a:buNone/>
            </a:pPr>
            <a:r>
              <a:rPr lang="en-US" sz="900" dirty="0">
                <a:solidFill>
                  <a:srgbClr val="90E0EF"/>
                </a:solidFill>
              </a:rPr>
              <a:t>make / model / year</a:t>
            </a:r>
            <a:endParaRPr lang="en-US" sz="900" dirty="0"/>
          </a:p>
        </p:txBody>
      </p:sp>
      <p:sp>
        <p:nvSpPr>
          <p:cNvPr id="23" name="Text 21"/>
          <p:cNvSpPr/>
          <p:nvPr/>
        </p:nvSpPr>
        <p:spPr>
          <a:xfrm>
            <a:off x="365760" y="4187952"/>
            <a:ext cx="1737360" cy="201168"/>
          </a:xfrm>
          <a:prstGeom prst="rect">
            <a:avLst/>
          </a:prstGeom>
          <a:noFill/>
          <a:ln/>
        </p:spPr>
        <p:txBody>
          <a:bodyPr wrap="square" lIns="0" tIns="0" rIns="0" bIns="0" rtlCol="0" anchor="ctr"/>
          <a:lstStyle/>
          <a:p>
            <a:pPr marL="0" indent="0">
              <a:buNone/>
            </a:pPr>
            <a:r>
              <a:rPr lang="en-US" sz="900" dirty="0">
                <a:solidFill>
                  <a:srgbClr val="90E0EF"/>
                </a:solidFill>
              </a:rPr>
              <a:t>marketValue</a:t>
            </a:r>
            <a:endParaRPr lang="en-US" sz="900" dirty="0"/>
          </a:p>
        </p:txBody>
      </p:sp>
      <p:sp>
        <p:nvSpPr>
          <p:cNvPr id="24" name="Shape 22"/>
          <p:cNvSpPr/>
          <p:nvPr/>
        </p:nvSpPr>
        <p:spPr>
          <a:xfrm>
            <a:off x="2468880" y="1097280"/>
            <a:ext cx="2011680" cy="1417320"/>
          </a:xfrm>
          <a:prstGeom prst="rect">
            <a:avLst/>
          </a:prstGeom>
          <a:solidFill>
            <a:srgbClr val="174F7A"/>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25" name="Shape 23"/>
          <p:cNvSpPr/>
          <p:nvPr/>
        </p:nvSpPr>
        <p:spPr>
          <a:xfrm>
            <a:off x="2468880" y="1097280"/>
            <a:ext cx="2011680" cy="274320"/>
          </a:xfrm>
          <a:prstGeom prst="rect">
            <a:avLst/>
          </a:prstGeom>
          <a:solidFill>
            <a:srgbClr val="00B4D8"/>
          </a:solidFill>
          <a:ln w="12700">
            <a:solidFill>
              <a:srgbClr val="00B4D8"/>
            </a:solidFill>
            <a:prstDash val="solid"/>
          </a:ln>
        </p:spPr>
        <p:txBody>
          <a:bodyPr/>
          <a:lstStyle/>
          <a:p>
            <a:endParaRPr lang="en-IN"/>
          </a:p>
        </p:txBody>
      </p:sp>
      <p:sp>
        <p:nvSpPr>
          <p:cNvPr id="26" name="Text 24"/>
          <p:cNvSpPr/>
          <p:nvPr/>
        </p:nvSpPr>
        <p:spPr>
          <a:xfrm>
            <a:off x="2468880" y="1097280"/>
            <a:ext cx="2011680" cy="274320"/>
          </a:xfrm>
          <a:prstGeom prst="rect">
            <a:avLst/>
          </a:prstGeom>
          <a:noFill/>
          <a:ln/>
        </p:spPr>
        <p:txBody>
          <a:bodyPr wrap="square" rtlCol="0" anchor="ctr"/>
          <a:lstStyle/>
          <a:p>
            <a:pPr marL="0" indent="0" algn="ctr">
              <a:buNone/>
            </a:pPr>
            <a:r>
              <a:rPr lang="en-US" sz="1000" b="1" dirty="0">
                <a:solidFill>
                  <a:srgbClr val="0A1628"/>
                </a:solidFill>
              </a:rPr>
              <a:t>POLICY_PLAN</a:t>
            </a:r>
            <a:endParaRPr lang="en-US" sz="1000" dirty="0"/>
          </a:p>
        </p:txBody>
      </p:sp>
      <p:sp>
        <p:nvSpPr>
          <p:cNvPr id="27" name="Text 25"/>
          <p:cNvSpPr/>
          <p:nvPr/>
        </p:nvSpPr>
        <p:spPr>
          <a:xfrm>
            <a:off x="2542032" y="1399032"/>
            <a:ext cx="1865376" cy="228600"/>
          </a:xfrm>
          <a:prstGeom prst="rect">
            <a:avLst/>
          </a:prstGeom>
          <a:noFill/>
          <a:ln/>
        </p:spPr>
        <p:txBody>
          <a:bodyPr wrap="square" lIns="0" tIns="0" rIns="0" bIns="0" rtlCol="0" anchor="ctr"/>
          <a:lstStyle/>
          <a:p>
            <a:pPr marL="0" indent="0">
              <a:buNone/>
            </a:pPr>
            <a:r>
              <a:rPr lang="en-US" sz="900" b="1" dirty="0">
                <a:solidFill>
                  <a:srgbClr val="FFB703"/>
                </a:solidFill>
              </a:rPr>
              <a:t>🔑 planId (PK)</a:t>
            </a:r>
            <a:endParaRPr lang="en-US" sz="900" dirty="0"/>
          </a:p>
        </p:txBody>
      </p:sp>
      <p:sp>
        <p:nvSpPr>
          <p:cNvPr id="28" name="Shape 26"/>
          <p:cNvSpPr/>
          <p:nvPr/>
        </p:nvSpPr>
        <p:spPr>
          <a:xfrm>
            <a:off x="2542032" y="1627632"/>
            <a:ext cx="1865376" cy="0"/>
          </a:xfrm>
          <a:prstGeom prst="line">
            <a:avLst/>
          </a:prstGeom>
          <a:noFill/>
          <a:ln w="6350">
            <a:solidFill>
              <a:srgbClr val="8FA8C8"/>
            </a:solidFill>
            <a:prstDash val="solid"/>
          </a:ln>
        </p:spPr>
        <p:txBody>
          <a:bodyPr/>
          <a:lstStyle/>
          <a:p>
            <a:endParaRPr lang="en-IN"/>
          </a:p>
        </p:txBody>
      </p:sp>
      <p:sp>
        <p:nvSpPr>
          <p:cNvPr id="29" name="Text 27"/>
          <p:cNvSpPr/>
          <p:nvPr/>
        </p:nvSpPr>
        <p:spPr>
          <a:xfrm>
            <a:off x="2560320" y="1673352"/>
            <a:ext cx="1828800" cy="201168"/>
          </a:xfrm>
          <a:prstGeom prst="rect">
            <a:avLst/>
          </a:prstGeom>
          <a:noFill/>
          <a:ln/>
        </p:spPr>
        <p:txBody>
          <a:bodyPr wrap="square" lIns="0" tIns="0" rIns="0" bIns="0" rtlCol="0" anchor="ctr"/>
          <a:lstStyle/>
          <a:p>
            <a:pPr marL="0" indent="0">
              <a:buNone/>
            </a:pPr>
            <a:r>
              <a:rPr lang="en-US" sz="900" dirty="0">
                <a:solidFill>
                  <a:srgbClr val="90E0EF"/>
                </a:solidFill>
              </a:rPr>
              <a:t>planCode</a:t>
            </a:r>
            <a:endParaRPr lang="en-US" sz="900" dirty="0"/>
          </a:p>
        </p:txBody>
      </p:sp>
      <p:sp>
        <p:nvSpPr>
          <p:cNvPr id="30" name="Text 28"/>
          <p:cNvSpPr/>
          <p:nvPr/>
        </p:nvSpPr>
        <p:spPr>
          <a:xfrm>
            <a:off x="2560320" y="1901952"/>
            <a:ext cx="1828800" cy="201168"/>
          </a:xfrm>
          <a:prstGeom prst="rect">
            <a:avLst/>
          </a:prstGeom>
          <a:noFill/>
          <a:ln/>
        </p:spPr>
        <p:txBody>
          <a:bodyPr wrap="square" lIns="0" tIns="0" rIns="0" bIns="0" rtlCol="0" anchor="ctr"/>
          <a:lstStyle/>
          <a:p>
            <a:pPr marL="0" indent="0">
              <a:buNone/>
            </a:pPr>
            <a:r>
              <a:rPr lang="en-US" sz="900" dirty="0">
                <a:solidFill>
                  <a:srgbClr val="90E0EF"/>
                </a:solidFill>
              </a:rPr>
              <a:t>planName</a:t>
            </a:r>
            <a:endParaRPr lang="en-US" sz="900" dirty="0"/>
          </a:p>
        </p:txBody>
      </p:sp>
      <p:sp>
        <p:nvSpPr>
          <p:cNvPr id="31" name="Text 29"/>
          <p:cNvSpPr/>
          <p:nvPr/>
        </p:nvSpPr>
        <p:spPr>
          <a:xfrm>
            <a:off x="2560320" y="2130552"/>
            <a:ext cx="1828800" cy="201168"/>
          </a:xfrm>
          <a:prstGeom prst="rect">
            <a:avLst/>
          </a:prstGeom>
          <a:noFill/>
          <a:ln/>
        </p:spPr>
        <p:txBody>
          <a:bodyPr wrap="square" lIns="0" tIns="0" rIns="0" bIns="0" rtlCol="0" anchor="ctr"/>
          <a:lstStyle/>
          <a:p>
            <a:pPr marL="0" indent="0">
              <a:buNone/>
            </a:pPr>
            <a:r>
              <a:rPr lang="en-US" sz="900" dirty="0">
                <a:solidFill>
                  <a:srgbClr val="90E0EF"/>
                </a:solidFill>
              </a:rPr>
              <a:t>policyType</a:t>
            </a:r>
            <a:endParaRPr lang="en-US" sz="900" dirty="0"/>
          </a:p>
        </p:txBody>
      </p:sp>
      <p:sp>
        <p:nvSpPr>
          <p:cNvPr id="32" name="Text 30"/>
          <p:cNvSpPr/>
          <p:nvPr/>
        </p:nvSpPr>
        <p:spPr>
          <a:xfrm>
            <a:off x="2560320" y="2359152"/>
            <a:ext cx="1828800" cy="201168"/>
          </a:xfrm>
          <a:prstGeom prst="rect">
            <a:avLst/>
          </a:prstGeom>
          <a:noFill/>
          <a:ln/>
        </p:spPr>
        <p:txBody>
          <a:bodyPr wrap="square" lIns="0" tIns="0" rIns="0" bIns="0" rtlCol="0" anchor="ctr"/>
          <a:lstStyle/>
          <a:p>
            <a:pPr marL="0" indent="0">
              <a:buNone/>
            </a:pPr>
            <a:r>
              <a:rPr lang="en-US" sz="900" dirty="0">
                <a:solidFill>
                  <a:srgbClr val="90E0EF"/>
                </a:solidFill>
              </a:rPr>
              <a:t>basePremiumRate</a:t>
            </a:r>
            <a:endParaRPr lang="en-US" sz="900" dirty="0"/>
          </a:p>
        </p:txBody>
      </p:sp>
      <p:sp>
        <p:nvSpPr>
          <p:cNvPr id="33" name="Shape 31"/>
          <p:cNvSpPr/>
          <p:nvPr/>
        </p:nvSpPr>
        <p:spPr>
          <a:xfrm>
            <a:off x="2468880" y="2743200"/>
            <a:ext cx="2011680" cy="1691640"/>
          </a:xfrm>
          <a:prstGeom prst="rect">
            <a:avLst/>
          </a:prstGeom>
          <a:solidFill>
            <a:srgbClr val="113D60"/>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34" name="Shape 32"/>
          <p:cNvSpPr/>
          <p:nvPr/>
        </p:nvSpPr>
        <p:spPr>
          <a:xfrm>
            <a:off x="2468880" y="2743200"/>
            <a:ext cx="2011680" cy="274320"/>
          </a:xfrm>
          <a:prstGeom prst="rect">
            <a:avLst/>
          </a:prstGeom>
          <a:solidFill>
            <a:srgbClr val="00B4D8"/>
          </a:solidFill>
          <a:ln w="12700">
            <a:solidFill>
              <a:srgbClr val="00B4D8"/>
            </a:solidFill>
            <a:prstDash val="solid"/>
          </a:ln>
        </p:spPr>
        <p:txBody>
          <a:bodyPr/>
          <a:lstStyle/>
          <a:p>
            <a:endParaRPr lang="en-IN"/>
          </a:p>
        </p:txBody>
      </p:sp>
      <p:sp>
        <p:nvSpPr>
          <p:cNvPr id="35" name="Text 33"/>
          <p:cNvSpPr/>
          <p:nvPr/>
        </p:nvSpPr>
        <p:spPr>
          <a:xfrm>
            <a:off x="2468880" y="2743200"/>
            <a:ext cx="2011680" cy="274320"/>
          </a:xfrm>
          <a:prstGeom prst="rect">
            <a:avLst/>
          </a:prstGeom>
          <a:noFill/>
          <a:ln/>
        </p:spPr>
        <p:txBody>
          <a:bodyPr wrap="square" rtlCol="0" anchor="ctr"/>
          <a:lstStyle/>
          <a:p>
            <a:pPr marL="0" indent="0" algn="ctr">
              <a:buNone/>
            </a:pPr>
            <a:r>
              <a:rPr lang="en-US" sz="1000" b="1" dirty="0">
                <a:solidFill>
                  <a:srgbClr val="0A1628"/>
                </a:solidFill>
              </a:rPr>
              <a:t>POLICY</a:t>
            </a:r>
            <a:endParaRPr lang="en-US" sz="1000" dirty="0"/>
          </a:p>
        </p:txBody>
      </p:sp>
      <p:sp>
        <p:nvSpPr>
          <p:cNvPr id="36" name="Text 34"/>
          <p:cNvSpPr/>
          <p:nvPr/>
        </p:nvSpPr>
        <p:spPr>
          <a:xfrm>
            <a:off x="2542032" y="3044952"/>
            <a:ext cx="1865376" cy="228600"/>
          </a:xfrm>
          <a:prstGeom prst="rect">
            <a:avLst/>
          </a:prstGeom>
          <a:noFill/>
          <a:ln/>
        </p:spPr>
        <p:txBody>
          <a:bodyPr wrap="square" lIns="0" tIns="0" rIns="0" bIns="0" rtlCol="0" anchor="ctr"/>
          <a:lstStyle/>
          <a:p>
            <a:pPr marL="0" indent="0">
              <a:buNone/>
            </a:pPr>
            <a:r>
              <a:rPr lang="en-US" sz="900" b="1" dirty="0">
                <a:solidFill>
                  <a:srgbClr val="FFB703"/>
                </a:solidFill>
              </a:rPr>
              <a:t>🔑 policyId (PK)</a:t>
            </a:r>
            <a:endParaRPr lang="en-US" sz="900" dirty="0"/>
          </a:p>
        </p:txBody>
      </p:sp>
      <p:sp>
        <p:nvSpPr>
          <p:cNvPr id="37" name="Shape 35"/>
          <p:cNvSpPr/>
          <p:nvPr/>
        </p:nvSpPr>
        <p:spPr>
          <a:xfrm>
            <a:off x="2542032" y="3273552"/>
            <a:ext cx="1865376" cy="0"/>
          </a:xfrm>
          <a:prstGeom prst="line">
            <a:avLst/>
          </a:prstGeom>
          <a:noFill/>
          <a:ln w="6350">
            <a:solidFill>
              <a:srgbClr val="8FA8C8"/>
            </a:solidFill>
            <a:prstDash val="solid"/>
          </a:ln>
        </p:spPr>
        <p:txBody>
          <a:bodyPr/>
          <a:lstStyle/>
          <a:p>
            <a:endParaRPr lang="en-IN"/>
          </a:p>
        </p:txBody>
      </p:sp>
      <p:sp>
        <p:nvSpPr>
          <p:cNvPr id="38" name="Text 36"/>
          <p:cNvSpPr/>
          <p:nvPr/>
        </p:nvSpPr>
        <p:spPr>
          <a:xfrm>
            <a:off x="2560320" y="3319272"/>
            <a:ext cx="1828800" cy="201168"/>
          </a:xfrm>
          <a:prstGeom prst="rect">
            <a:avLst/>
          </a:prstGeom>
          <a:noFill/>
          <a:ln/>
        </p:spPr>
        <p:txBody>
          <a:bodyPr wrap="square" lIns="0" tIns="0" rIns="0" bIns="0" rtlCol="0" anchor="ctr"/>
          <a:lstStyle/>
          <a:p>
            <a:pPr marL="0" indent="0">
              <a:buNone/>
            </a:pPr>
            <a:r>
              <a:rPr lang="en-US" sz="900" dirty="0">
                <a:solidFill>
                  <a:srgbClr val="90E0EF"/>
                </a:solidFill>
              </a:rPr>
              <a:t>vehicleId (FK)</a:t>
            </a:r>
            <a:endParaRPr lang="en-US" sz="900" dirty="0"/>
          </a:p>
        </p:txBody>
      </p:sp>
      <p:sp>
        <p:nvSpPr>
          <p:cNvPr id="39" name="Text 37"/>
          <p:cNvSpPr/>
          <p:nvPr/>
        </p:nvSpPr>
        <p:spPr>
          <a:xfrm>
            <a:off x="2560320" y="3547872"/>
            <a:ext cx="1828800" cy="201168"/>
          </a:xfrm>
          <a:prstGeom prst="rect">
            <a:avLst/>
          </a:prstGeom>
          <a:noFill/>
          <a:ln/>
        </p:spPr>
        <p:txBody>
          <a:bodyPr wrap="square" lIns="0" tIns="0" rIns="0" bIns="0" rtlCol="0" anchor="ctr"/>
          <a:lstStyle/>
          <a:p>
            <a:pPr marL="0" indent="0">
              <a:buNone/>
            </a:pPr>
            <a:r>
              <a:rPr lang="en-US" sz="900" dirty="0">
                <a:solidFill>
                  <a:srgbClr val="90E0EF"/>
                </a:solidFill>
              </a:rPr>
              <a:t>planId (FK)</a:t>
            </a:r>
            <a:endParaRPr lang="en-US" sz="900" dirty="0"/>
          </a:p>
        </p:txBody>
      </p:sp>
      <p:sp>
        <p:nvSpPr>
          <p:cNvPr id="40" name="Text 38"/>
          <p:cNvSpPr/>
          <p:nvPr/>
        </p:nvSpPr>
        <p:spPr>
          <a:xfrm>
            <a:off x="2560320" y="3776472"/>
            <a:ext cx="1828800" cy="201168"/>
          </a:xfrm>
          <a:prstGeom prst="rect">
            <a:avLst/>
          </a:prstGeom>
          <a:noFill/>
          <a:ln/>
        </p:spPr>
        <p:txBody>
          <a:bodyPr wrap="square" lIns="0" tIns="0" rIns="0" bIns="0" rtlCol="0" anchor="ctr"/>
          <a:lstStyle/>
          <a:p>
            <a:pPr marL="0" indent="0">
              <a:buNone/>
            </a:pPr>
            <a:r>
              <a:rPr lang="en-US" sz="900" dirty="0">
                <a:solidFill>
                  <a:srgbClr val="90E0EF"/>
                </a:solidFill>
              </a:rPr>
              <a:t>customerId (FK)</a:t>
            </a:r>
            <a:endParaRPr lang="en-US" sz="900" dirty="0"/>
          </a:p>
        </p:txBody>
      </p:sp>
      <p:sp>
        <p:nvSpPr>
          <p:cNvPr id="41" name="Text 39"/>
          <p:cNvSpPr/>
          <p:nvPr/>
        </p:nvSpPr>
        <p:spPr>
          <a:xfrm>
            <a:off x="2560320" y="4005072"/>
            <a:ext cx="1828800" cy="201168"/>
          </a:xfrm>
          <a:prstGeom prst="rect">
            <a:avLst/>
          </a:prstGeom>
          <a:noFill/>
          <a:ln/>
        </p:spPr>
        <p:txBody>
          <a:bodyPr wrap="square" lIns="0" tIns="0" rIns="0" bIns="0" rtlCol="0" anchor="ctr"/>
          <a:lstStyle/>
          <a:p>
            <a:pPr marL="0" indent="0">
              <a:buNone/>
            </a:pPr>
            <a:r>
              <a:rPr lang="en-US" sz="900" dirty="0">
                <a:solidFill>
                  <a:srgbClr val="90E0EF"/>
                </a:solidFill>
              </a:rPr>
              <a:t>totalPremium</a:t>
            </a:r>
            <a:endParaRPr lang="en-US" sz="900" dirty="0"/>
          </a:p>
        </p:txBody>
      </p:sp>
      <p:sp>
        <p:nvSpPr>
          <p:cNvPr id="42" name="Text 40"/>
          <p:cNvSpPr/>
          <p:nvPr/>
        </p:nvSpPr>
        <p:spPr>
          <a:xfrm>
            <a:off x="2560320" y="4233672"/>
            <a:ext cx="1828800" cy="201168"/>
          </a:xfrm>
          <a:prstGeom prst="rect">
            <a:avLst/>
          </a:prstGeom>
          <a:noFill/>
          <a:ln/>
        </p:spPr>
        <p:txBody>
          <a:bodyPr wrap="square" lIns="0" tIns="0" rIns="0" bIns="0" rtlCol="0" anchor="ctr"/>
          <a:lstStyle/>
          <a:p>
            <a:pPr marL="0" indent="0">
              <a:buNone/>
            </a:pPr>
            <a:r>
              <a:rPr lang="en-US" sz="900" dirty="0">
                <a:solidFill>
                  <a:srgbClr val="90E0EF"/>
                </a:solidFill>
              </a:rPr>
              <a:t>status / IDV</a:t>
            </a:r>
            <a:endParaRPr lang="en-US" sz="900" dirty="0"/>
          </a:p>
        </p:txBody>
      </p:sp>
      <p:sp>
        <p:nvSpPr>
          <p:cNvPr id="43" name="Shape 41"/>
          <p:cNvSpPr/>
          <p:nvPr/>
        </p:nvSpPr>
        <p:spPr>
          <a:xfrm>
            <a:off x="4754880" y="1097280"/>
            <a:ext cx="2011680" cy="1691640"/>
          </a:xfrm>
          <a:prstGeom prst="rect">
            <a:avLst/>
          </a:prstGeom>
          <a:solidFill>
            <a:srgbClr val="0D3050"/>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44" name="Shape 42"/>
          <p:cNvSpPr/>
          <p:nvPr/>
        </p:nvSpPr>
        <p:spPr>
          <a:xfrm>
            <a:off x="4754880" y="1097280"/>
            <a:ext cx="2011680" cy="274320"/>
          </a:xfrm>
          <a:prstGeom prst="rect">
            <a:avLst/>
          </a:prstGeom>
          <a:solidFill>
            <a:srgbClr val="00B4D8"/>
          </a:solidFill>
          <a:ln w="12700">
            <a:solidFill>
              <a:srgbClr val="00B4D8"/>
            </a:solidFill>
            <a:prstDash val="solid"/>
          </a:ln>
        </p:spPr>
        <p:txBody>
          <a:bodyPr/>
          <a:lstStyle/>
          <a:p>
            <a:endParaRPr lang="en-IN"/>
          </a:p>
        </p:txBody>
      </p:sp>
      <p:sp>
        <p:nvSpPr>
          <p:cNvPr id="45" name="Text 43"/>
          <p:cNvSpPr/>
          <p:nvPr/>
        </p:nvSpPr>
        <p:spPr>
          <a:xfrm>
            <a:off x="4754880" y="1097280"/>
            <a:ext cx="2011680" cy="274320"/>
          </a:xfrm>
          <a:prstGeom prst="rect">
            <a:avLst/>
          </a:prstGeom>
          <a:noFill/>
          <a:ln/>
        </p:spPr>
        <p:txBody>
          <a:bodyPr wrap="square" rtlCol="0" anchor="ctr"/>
          <a:lstStyle/>
          <a:p>
            <a:pPr marL="0" indent="0" algn="ctr">
              <a:buNone/>
            </a:pPr>
            <a:r>
              <a:rPr lang="en-US" sz="1000" b="1" dirty="0">
                <a:solidFill>
                  <a:srgbClr val="0A1628"/>
                </a:solidFill>
              </a:rPr>
              <a:t>CLAIM</a:t>
            </a:r>
            <a:endParaRPr lang="en-US" sz="1000" dirty="0"/>
          </a:p>
        </p:txBody>
      </p:sp>
      <p:sp>
        <p:nvSpPr>
          <p:cNvPr id="46" name="Text 44"/>
          <p:cNvSpPr/>
          <p:nvPr/>
        </p:nvSpPr>
        <p:spPr>
          <a:xfrm>
            <a:off x="4828032" y="1399032"/>
            <a:ext cx="1865376" cy="228600"/>
          </a:xfrm>
          <a:prstGeom prst="rect">
            <a:avLst/>
          </a:prstGeom>
          <a:noFill/>
          <a:ln/>
        </p:spPr>
        <p:txBody>
          <a:bodyPr wrap="square" lIns="0" tIns="0" rIns="0" bIns="0" rtlCol="0" anchor="ctr"/>
          <a:lstStyle/>
          <a:p>
            <a:pPr marL="0" indent="0">
              <a:buNone/>
            </a:pPr>
            <a:r>
              <a:rPr lang="en-US" sz="900" b="1" dirty="0">
                <a:solidFill>
                  <a:srgbClr val="FFB703"/>
                </a:solidFill>
              </a:rPr>
              <a:t>🔑 claimId (PK)</a:t>
            </a:r>
            <a:endParaRPr lang="en-US" sz="900" dirty="0"/>
          </a:p>
        </p:txBody>
      </p:sp>
      <p:sp>
        <p:nvSpPr>
          <p:cNvPr id="47" name="Shape 45"/>
          <p:cNvSpPr/>
          <p:nvPr/>
        </p:nvSpPr>
        <p:spPr>
          <a:xfrm>
            <a:off x="4828032" y="1627632"/>
            <a:ext cx="1865376" cy="0"/>
          </a:xfrm>
          <a:prstGeom prst="line">
            <a:avLst/>
          </a:prstGeom>
          <a:noFill/>
          <a:ln w="6350">
            <a:solidFill>
              <a:srgbClr val="8FA8C8"/>
            </a:solidFill>
            <a:prstDash val="solid"/>
          </a:ln>
        </p:spPr>
        <p:txBody>
          <a:bodyPr/>
          <a:lstStyle/>
          <a:p>
            <a:endParaRPr lang="en-IN"/>
          </a:p>
        </p:txBody>
      </p:sp>
      <p:sp>
        <p:nvSpPr>
          <p:cNvPr id="48" name="Text 46"/>
          <p:cNvSpPr/>
          <p:nvPr/>
        </p:nvSpPr>
        <p:spPr>
          <a:xfrm>
            <a:off x="4846320" y="1673352"/>
            <a:ext cx="1828800" cy="201168"/>
          </a:xfrm>
          <a:prstGeom prst="rect">
            <a:avLst/>
          </a:prstGeom>
          <a:noFill/>
          <a:ln/>
        </p:spPr>
        <p:txBody>
          <a:bodyPr wrap="square" lIns="0" tIns="0" rIns="0" bIns="0" rtlCol="0" anchor="ctr"/>
          <a:lstStyle/>
          <a:p>
            <a:pPr marL="0" indent="0">
              <a:buNone/>
            </a:pPr>
            <a:r>
              <a:rPr lang="en-US" sz="900" dirty="0">
                <a:solidFill>
                  <a:srgbClr val="90E0EF"/>
                </a:solidFill>
              </a:rPr>
              <a:t>policyId (FK)</a:t>
            </a:r>
            <a:endParaRPr lang="en-US" sz="900" dirty="0"/>
          </a:p>
        </p:txBody>
      </p:sp>
      <p:sp>
        <p:nvSpPr>
          <p:cNvPr id="49" name="Text 47"/>
          <p:cNvSpPr/>
          <p:nvPr/>
        </p:nvSpPr>
        <p:spPr>
          <a:xfrm>
            <a:off x="4846320" y="1901952"/>
            <a:ext cx="1828800" cy="201168"/>
          </a:xfrm>
          <a:prstGeom prst="rect">
            <a:avLst/>
          </a:prstGeom>
          <a:noFill/>
          <a:ln/>
        </p:spPr>
        <p:txBody>
          <a:bodyPr wrap="square" lIns="0" tIns="0" rIns="0" bIns="0" rtlCol="0" anchor="ctr"/>
          <a:lstStyle/>
          <a:p>
            <a:pPr marL="0" indent="0">
              <a:buNone/>
            </a:pPr>
            <a:r>
              <a:rPr lang="en-US" sz="900" dirty="0">
                <a:solidFill>
                  <a:srgbClr val="90E0EF"/>
                </a:solidFill>
              </a:rPr>
              <a:t>claimType</a:t>
            </a:r>
            <a:endParaRPr lang="en-US" sz="900" dirty="0"/>
          </a:p>
        </p:txBody>
      </p:sp>
      <p:sp>
        <p:nvSpPr>
          <p:cNvPr id="50" name="Text 48"/>
          <p:cNvSpPr/>
          <p:nvPr/>
        </p:nvSpPr>
        <p:spPr>
          <a:xfrm>
            <a:off x="4846320" y="2130552"/>
            <a:ext cx="1828800" cy="201168"/>
          </a:xfrm>
          <a:prstGeom prst="rect">
            <a:avLst/>
          </a:prstGeom>
          <a:noFill/>
          <a:ln/>
        </p:spPr>
        <p:txBody>
          <a:bodyPr wrap="square" lIns="0" tIns="0" rIns="0" bIns="0" rtlCol="0" anchor="ctr"/>
          <a:lstStyle/>
          <a:p>
            <a:pPr marL="0" indent="0">
              <a:buNone/>
            </a:pPr>
            <a:r>
              <a:rPr lang="en-US" sz="900" dirty="0">
                <a:solidFill>
                  <a:srgbClr val="90E0EF"/>
                </a:solidFill>
              </a:rPr>
              <a:t>claimedAmount</a:t>
            </a:r>
            <a:endParaRPr lang="en-US" sz="900" dirty="0"/>
          </a:p>
        </p:txBody>
      </p:sp>
      <p:sp>
        <p:nvSpPr>
          <p:cNvPr id="51" name="Text 49"/>
          <p:cNvSpPr/>
          <p:nvPr/>
        </p:nvSpPr>
        <p:spPr>
          <a:xfrm>
            <a:off x="4846320" y="2359152"/>
            <a:ext cx="1828800" cy="201168"/>
          </a:xfrm>
          <a:prstGeom prst="rect">
            <a:avLst/>
          </a:prstGeom>
          <a:noFill/>
          <a:ln/>
        </p:spPr>
        <p:txBody>
          <a:bodyPr wrap="square" lIns="0" tIns="0" rIns="0" bIns="0" rtlCol="0" anchor="ctr"/>
          <a:lstStyle/>
          <a:p>
            <a:pPr marL="0" indent="0">
              <a:buNone/>
            </a:pPr>
            <a:r>
              <a:rPr lang="en-US" sz="900" dirty="0">
                <a:solidFill>
                  <a:srgbClr val="90E0EF"/>
                </a:solidFill>
              </a:rPr>
              <a:t>status</a:t>
            </a:r>
            <a:endParaRPr lang="en-US" sz="900" dirty="0"/>
          </a:p>
        </p:txBody>
      </p:sp>
      <p:sp>
        <p:nvSpPr>
          <p:cNvPr id="52" name="Shape 50"/>
          <p:cNvSpPr/>
          <p:nvPr/>
        </p:nvSpPr>
        <p:spPr>
          <a:xfrm>
            <a:off x="4754880" y="2880360"/>
            <a:ext cx="2011680" cy="1508760"/>
          </a:xfrm>
          <a:prstGeom prst="rect">
            <a:avLst/>
          </a:prstGeom>
          <a:solidFill>
            <a:srgbClr val="092540"/>
          </a:solidFill>
          <a:ln w="1524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53" name="Shape 51"/>
          <p:cNvSpPr/>
          <p:nvPr/>
        </p:nvSpPr>
        <p:spPr>
          <a:xfrm>
            <a:off x="4754880" y="2880360"/>
            <a:ext cx="2011680" cy="274320"/>
          </a:xfrm>
          <a:prstGeom prst="rect">
            <a:avLst/>
          </a:prstGeom>
          <a:solidFill>
            <a:srgbClr val="00B4D8"/>
          </a:solidFill>
          <a:ln w="12700">
            <a:solidFill>
              <a:srgbClr val="00B4D8"/>
            </a:solidFill>
            <a:prstDash val="solid"/>
          </a:ln>
        </p:spPr>
        <p:txBody>
          <a:bodyPr/>
          <a:lstStyle/>
          <a:p>
            <a:endParaRPr lang="en-IN"/>
          </a:p>
        </p:txBody>
      </p:sp>
      <p:sp>
        <p:nvSpPr>
          <p:cNvPr id="54" name="Text 52"/>
          <p:cNvSpPr/>
          <p:nvPr/>
        </p:nvSpPr>
        <p:spPr>
          <a:xfrm>
            <a:off x="4754880" y="2880360"/>
            <a:ext cx="2011680" cy="274320"/>
          </a:xfrm>
          <a:prstGeom prst="rect">
            <a:avLst/>
          </a:prstGeom>
          <a:noFill/>
          <a:ln/>
        </p:spPr>
        <p:txBody>
          <a:bodyPr wrap="square" rtlCol="0" anchor="ctr"/>
          <a:lstStyle/>
          <a:p>
            <a:pPr marL="0" indent="0" algn="ctr">
              <a:buNone/>
            </a:pPr>
            <a:r>
              <a:rPr lang="en-US" sz="1000" b="1" dirty="0">
                <a:solidFill>
                  <a:srgbClr val="0A1628"/>
                </a:solidFill>
              </a:rPr>
              <a:t>CLAIM_DOCUMENT</a:t>
            </a:r>
            <a:endParaRPr lang="en-US" sz="1000" dirty="0"/>
          </a:p>
        </p:txBody>
      </p:sp>
      <p:sp>
        <p:nvSpPr>
          <p:cNvPr id="55" name="Text 53"/>
          <p:cNvSpPr/>
          <p:nvPr/>
        </p:nvSpPr>
        <p:spPr>
          <a:xfrm>
            <a:off x="4828032" y="3182112"/>
            <a:ext cx="1865376" cy="228600"/>
          </a:xfrm>
          <a:prstGeom prst="rect">
            <a:avLst/>
          </a:prstGeom>
          <a:noFill/>
          <a:ln/>
        </p:spPr>
        <p:txBody>
          <a:bodyPr wrap="square" lIns="0" tIns="0" rIns="0" bIns="0" rtlCol="0" anchor="ctr"/>
          <a:lstStyle/>
          <a:p>
            <a:pPr marL="0" indent="0">
              <a:buNone/>
            </a:pPr>
            <a:r>
              <a:rPr lang="en-US" sz="900" b="1" dirty="0">
                <a:solidFill>
                  <a:srgbClr val="FFB703"/>
                </a:solidFill>
              </a:rPr>
              <a:t>🔑 docId (PK)</a:t>
            </a:r>
            <a:endParaRPr lang="en-US" sz="900" dirty="0"/>
          </a:p>
        </p:txBody>
      </p:sp>
      <p:sp>
        <p:nvSpPr>
          <p:cNvPr id="56" name="Shape 54"/>
          <p:cNvSpPr/>
          <p:nvPr/>
        </p:nvSpPr>
        <p:spPr>
          <a:xfrm>
            <a:off x="4828032" y="3410712"/>
            <a:ext cx="1865376" cy="0"/>
          </a:xfrm>
          <a:prstGeom prst="line">
            <a:avLst/>
          </a:prstGeom>
          <a:noFill/>
          <a:ln w="6350">
            <a:solidFill>
              <a:srgbClr val="8FA8C8"/>
            </a:solidFill>
            <a:prstDash val="solid"/>
          </a:ln>
        </p:spPr>
        <p:txBody>
          <a:bodyPr/>
          <a:lstStyle/>
          <a:p>
            <a:endParaRPr lang="en-IN"/>
          </a:p>
        </p:txBody>
      </p:sp>
      <p:sp>
        <p:nvSpPr>
          <p:cNvPr id="57" name="Text 55"/>
          <p:cNvSpPr/>
          <p:nvPr/>
        </p:nvSpPr>
        <p:spPr>
          <a:xfrm>
            <a:off x="4846320" y="3456432"/>
            <a:ext cx="1828800" cy="201168"/>
          </a:xfrm>
          <a:prstGeom prst="rect">
            <a:avLst/>
          </a:prstGeom>
          <a:noFill/>
          <a:ln/>
        </p:spPr>
        <p:txBody>
          <a:bodyPr wrap="square" lIns="0" tIns="0" rIns="0" bIns="0" rtlCol="0" anchor="ctr"/>
          <a:lstStyle/>
          <a:p>
            <a:pPr marL="0" indent="0">
              <a:buNone/>
            </a:pPr>
            <a:r>
              <a:rPr lang="en-US" sz="900" dirty="0">
                <a:solidFill>
                  <a:srgbClr val="90E0EF"/>
                </a:solidFill>
              </a:rPr>
              <a:t>claimId (FK)</a:t>
            </a:r>
            <a:endParaRPr lang="en-US" sz="900" dirty="0"/>
          </a:p>
        </p:txBody>
      </p:sp>
      <p:sp>
        <p:nvSpPr>
          <p:cNvPr id="58" name="Text 56"/>
          <p:cNvSpPr/>
          <p:nvPr/>
        </p:nvSpPr>
        <p:spPr>
          <a:xfrm>
            <a:off x="4846320" y="3685032"/>
            <a:ext cx="1828800" cy="201168"/>
          </a:xfrm>
          <a:prstGeom prst="rect">
            <a:avLst/>
          </a:prstGeom>
          <a:noFill/>
          <a:ln/>
        </p:spPr>
        <p:txBody>
          <a:bodyPr wrap="square" lIns="0" tIns="0" rIns="0" bIns="0" rtlCol="0" anchor="ctr"/>
          <a:lstStyle/>
          <a:p>
            <a:pPr marL="0" indent="0">
              <a:buNone/>
            </a:pPr>
            <a:r>
              <a:rPr lang="en-US" sz="900" dirty="0">
                <a:solidFill>
                  <a:srgbClr val="90E0EF"/>
                </a:solidFill>
              </a:rPr>
              <a:t>fileName</a:t>
            </a:r>
            <a:endParaRPr lang="en-US" sz="900" dirty="0"/>
          </a:p>
        </p:txBody>
      </p:sp>
      <p:sp>
        <p:nvSpPr>
          <p:cNvPr id="59" name="Text 57"/>
          <p:cNvSpPr/>
          <p:nvPr/>
        </p:nvSpPr>
        <p:spPr>
          <a:xfrm>
            <a:off x="4846320" y="3913632"/>
            <a:ext cx="1828800" cy="201168"/>
          </a:xfrm>
          <a:prstGeom prst="rect">
            <a:avLst/>
          </a:prstGeom>
          <a:noFill/>
          <a:ln/>
        </p:spPr>
        <p:txBody>
          <a:bodyPr wrap="square" lIns="0" tIns="0" rIns="0" bIns="0" rtlCol="0" anchor="ctr"/>
          <a:lstStyle/>
          <a:p>
            <a:pPr marL="0" indent="0">
              <a:buNone/>
            </a:pPr>
            <a:r>
              <a:rPr lang="en-US" sz="900" dirty="0">
                <a:solidFill>
                  <a:srgbClr val="90E0EF"/>
                </a:solidFill>
              </a:rPr>
              <a:t>docType</a:t>
            </a:r>
            <a:endParaRPr lang="en-US" sz="900" dirty="0"/>
          </a:p>
        </p:txBody>
      </p:sp>
      <p:sp>
        <p:nvSpPr>
          <p:cNvPr id="60" name="Shape 58"/>
          <p:cNvSpPr/>
          <p:nvPr/>
        </p:nvSpPr>
        <p:spPr>
          <a:xfrm>
            <a:off x="1234440" y="2788920"/>
            <a:ext cx="9144" cy="137160"/>
          </a:xfrm>
          <a:prstGeom prst="line">
            <a:avLst/>
          </a:prstGeom>
          <a:noFill/>
          <a:ln w="12700">
            <a:solidFill>
              <a:srgbClr val="00B4D8"/>
            </a:solidFill>
            <a:prstDash val="dash"/>
          </a:ln>
        </p:spPr>
        <p:txBody>
          <a:bodyPr/>
          <a:lstStyle/>
          <a:p>
            <a:endParaRPr lang="en-IN"/>
          </a:p>
        </p:txBody>
      </p:sp>
      <p:sp>
        <p:nvSpPr>
          <p:cNvPr id="61" name="Shape 59"/>
          <p:cNvSpPr/>
          <p:nvPr/>
        </p:nvSpPr>
        <p:spPr>
          <a:xfrm>
            <a:off x="3474720" y="2514600"/>
            <a:ext cx="9144" cy="228600"/>
          </a:xfrm>
          <a:prstGeom prst="line">
            <a:avLst/>
          </a:prstGeom>
          <a:noFill/>
          <a:ln w="12700">
            <a:solidFill>
              <a:srgbClr val="00B4D8"/>
            </a:solidFill>
            <a:prstDash val="dash"/>
          </a:ln>
        </p:spPr>
        <p:txBody>
          <a:bodyPr/>
          <a:lstStyle/>
          <a:p>
            <a:endParaRPr lang="en-IN"/>
          </a:p>
        </p:txBody>
      </p:sp>
      <p:sp>
        <p:nvSpPr>
          <p:cNvPr id="62" name="Shape 60"/>
          <p:cNvSpPr/>
          <p:nvPr/>
        </p:nvSpPr>
        <p:spPr>
          <a:xfrm>
            <a:off x="4480560" y="2240280"/>
            <a:ext cx="274320" cy="1344168"/>
          </a:xfrm>
          <a:prstGeom prst="line">
            <a:avLst/>
          </a:prstGeom>
          <a:noFill/>
          <a:ln w="12700">
            <a:solidFill>
              <a:srgbClr val="00B4D8"/>
            </a:solidFill>
            <a:prstDash val="dash"/>
          </a:ln>
        </p:spPr>
        <p:txBody>
          <a:bodyPr/>
          <a:lstStyle/>
          <a:p>
            <a:endParaRPr lang="en-IN"/>
          </a:p>
        </p:txBody>
      </p:sp>
      <p:sp>
        <p:nvSpPr>
          <p:cNvPr id="63" name="Shape 61"/>
          <p:cNvSpPr/>
          <p:nvPr/>
        </p:nvSpPr>
        <p:spPr>
          <a:xfrm>
            <a:off x="5760720" y="2788920"/>
            <a:ext cx="9144" cy="91440"/>
          </a:xfrm>
          <a:prstGeom prst="line">
            <a:avLst/>
          </a:prstGeom>
          <a:noFill/>
          <a:ln w="12700">
            <a:solidFill>
              <a:srgbClr val="00B4D8"/>
            </a:solidFill>
            <a:prstDash val="dash"/>
          </a:ln>
        </p:spPr>
        <p:txBody>
          <a:bodyPr/>
          <a:lstStyle/>
          <a:p>
            <a:endParaRPr lang="en-IN"/>
          </a:p>
        </p:txBody>
      </p:sp>
      <p:sp>
        <p:nvSpPr>
          <p:cNvPr id="64" name="Shape 62"/>
          <p:cNvSpPr/>
          <p:nvPr/>
        </p:nvSpPr>
        <p:spPr>
          <a:xfrm>
            <a:off x="2194560" y="1828800"/>
            <a:ext cx="274320" cy="1554480"/>
          </a:xfrm>
          <a:prstGeom prst="line">
            <a:avLst/>
          </a:prstGeom>
          <a:noFill/>
          <a:ln w="12700">
            <a:solidFill>
              <a:srgbClr val="00B4D8"/>
            </a:solidFill>
            <a:prstDash val="dash"/>
          </a:ln>
        </p:spPr>
        <p:txBody>
          <a:bodyPr/>
          <a:lstStyle/>
          <a:p>
            <a:endParaRPr lang="en-IN"/>
          </a:p>
        </p:txBody>
      </p:sp>
      <p:sp>
        <p:nvSpPr>
          <p:cNvPr id="65" name="Shape 63"/>
          <p:cNvSpPr/>
          <p:nvPr/>
        </p:nvSpPr>
        <p:spPr>
          <a:xfrm>
            <a:off x="6903720" y="1097280"/>
            <a:ext cx="1920240" cy="3291840"/>
          </a:xfrm>
          <a:prstGeom prst="rect">
            <a:avLst/>
          </a:prstGeom>
          <a:solidFill>
            <a:srgbClr val="112240"/>
          </a:solidFill>
          <a:ln w="12700">
            <a:solidFill>
              <a:srgbClr val="0096B4"/>
            </a:solidFill>
            <a:prstDash val="solid"/>
          </a:ln>
        </p:spPr>
        <p:txBody>
          <a:bodyPr/>
          <a:lstStyle/>
          <a:p>
            <a:endParaRPr lang="en-IN"/>
          </a:p>
        </p:txBody>
      </p:sp>
      <p:sp>
        <p:nvSpPr>
          <p:cNvPr id="66" name="Text 64"/>
          <p:cNvSpPr/>
          <p:nvPr/>
        </p:nvSpPr>
        <p:spPr>
          <a:xfrm>
            <a:off x="6903720" y="1143000"/>
            <a:ext cx="1920240" cy="274320"/>
          </a:xfrm>
          <a:prstGeom prst="rect">
            <a:avLst/>
          </a:prstGeom>
          <a:noFill/>
          <a:ln/>
        </p:spPr>
        <p:txBody>
          <a:bodyPr wrap="square" rtlCol="0" anchor="ctr"/>
          <a:lstStyle/>
          <a:p>
            <a:pPr marL="0" indent="0" algn="ctr">
              <a:buNone/>
            </a:pPr>
            <a:r>
              <a:rPr lang="en-US" sz="900" b="1" kern="0" spc="100" dirty="0">
                <a:solidFill>
                  <a:srgbClr val="00B4D8"/>
                </a:solidFill>
              </a:rPr>
              <a:t>KEY CONSTRAINTS</a:t>
            </a:r>
            <a:endParaRPr lang="en-US" sz="900" dirty="0"/>
          </a:p>
        </p:txBody>
      </p:sp>
      <p:sp>
        <p:nvSpPr>
          <p:cNvPr id="67" name="Text 65"/>
          <p:cNvSpPr/>
          <p:nvPr/>
        </p:nvSpPr>
        <p:spPr>
          <a:xfrm>
            <a:off x="6995160" y="1508760"/>
            <a:ext cx="1737360" cy="256032"/>
          </a:xfrm>
          <a:prstGeom prst="rect">
            <a:avLst/>
          </a:prstGeom>
          <a:noFill/>
          <a:ln/>
        </p:spPr>
        <p:txBody>
          <a:bodyPr wrap="square" lIns="0" tIns="0" rIns="0" bIns="0" rtlCol="0" anchor="ctr"/>
          <a:lstStyle/>
          <a:p>
            <a:pPr marL="0" indent="0">
              <a:buNone/>
            </a:pPr>
            <a:r>
              <a:rPr lang="en-US" sz="900" b="1" dirty="0">
                <a:solidFill>
                  <a:srgbClr val="FFB703"/>
                </a:solidFill>
              </a:rPr>
              <a:t>Monetary Fields</a:t>
            </a:r>
            <a:endParaRPr lang="en-US" sz="900" dirty="0"/>
          </a:p>
        </p:txBody>
      </p:sp>
      <p:sp>
        <p:nvSpPr>
          <p:cNvPr id="68" name="Text 66"/>
          <p:cNvSpPr/>
          <p:nvPr/>
        </p:nvSpPr>
        <p:spPr>
          <a:xfrm>
            <a:off x="6995160" y="1764792"/>
            <a:ext cx="1737360" cy="384048"/>
          </a:xfrm>
          <a:prstGeom prst="rect">
            <a:avLst/>
          </a:prstGeom>
          <a:noFill/>
          <a:ln/>
        </p:spPr>
        <p:txBody>
          <a:bodyPr wrap="square" lIns="0" tIns="0" rIns="0" bIns="0" rtlCol="0" anchor="ctr"/>
          <a:lstStyle/>
          <a:p>
            <a:pPr marL="0" indent="0">
              <a:buNone/>
            </a:pPr>
            <a:r>
              <a:rPr lang="en-US" sz="850" dirty="0">
                <a:solidFill>
                  <a:srgbClr val="90E0EF"/>
                </a:solidFill>
              </a:rPr>
              <a:t>Decimal(18,2) for all monetary values</a:t>
            </a:r>
            <a:endParaRPr lang="en-US" sz="850" dirty="0"/>
          </a:p>
        </p:txBody>
      </p:sp>
      <p:sp>
        <p:nvSpPr>
          <p:cNvPr id="69" name="Text 67"/>
          <p:cNvSpPr/>
          <p:nvPr/>
        </p:nvSpPr>
        <p:spPr>
          <a:xfrm>
            <a:off x="6995160" y="2258568"/>
            <a:ext cx="1737360" cy="256032"/>
          </a:xfrm>
          <a:prstGeom prst="rect">
            <a:avLst/>
          </a:prstGeom>
          <a:noFill/>
          <a:ln/>
        </p:spPr>
        <p:txBody>
          <a:bodyPr wrap="square" lIns="0" tIns="0" rIns="0" bIns="0" rtlCol="0" anchor="ctr"/>
          <a:lstStyle/>
          <a:p>
            <a:pPr marL="0" indent="0">
              <a:buNone/>
            </a:pPr>
            <a:r>
              <a:rPr lang="en-US" sz="900" b="1" dirty="0">
                <a:solidFill>
                  <a:srgbClr val="FFB703"/>
                </a:solidFill>
              </a:rPr>
              <a:t>User / Plan</a:t>
            </a:r>
            <a:endParaRPr lang="en-US" sz="900" dirty="0"/>
          </a:p>
        </p:txBody>
      </p:sp>
      <p:sp>
        <p:nvSpPr>
          <p:cNvPr id="70" name="Text 68"/>
          <p:cNvSpPr/>
          <p:nvPr/>
        </p:nvSpPr>
        <p:spPr>
          <a:xfrm>
            <a:off x="6995160" y="2514600"/>
            <a:ext cx="1737360" cy="384048"/>
          </a:xfrm>
          <a:prstGeom prst="rect">
            <a:avLst/>
          </a:prstGeom>
          <a:noFill/>
          <a:ln/>
        </p:spPr>
        <p:txBody>
          <a:bodyPr wrap="square" lIns="0" tIns="0" rIns="0" bIns="0" rtlCol="0" anchor="ctr"/>
          <a:lstStyle/>
          <a:p>
            <a:pPr marL="0" indent="0">
              <a:buNone/>
            </a:pPr>
            <a:r>
              <a:rPr lang="en-US" sz="850" dirty="0">
                <a:solidFill>
                  <a:srgbClr val="90E0EF"/>
                </a:solidFill>
              </a:rPr>
              <a:t>DeleteBehavior.Restrict — protects financial history</a:t>
            </a:r>
            <a:endParaRPr lang="en-US" sz="850" dirty="0"/>
          </a:p>
        </p:txBody>
      </p:sp>
      <p:sp>
        <p:nvSpPr>
          <p:cNvPr id="71" name="Text 69"/>
          <p:cNvSpPr/>
          <p:nvPr/>
        </p:nvSpPr>
        <p:spPr>
          <a:xfrm>
            <a:off x="6995160" y="3008376"/>
            <a:ext cx="1737360" cy="256032"/>
          </a:xfrm>
          <a:prstGeom prst="rect">
            <a:avLst/>
          </a:prstGeom>
          <a:noFill/>
          <a:ln/>
        </p:spPr>
        <p:txBody>
          <a:bodyPr wrap="square" lIns="0" tIns="0" rIns="0" bIns="0" rtlCol="0" anchor="ctr"/>
          <a:lstStyle/>
          <a:p>
            <a:pPr marL="0" indent="0">
              <a:buNone/>
            </a:pPr>
            <a:r>
              <a:rPr lang="en-US" sz="900" b="1" dirty="0">
                <a:solidFill>
                  <a:srgbClr val="FFB703"/>
                </a:solidFill>
              </a:rPr>
              <a:t>ClaimDocuments</a:t>
            </a:r>
            <a:endParaRPr lang="en-US" sz="900" dirty="0"/>
          </a:p>
        </p:txBody>
      </p:sp>
      <p:sp>
        <p:nvSpPr>
          <p:cNvPr id="72" name="Text 70"/>
          <p:cNvSpPr/>
          <p:nvPr/>
        </p:nvSpPr>
        <p:spPr>
          <a:xfrm>
            <a:off x="6995160" y="3264408"/>
            <a:ext cx="1737360" cy="384048"/>
          </a:xfrm>
          <a:prstGeom prst="rect">
            <a:avLst/>
          </a:prstGeom>
          <a:noFill/>
          <a:ln/>
        </p:spPr>
        <p:txBody>
          <a:bodyPr wrap="square" lIns="0" tIns="0" rIns="0" bIns="0" rtlCol="0" anchor="ctr"/>
          <a:lstStyle/>
          <a:p>
            <a:pPr marL="0" indent="0">
              <a:buNone/>
            </a:pPr>
            <a:r>
              <a:rPr lang="en-US" sz="850" dirty="0">
                <a:solidFill>
                  <a:srgbClr val="90E0EF"/>
                </a:solidFill>
              </a:rPr>
              <a:t>DeleteBehavior.Cascade — doc follows claim</a:t>
            </a:r>
            <a:endParaRPr lang="en-US" sz="850" dirty="0"/>
          </a:p>
        </p:txBody>
      </p:sp>
      <p:sp>
        <p:nvSpPr>
          <p:cNvPr id="73" name="Text 71"/>
          <p:cNvSpPr/>
          <p:nvPr/>
        </p:nvSpPr>
        <p:spPr>
          <a:xfrm>
            <a:off x="6995160" y="3758184"/>
            <a:ext cx="1737360" cy="256032"/>
          </a:xfrm>
          <a:prstGeom prst="rect">
            <a:avLst/>
          </a:prstGeom>
          <a:noFill/>
          <a:ln/>
        </p:spPr>
        <p:txBody>
          <a:bodyPr wrap="square" lIns="0" tIns="0" rIns="0" bIns="0" rtlCol="0" anchor="ctr"/>
          <a:lstStyle/>
          <a:p>
            <a:pPr marL="0" indent="0">
              <a:buNone/>
            </a:pPr>
            <a:r>
              <a:rPr lang="en-US" sz="900" b="1" dirty="0">
                <a:solidFill>
                  <a:srgbClr val="FFB703"/>
                </a:solidFill>
              </a:rPr>
              <a:t>EF Core</a:t>
            </a:r>
            <a:endParaRPr lang="en-US" sz="900" dirty="0"/>
          </a:p>
        </p:txBody>
      </p:sp>
      <p:sp>
        <p:nvSpPr>
          <p:cNvPr id="74" name="Text 72"/>
          <p:cNvSpPr/>
          <p:nvPr/>
        </p:nvSpPr>
        <p:spPr>
          <a:xfrm>
            <a:off x="6995160" y="4014216"/>
            <a:ext cx="1737360" cy="384048"/>
          </a:xfrm>
          <a:prstGeom prst="rect">
            <a:avLst/>
          </a:prstGeom>
          <a:noFill/>
          <a:ln/>
        </p:spPr>
        <p:txBody>
          <a:bodyPr wrap="square" lIns="0" tIns="0" rIns="0" bIns="0" rtlCol="0" anchor="ctr"/>
          <a:lstStyle/>
          <a:p>
            <a:pPr marL="0" indent="0">
              <a:buNone/>
            </a:pPr>
            <a:r>
              <a:rPr lang="en-US" sz="850" dirty="0">
                <a:solidFill>
                  <a:srgbClr val="90E0EF"/>
                </a:solidFill>
              </a:rPr>
              <a:t>Navigation properties — no raw SQL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05 · SECURITY &amp; RBAC</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Multi-Layer Security Architecture</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Shape 4"/>
          <p:cNvSpPr/>
          <p:nvPr/>
        </p:nvSpPr>
        <p:spPr>
          <a:xfrm>
            <a:off x="274320" y="1051560"/>
            <a:ext cx="4206240" cy="329184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a:p>
        </p:txBody>
      </p:sp>
      <p:sp>
        <p:nvSpPr>
          <p:cNvPr id="7" name="Text 5"/>
          <p:cNvSpPr/>
          <p:nvPr/>
        </p:nvSpPr>
        <p:spPr>
          <a:xfrm>
            <a:off x="365760" y="1115568"/>
            <a:ext cx="4023360" cy="320040"/>
          </a:xfrm>
          <a:prstGeom prst="rect">
            <a:avLst/>
          </a:prstGeom>
          <a:noFill/>
          <a:ln/>
        </p:spPr>
        <p:txBody>
          <a:bodyPr wrap="square" rtlCol="0" anchor="ctr"/>
          <a:lstStyle/>
          <a:p>
            <a:pPr marL="0" indent="0">
              <a:buNone/>
            </a:pPr>
            <a:r>
              <a:rPr lang="en-US" sz="1200" b="1" dirty="0">
                <a:solidFill>
                  <a:srgbClr val="00B4D8"/>
                </a:solidFill>
              </a:rPr>
              <a:t>🔐 Backend JWT Security Flow</a:t>
            </a:r>
            <a:endParaRPr lang="en-US" sz="1200" dirty="0"/>
          </a:p>
        </p:txBody>
      </p:sp>
      <p:sp>
        <p:nvSpPr>
          <p:cNvPr id="8" name="Shape 6"/>
          <p:cNvSpPr/>
          <p:nvPr/>
        </p:nvSpPr>
        <p:spPr>
          <a:xfrm>
            <a:off x="384048" y="1508760"/>
            <a:ext cx="3986784" cy="329184"/>
          </a:xfrm>
          <a:prstGeom prst="rect">
            <a:avLst/>
          </a:prstGeom>
          <a:solidFill>
            <a:srgbClr val="1E4D8C"/>
          </a:solidFill>
          <a:ln w="6350">
            <a:solidFill>
              <a:srgbClr val="0096B4"/>
            </a:solidFill>
            <a:prstDash val="solid"/>
          </a:ln>
        </p:spPr>
        <p:txBody>
          <a:bodyPr/>
          <a:lstStyle/>
          <a:p>
            <a:endParaRPr lang="en-IN"/>
          </a:p>
        </p:txBody>
      </p:sp>
      <p:sp>
        <p:nvSpPr>
          <p:cNvPr id="9" name="Text 7"/>
          <p:cNvSpPr/>
          <p:nvPr/>
        </p:nvSpPr>
        <p:spPr>
          <a:xfrm>
            <a:off x="475488" y="1508760"/>
            <a:ext cx="3803904" cy="329184"/>
          </a:xfrm>
          <a:prstGeom prst="rect">
            <a:avLst/>
          </a:prstGeom>
          <a:noFill/>
          <a:ln/>
        </p:spPr>
        <p:txBody>
          <a:bodyPr wrap="square" rtlCol="0" anchor="ctr"/>
          <a:lstStyle/>
          <a:p>
            <a:pPr marL="0" indent="0">
              <a:buNone/>
            </a:pPr>
            <a:r>
              <a:rPr lang="en-US" sz="1000" b="1" dirty="0">
                <a:solidFill>
                  <a:srgbClr val="00B4D8"/>
                </a:solidFill>
              </a:rPr>
              <a:t>1  </a:t>
            </a:r>
            <a:r>
              <a:rPr lang="en-US" sz="1000" dirty="0">
                <a:solidFill>
                  <a:srgbClr val="FFFFFF"/>
                </a:solidFill>
              </a:rPr>
              <a:t>Client → POST /api/auth/login</a:t>
            </a:r>
            <a:endParaRPr lang="en-US" sz="1000" dirty="0"/>
          </a:p>
        </p:txBody>
      </p:sp>
      <p:sp>
        <p:nvSpPr>
          <p:cNvPr id="10" name="Shape 8"/>
          <p:cNvSpPr/>
          <p:nvPr/>
        </p:nvSpPr>
        <p:spPr>
          <a:xfrm>
            <a:off x="2377440" y="1837944"/>
            <a:ext cx="0" cy="64008"/>
          </a:xfrm>
          <a:prstGeom prst="line">
            <a:avLst/>
          </a:prstGeom>
          <a:noFill/>
          <a:ln w="12700">
            <a:solidFill>
              <a:srgbClr val="00B4D8"/>
            </a:solidFill>
            <a:prstDash val="solid"/>
          </a:ln>
        </p:spPr>
        <p:txBody>
          <a:bodyPr/>
          <a:lstStyle/>
          <a:p>
            <a:endParaRPr lang="en-IN"/>
          </a:p>
        </p:txBody>
      </p:sp>
      <p:sp>
        <p:nvSpPr>
          <p:cNvPr id="11" name="Shape 9"/>
          <p:cNvSpPr/>
          <p:nvPr/>
        </p:nvSpPr>
        <p:spPr>
          <a:xfrm>
            <a:off x="384048" y="1901952"/>
            <a:ext cx="3986784" cy="329184"/>
          </a:xfrm>
          <a:prstGeom prst="rect">
            <a:avLst/>
          </a:prstGeom>
          <a:solidFill>
            <a:srgbClr val="0D2137"/>
          </a:solidFill>
          <a:ln w="6350">
            <a:solidFill>
              <a:srgbClr val="0096B4"/>
            </a:solidFill>
            <a:prstDash val="solid"/>
          </a:ln>
        </p:spPr>
        <p:txBody>
          <a:bodyPr/>
          <a:lstStyle/>
          <a:p>
            <a:endParaRPr lang="en-IN"/>
          </a:p>
        </p:txBody>
      </p:sp>
      <p:sp>
        <p:nvSpPr>
          <p:cNvPr id="12" name="Text 10"/>
          <p:cNvSpPr/>
          <p:nvPr/>
        </p:nvSpPr>
        <p:spPr>
          <a:xfrm>
            <a:off x="475488" y="1901952"/>
            <a:ext cx="3803904" cy="329184"/>
          </a:xfrm>
          <a:prstGeom prst="rect">
            <a:avLst/>
          </a:prstGeom>
          <a:noFill/>
          <a:ln/>
        </p:spPr>
        <p:txBody>
          <a:bodyPr wrap="square" rtlCol="0" anchor="ctr"/>
          <a:lstStyle/>
          <a:p>
            <a:pPr marL="0" indent="0">
              <a:buNone/>
            </a:pPr>
            <a:r>
              <a:rPr lang="en-US" sz="1000" b="1" dirty="0">
                <a:solidFill>
                  <a:srgbClr val="00B4D8"/>
                </a:solidFill>
              </a:rPr>
              <a:t>2  </a:t>
            </a:r>
            <a:r>
              <a:rPr lang="en-US" sz="1000" dirty="0">
                <a:solidFill>
                  <a:srgbClr val="FFFFFF"/>
                </a:solidFill>
              </a:rPr>
              <a:t>Validate credentials (hashed password)</a:t>
            </a:r>
            <a:endParaRPr lang="en-US" sz="1000" dirty="0"/>
          </a:p>
        </p:txBody>
      </p:sp>
      <p:sp>
        <p:nvSpPr>
          <p:cNvPr id="13" name="Shape 11"/>
          <p:cNvSpPr/>
          <p:nvPr/>
        </p:nvSpPr>
        <p:spPr>
          <a:xfrm>
            <a:off x="2377440" y="2231136"/>
            <a:ext cx="0" cy="64008"/>
          </a:xfrm>
          <a:prstGeom prst="line">
            <a:avLst/>
          </a:prstGeom>
          <a:noFill/>
          <a:ln w="12700">
            <a:solidFill>
              <a:srgbClr val="00B4D8"/>
            </a:solidFill>
            <a:prstDash val="solid"/>
          </a:ln>
        </p:spPr>
        <p:txBody>
          <a:bodyPr/>
          <a:lstStyle/>
          <a:p>
            <a:endParaRPr lang="en-IN"/>
          </a:p>
        </p:txBody>
      </p:sp>
      <p:sp>
        <p:nvSpPr>
          <p:cNvPr id="14" name="Shape 12"/>
          <p:cNvSpPr/>
          <p:nvPr/>
        </p:nvSpPr>
        <p:spPr>
          <a:xfrm>
            <a:off x="384048" y="2295144"/>
            <a:ext cx="3986784" cy="329184"/>
          </a:xfrm>
          <a:prstGeom prst="rect">
            <a:avLst/>
          </a:prstGeom>
          <a:solidFill>
            <a:srgbClr val="1E4D8C"/>
          </a:solidFill>
          <a:ln w="6350">
            <a:solidFill>
              <a:srgbClr val="0096B4"/>
            </a:solidFill>
            <a:prstDash val="solid"/>
          </a:ln>
        </p:spPr>
        <p:txBody>
          <a:bodyPr/>
          <a:lstStyle/>
          <a:p>
            <a:endParaRPr lang="en-IN"/>
          </a:p>
        </p:txBody>
      </p:sp>
      <p:sp>
        <p:nvSpPr>
          <p:cNvPr id="15" name="Text 13"/>
          <p:cNvSpPr/>
          <p:nvPr/>
        </p:nvSpPr>
        <p:spPr>
          <a:xfrm>
            <a:off x="475488" y="2295144"/>
            <a:ext cx="3803904" cy="329184"/>
          </a:xfrm>
          <a:prstGeom prst="rect">
            <a:avLst/>
          </a:prstGeom>
          <a:noFill/>
          <a:ln/>
        </p:spPr>
        <p:txBody>
          <a:bodyPr wrap="square" rtlCol="0" anchor="ctr"/>
          <a:lstStyle/>
          <a:p>
            <a:pPr marL="0" indent="0">
              <a:buNone/>
            </a:pPr>
            <a:r>
              <a:rPr lang="en-US" sz="1000" b="1" dirty="0">
                <a:solidFill>
                  <a:srgbClr val="00B4D8"/>
                </a:solidFill>
              </a:rPr>
              <a:t>3  </a:t>
            </a:r>
            <a:r>
              <a:rPr lang="en-US" sz="1000" dirty="0">
                <a:solidFill>
                  <a:srgbClr val="FFFFFF"/>
                </a:solidFill>
              </a:rPr>
              <a:t>Generate JWT (claims + expiry)</a:t>
            </a:r>
            <a:endParaRPr lang="en-US" sz="1000" dirty="0"/>
          </a:p>
        </p:txBody>
      </p:sp>
      <p:sp>
        <p:nvSpPr>
          <p:cNvPr id="16" name="Shape 14"/>
          <p:cNvSpPr/>
          <p:nvPr/>
        </p:nvSpPr>
        <p:spPr>
          <a:xfrm>
            <a:off x="2377440" y="2624328"/>
            <a:ext cx="0" cy="64008"/>
          </a:xfrm>
          <a:prstGeom prst="line">
            <a:avLst/>
          </a:prstGeom>
          <a:noFill/>
          <a:ln w="12700">
            <a:solidFill>
              <a:srgbClr val="00B4D8"/>
            </a:solidFill>
            <a:prstDash val="solid"/>
          </a:ln>
        </p:spPr>
        <p:txBody>
          <a:bodyPr/>
          <a:lstStyle/>
          <a:p>
            <a:endParaRPr lang="en-IN"/>
          </a:p>
        </p:txBody>
      </p:sp>
      <p:sp>
        <p:nvSpPr>
          <p:cNvPr id="17" name="Shape 15"/>
          <p:cNvSpPr/>
          <p:nvPr/>
        </p:nvSpPr>
        <p:spPr>
          <a:xfrm>
            <a:off x="384048" y="2688336"/>
            <a:ext cx="3986784" cy="329184"/>
          </a:xfrm>
          <a:prstGeom prst="rect">
            <a:avLst/>
          </a:prstGeom>
          <a:solidFill>
            <a:srgbClr val="0D2137"/>
          </a:solidFill>
          <a:ln w="6350">
            <a:solidFill>
              <a:srgbClr val="0096B4"/>
            </a:solidFill>
            <a:prstDash val="solid"/>
          </a:ln>
        </p:spPr>
        <p:txBody>
          <a:bodyPr/>
          <a:lstStyle/>
          <a:p>
            <a:endParaRPr lang="en-IN"/>
          </a:p>
        </p:txBody>
      </p:sp>
      <p:sp>
        <p:nvSpPr>
          <p:cNvPr id="18" name="Text 16"/>
          <p:cNvSpPr/>
          <p:nvPr/>
        </p:nvSpPr>
        <p:spPr>
          <a:xfrm>
            <a:off x="475488" y="2688336"/>
            <a:ext cx="3803904" cy="329184"/>
          </a:xfrm>
          <a:prstGeom prst="rect">
            <a:avLst/>
          </a:prstGeom>
          <a:noFill/>
          <a:ln/>
        </p:spPr>
        <p:txBody>
          <a:bodyPr wrap="square" rtlCol="0" anchor="ctr"/>
          <a:lstStyle/>
          <a:p>
            <a:pPr marL="0" indent="0">
              <a:buNone/>
            </a:pPr>
            <a:r>
              <a:rPr lang="en-US" sz="1000" b="1" dirty="0">
                <a:solidFill>
                  <a:srgbClr val="00B4D8"/>
                </a:solidFill>
              </a:rPr>
              <a:t>4  </a:t>
            </a:r>
            <a:r>
              <a:rPr lang="en-US" sz="1000" dirty="0">
                <a:solidFill>
                  <a:srgbClr val="FFFFFF"/>
                </a:solidFill>
              </a:rPr>
              <a:t>Return Bearer token to client</a:t>
            </a:r>
            <a:endParaRPr lang="en-US" sz="1000" dirty="0"/>
          </a:p>
        </p:txBody>
      </p:sp>
      <p:sp>
        <p:nvSpPr>
          <p:cNvPr id="19" name="Shape 17"/>
          <p:cNvSpPr/>
          <p:nvPr/>
        </p:nvSpPr>
        <p:spPr>
          <a:xfrm>
            <a:off x="2377440" y="3017520"/>
            <a:ext cx="0" cy="64008"/>
          </a:xfrm>
          <a:prstGeom prst="line">
            <a:avLst/>
          </a:prstGeom>
          <a:noFill/>
          <a:ln w="12700">
            <a:solidFill>
              <a:srgbClr val="00B4D8"/>
            </a:solidFill>
            <a:prstDash val="solid"/>
          </a:ln>
        </p:spPr>
        <p:txBody>
          <a:bodyPr/>
          <a:lstStyle/>
          <a:p>
            <a:endParaRPr lang="en-IN"/>
          </a:p>
        </p:txBody>
      </p:sp>
      <p:sp>
        <p:nvSpPr>
          <p:cNvPr id="20" name="Shape 18"/>
          <p:cNvSpPr/>
          <p:nvPr/>
        </p:nvSpPr>
        <p:spPr>
          <a:xfrm>
            <a:off x="384048" y="3081528"/>
            <a:ext cx="3986784" cy="329184"/>
          </a:xfrm>
          <a:prstGeom prst="rect">
            <a:avLst/>
          </a:prstGeom>
          <a:solidFill>
            <a:srgbClr val="1E4D8C"/>
          </a:solidFill>
          <a:ln w="6350">
            <a:solidFill>
              <a:srgbClr val="0096B4"/>
            </a:solidFill>
            <a:prstDash val="solid"/>
          </a:ln>
        </p:spPr>
        <p:txBody>
          <a:bodyPr/>
          <a:lstStyle/>
          <a:p>
            <a:endParaRPr lang="en-IN"/>
          </a:p>
        </p:txBody>
      </p:sp>
      <p:sp>
        <p:nvSpPr>
          <p:cNvPr id="21" name="Text 19"/>
          <p:cNvSpPr/>
          <p:nvPr/>
        </p:nvSpPr>
        <p:spPr>
          <a:xfrm>
            <a:off x="475488" y="3081528"/>
            <a:ext cx="3803904" cy="329184"/>
          </a:xfrm>
          <a:prstGeom prst="rect">
            <a:avLst/>
          </a:prstGeom>
          <a:noFill/>
          <a:ln/>
        </p:spPr>
        <p:txBody>
          <a:bodyPr wrap="square" rtlCol="0" anchor="ctr"/>
          <a:lstStyle/>
          <a:p>
            <a:pPr marL="0" indent="0">
              <a:buNone/>
            </a:pPr>
            <a:r>
              <a:rPr lang="en-US" sz="1000" b="1" dirty="0">
                <a:solidFill>
                  <a:srgbClr val="00B4D8"/>
                </a:solidFill>
              </a:rPr>
              <a:t>5  </a:t>
            </a:r>
            <a:r>
              <a:rPr lang="en-US" sz="1000" dirty="0">
                <a:solidFill>
                  <a:srgbClr val="FFFFFF"/>
                </a:solidFill>
              </a:rPr>
              <a:t>Client attaches token to every request</a:t>
            </a:r>
            <a:endParaRPr lang="en-US" sz="1000" dirty="0"/>
          </a:p>
        </p:txBody>
      </p:sp>
      <p:sp>
        <p:nvSpPr>
          <p:cNvPr id="22" name="Shape 20"/>
          <p:cNvSpPr/>
          <p:nvPr/>
        </p:nvSpPr>
        <p:spPr>
          <a:xfrm>
            <a:off x="2377440" y="3410712"/>
            <a:ext cx="0" cy="64008"/>
          </a:xfrm>
          <a:prstGeom prst="line">
            <a:avLst/>
          </a:prstGeom>
          <a:noFill/>
          <a:ln w="12700">
            <a:solidFill>
              <a:srgbClr val="00B4D8"/>
            </a:solidFill>
            <a:prstDash val="solid"/>
          </a:ln>
        </p:spPr>
        <p:txBody>
          <a:bodyPr/>
          <a:lstStyle/>
          <a:p>
            <a:endParaRPr lang="en-IN"/>
          </a:p>
        </p:txBody>
      </p:sp>
      <p:sp>
        <p:nvSpPr>
          <p:cNvPr id="23" name="Shape 21"/>
          <p:cNvSpPr/>
          <p:nvPr/>
        </p:nvSpPr>
        <p:spPr>
          <a:xfrm>
            <a:off x="384048" y="3474720"/>
            <a:ext cx="3986784" cy="329184"/>
          </a:xfrm>
          <a:prstGeom prst="rect">
            <a:avLst/>
          </a:prstGeom>
          <a:solidFill>
            <a:srgbClr val="0D2137"/>
          </a:solidFill>
          <a:ln w="6350">
            <a:solidFill>
              <a:srgbClr val="0096B4"/>
            </a:solidFill>
            <a:prstDash val="solid"/>
          </a:ln>
        </p:spPr>
        <p:txBody>
          <a:bodyPr/>
          <a:lstStyle/>
          <a:p>
            <a:endParaRPr lang="en-IN"/>
          </a:p>
        </p:txBody>
      </p:sp>
      <p:sp>
        <p:nvSpPr>
          <p:cNvPr id="24" name="Text 22"/>
          <p:cNvSpPr/>
          <p:nvPr/>
        </p:nvSpPr>
        <p:spPr>
          <a:xfrm>
            <a:off x="475488" y="3474720"/>
            <a:ext cx="3803904" cy="329184"/>
          </a:xfrm>
          <a:prstGeom prst="rect">
            <a:avLst/>
          </a:prstGeom>
          <a:noFill/>
          <a:ln/>
        </p:spPr>
        <p:txBody>
          <a:bodyPr wrap="square" rtlCol="0" anchor="ctr"/>
          <a:lstStyle/>
          <a:p>
            <a:pPr marL="0" indent="0">
              <a:buNone/>
            </a:pPr>
            <a:r>
              <a:rPr lang="en-US" sz="1000" b="1" dirty="0">
                <a:solidFill>
                  <a:srgbClr val="00B4D8"/>
                </a:solidFill>
              </a:rPr>
              <a:t>6  </a:t>
            </a:r>
            <a:r>
              <a:rPr lang="en-US" sz="1000" dirty="0">
                <a:solidFill>
                  <a:srgbClr val="FFFFFF"/>
                </a:solidFill>
              </a:rPr>
              <a:t>JwtBearer middleware validates signature</a:t>
            </a:r>
            <a:endParaRPr lang="en-US" sz="1000" dirty="0"/>
          </a:p>
        </p:txBody>
      </p:sp>
      <p:sp>
        <p:nvSpPr>
          <p:cNvPr id="25" name="Shape 23"/>
          <p:cNvSpPr/>
          <p:nvPr/>
        </p:nvSpPr>
        <p:spPr>
          <a:xfrm>
            <a:off x="2377440" y="3803904"/>
            <a:ext cx="0" cy="64008"/>
          </a:xfrm>
          <a:prstGeom prst="line">
            <a:avLst/>
          </a:prstGeom>
          <a:noFill/>
          <a:ln w="12700">
            <a:solidFill>
              <a:srgbClr val="00B4D8"/>
            </a:solidFill>
            <a:prstDash val="solid"/>
          </a:ln>
        </p:spPr>
        <p:txBody>
          <a:bodyPr/>
          <a:lstStyle/>
          <a:p>
            <a:endParaRPr lang="en-IN"/>
          </a:p>
        </p:txBody>
      </p:sp>
      <p:sp>
        <p:nvSpPr>
          <p:cNvPr id="26" name="Shape 24"/>
          <p:cNvSpPr/>
          <p:nvPr/>
        </p:nvSpPr>
        <p:spPr>
          <a:xfrm>
            <a:off x="384048" y="3867912"/>
            <a:ext cx="3986784" cy="329184"/>
          </a:xfrm>
          <a:prstGeom prst="rect">
            <a:avLst/>
          </a:prstGeom>
          <a:solidFill>
            <a:srgbClr val="1E4D8C"/>
          </a:solidFill>
          <a:ln w="6350">
            <a:solidFill>
              <a:srgbClr val="0096B4"/>
            </a:solidFill>
            <a:prstDash val="solid"/>
          </a:ln>
        </p:spPr>
        <p:txBody>
          <a:bodyPr/>
          <a:lstStyle/>
          <a:p>
            <a:endParaRPr lang="en-IN"/>
          </a:p>
        </p:txBody>
      </p:sp>
      <p:sp>
        <p:nvSpPr>
          <p:cNvPr id="27" name="Text 25"/>
          <p:cNvSpPr/>
          <p:nvPr/>
        </p:nvSpPr>
        <p:spPr>
          <a:xfrm>
            <a:off x="475488" y="3867912"/>
            <a:ext cx="3803904" cy="329184"/>
          </a:xfrm>
          <a:prstGeom prst="rect">
            <a:avLst/>
          </a:prstGeom>
          <a:noFill/>
          <a:ln/>
        </p:spPr>
        <p:txBody>
          <a:bodyPr wrap="square" rtlCol="0" anchor="ctr"/>
          <a:lstStyle/>
          <a:p>
            <a:pPr marL="0" indent="0">
              <a:buNone/>
            </a:pPr>
            <a:r>
              <a:rPr lang="en-US" sz="1000" b="1" dirty="0">
                <a:solidFill>
                  <a:srgbClr val="00B4D8"/>
                </a:solidFill>
              </a:rPr>
              <a:t>7  </a:t>
            </a:r>
            <a:r>
              <a:rPr lang="en-US" sz="1000" dirty="0">
                <a:solidFill>
                  <a:srgbClr val="FFFFFF"/>
                </a:solidFill>
              </a:rPr>
              <a:t>[Authorize(Roles=...)] enforces access</a:t>
            </a:r>
            <a:endParaRPr lang="en-US" sz="1000" dirty="0"/>
          </a:p>
        </p:txBody>
      </p:sp>
      <p:sp>
        <p:nvSpPr>
          <p:cNvPr id="28" name="Shape 26"/>
          <p:cNvSpPr/>
          <p:nvPr/>
        </p:nvSpPr>
        <p:spPr>
          <a:xfrm>
            <a:off x="4709160" y="1051560"/>
            <a:ext cx="4114800" cy="329184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dirty="0"/>
          </a:p>
        </p:txBody>
      </p:sp>
      <p:sp>
        <p:nvSpPr>
          <p:cNvPr id="29" name="Text 27"/>
          <p:cNvSpPr/>
          <p:nvPr/>
        </p:nvSpPr>
        <p:spPr>
          <a:xfrm>
            <a:off x="4800600" y="1115568"/>
            <a:ext cx="3931920" cy="320040"/>
          </a:xfrm>
          <a:prstGeom prst="rect">
            <a:avLst/>
          </a:prstGeom>
          <a:noFill/>
          <a:ln/>
        </p:spPr>
        <p:txBody>
          <a:bodyPr wrap="square" rtlCol="0" anchor="ctr"/>
          <a:lstStyle/>
          <a:p>
            <a:pPr marL="0" indent="0">
              <a:buNone/>
            </a:pPr>
            <a:r>
              <a:rPr lang="en-US" sz="1200" b="1" dirty="0">
                <a:solidFill>
                  <a:srgbClr val="00B4D8"/>
                </a:solidFill>
              </a:rPr>
              <a:t>🛡️ Frontend RBAC Matrix</a:t>
            </a:r>
            <a:endParaRPr lang="en-US" sz="1200" dirty="0"/>
          </a:p>
        </p:txBody>
      </p:sp>
      <p:sp>
        <p:nvSpPr>
          <p:cNvPr id="30" name="Shape 28"/>
          <p:cNvSpPr/>
          <p:nvPr/>
        </p:nvSpPr>
        <p:spPr>
          <a:xfrm>
            <a:off x="4800600" y="1481328"/>
            <a:ext cx="1463040" cy="274320"/>
          </a:xfrm>
          <a:prstGeom prst="rect">
            <a:avLst/>
          </a:prstGeom>
          <a:solidFill>
            <a:srgbClr val="1E4D8C"/>
          </a:solidFill>
          <a:ln w="6350">
            <a:solidFill>
              <a:srgbClr val="0096B4"/>
            </a:solidFill>
            <a:prstDash val="solid"/>
          </a:ln>
        </p:spPr>
        <p:txBody>
          <a:bodyPr/>
          <a:lstStyle/>
          <a:p>
            <a:endParaRPr lang="en-IN"/>
          </a:p>
        </p:txBody>
      </p:sp>
      <p:sp>
        <p:nvSpPr>
          <p:cNvPr id="31" name="Text 29"/>
          <p:cNvSpPr/>
          <p:nvPr/>
        </p:nvSpPr>
        <p:spPr>
          <a:xfrm>
            <a:off x="4800600" y="1481328"/>
            <a:ext cx="1463040" cy="274320"/>
          </a:xfrm>
          <a:prstGeom prst="rect">
            <a:avLst/>
          </a:prstGeom>
          <a:noFill/>
          <a:ln/>
        </p:spPr>
        <p:txBody>
          <a:bodyPr wrap="square" rtlCol="0" anchor="ctr"/>
          <a:lstStyle/>
          <a:p>
            <a:pPr marL="0" indent="0" algn="ctr">
              <a:buNone/>
            </a:pPr>
            <a:r>
              <a:rPr lang="en-US" sz="1000" b="1" dirty="0">
                <a:solidFill>
                  <a:srgbClr val="FFFFFF"/>
                </a:solidFill>
              </a:rPr>
              <a:t>Route</a:t>
            </a:r>
            <a:endParaRPr lang="en-US" sz="1000" dirty="0"/>
          </a:p>
        </p:txBody>
      </p:sp>
      <p:sp>
        <p:nvSpPr>
          <p:cNvPr id="32" name="Shape 30"/>
          <p:cNvSpPr/>
          <p:nvPr/>
        </p:nvSpPr>
        <p:spPr>
          <a:xfrm>
            <a:off x="6263640" y="1481328"/>
            <a:ext cx="749808" cy="274320"/>
          </a:xfrm>
          <a:prstGeom prst="rect">
            <a:avLst/>
          </a:prstGeom>
          <a:solidFill>
            <a:srgbClr val="1E4D8C"/>
          </a:solidFill>
          <a:ln w="6350">
            <a:solidFill>
              <a:srgbClr val="0096B4"/>
            </a:solidFill>
            <a:prstDash val="solid"/>
          </a:ln>
        </p:spPr>
        <p:txBody>
          <a:bodyPr/>
          <a:lstStyle/>
          <a:p>
            <a:endParaRPr lang="en-IN"/>
          </a:p>
        </p:txBody>
      </p:sp>
      <p:sp>
        <p:nvSpPr>
          <p:cNvPr id="33" name="Text 31"/>
          <p:cNvSpPr/>
          <p:nvPr/>
        </p:nvSpPr>
        <p:spPr>
          <a:xfrm>
            <a:off x="6263640" y="1481328"/>
            <a:ext cx="749808" cy="274320"/>
          </a:xfrm>
          <a:prstGeom prst="rect">
            <a:avLst/>
          </a:prstGeom>
          <a:noFill/>
          <a:ln/>
        </p:spPr>
        <p:txBody>
          <a:bodyPr wrap="square" rtlCol="0" anchor="ctr"/>
          <a:lstStyle/>
          <a:p>
            <a:pPr marL="0" indent="0" algn="ctr">
              <a:buNone/>
            </a:pPr>
            <a:r>
              <a:rPr lang="en-US" sz="1000" b="1" dirty="0">
                <a:solidFill>
                  <a:srgbClr val="FFFFFF"/>
                </a:solidFill>
              </a:rPr>
              <a:t>Admin</a:t>
            </a:r>
            <a:endParaRPr lang="en-US" sz="1000" dirty="0"/>
          </a:p>
        </p:txBody>
      </p:sp>
      <p:sp>
        <p:nvSpPr>
          <p:cNvPr id="34" name="Shape 32"/>
          <p:cNvSpPr/>
          <p:nvPr/>
        </p:nvSpPr>
        <p:spPr>
          <a:xfrm>
            <a:off x="7013448" y="1481328"/>
            <a:ext cx="749808" cy="274320"/>
          </a:xfrm>
          <a:prstGeom prst="rect">
            <a:avLst/>
          </a:prstGeom>
          <a:solidFill>
            <a:srgbClr val="1E4D8C"/>
          </a:solidFill>
          <a:ln w="6350">
            <a:solidFill>
              <a:srgbClr val="0096B4"/>
            </a:solidFill>
            <a:prstDash val="solid"/>
          </a:ln>
        </p:spPr>
        <p:txBody>
          <a:bodyPr/>
          <a:lstStyle/>
          <a:p>
            <a:endParaRPr lang="en-IN"/>
          </a:p>
        </p:txBody>
      </p:sp>
      <p:sp>
        <p:nvSpPr>
          <p:cNvPr id="35" name="Text 33"/>
          <p:cNvSpPr/>
          <p:nvPr/>
        </p:nvSpPr>
        <p:spPr>
          <a:xfrm>
            <a:off x="7013448" y="1481328"/>
            <a:ext cx="749808" cy="274320"/>
          </a:xfrm>
          <a:prstGeom prst="rect">
            <a:avLst/>
          </a:prstGeom>
          <a:noFill/>
          <a:ln/>
        </p:spPr>
        <p:txBody>
          <a:bodyPr wrap="square" rtlCol="0" anchor="ctr"/>
          <a:lstStyle/>
          <a:p>
            <a:pPr marL="0" indent="0" algn="ctr">
              <a:buNone/>
            </a:pPr>
            <a:r>
              <a:rPr lang="en-US" sz="1000" b="1" dirty="0">
                <a:solidFill>
                  <a:srgbClr val="FFFFFF"/>
                </a:solidFill>
              </a:rPr>
              <a:t>Agent</a:t>
            </a:r>
            <a:endParaRPr lang="en-US" sz="1000" dirty="0"/>
          </a:p>
        </p:txBody>
      </p:sp>
      <p:sp>
        <p:nvSpPr>
          <p:cNvPr id="36" name="Shape 34"/>
          <p:cNvSpPr/>
          <p:nvPr/>
        </p:nvSpPr>
        <p:spPr>
          <a:xfrm>
            <a:off x="7763256" y="1481328"/>
            <a:ext cx="822960" cy="274320"/>
          </a:xfrm>
          <a:prstGeom prst="rect">
            <a:avLst/>
          </a:prstGeom>
          <a:solidFill>
            <a:srgbClr val="1E4D8C"/>
          </a:solidFill>
          <a:ln w="6350">
            <a:solidFill>
              <a:srgbClr val="0096B4"/>
            </a:solidFill>
            <a:prstDash val="solid"/>
          </a:ln>
        </p:spPr>
        <p:txBody>
          <a:bodyPr/>
          <a:lstStyle/>
          <a:p>
            <a:endParaRPr lang="en-IN"/>
          </a:p>
        </p:txBody>
      </p:sp>
      <p:sp>
        <p:nvSpPr>
          <p:cNvPr id="37" name="Text 35"/>
          <p:cNvSpPr/>
          <p:nvPr/>
        </p:nvSpPr>
        <p:spPr>
          <a:xfrm>
            <a:off x="7763256" y="1481328"/>
            <a:ext cx="822960" cy="274320"/>
          </a:xfrm>
          <a:prstGeom prst="rect">
            <a:avLst/>
          </a:prstGeom>
          <a:noFill/>
          <a:ln/>
        </p:spPr>
        <p:txBody>
          <a:bodyPr wrap="square" rtlCol="0" anchor="ctr"/>
          <a:lstStyle/>
          <a:p>
            <a:pPr marL="0" indent="0" algn="ctr">
              <a:buNone/>
            </a:pPr>
            <a:r>
              <a:rPr lang="en-US" sz="1000" b="1" dirty="0">
                <a:solidFill>
                  <a:srgbClr val="FFFFFF"/>
                </a:solidFill>
              </a:rPr>
              <a:t>Customer</a:t>
            </a:r>
            <a:endParaRPr lang="en-US" sz="1000" dirty="0"/>
          </a:p>
        </p:txBody>
      </p:sp>
      <p:sp>
        <p:nvSpPr>
          <p:cNvPr id="38" name="Shape 36"/>
          <p:cNvSpPr/>
          <p:nvPr/>
        </p:nvSpPr>
        <p:spPr>
          <a:xfrm>
            <a:off x="4800600" y="1783080"/>
            <a:ext cx="1463040" cy="347472"/>
          </a:xfrm>
          <a:prstGeom prst="rect">
            <a:avLst/>
          </a:prstGeom>
          <a:solidFill>
            <a:srgbClr val="0D2137"/>
          </a:solidFill>
          <a:ln w="3810">
            <a:solidFill>
              <a:srgbClr val="0096B4"/>
            </a:solidFill>
            <a:prstDash val="solid"/>
          </a:ln>
        </p:spPr>
        <p:txBody>
          <a:bodyPr/>
          <a:lstStyle/>
          <a:p>
            <a:endParaRPr lang="en-IN"/>
          </a:p>
        </p:txBody>
      </p:sp>
      <p:sp>
        <p:nvSpPr>
          <p:cNvPr id="39" name="Text 37"/>
          <p:cNvSpPr/>
          <p:nvPr/>
        </p:nvSpPr>
        <p:spPr>
          <a:xfrm>
            <a:off x="4846320" y="1783080"/>
            <a:ext cx="1371600" cy="347472"/>
          </a:xfrm>
          <a:prstGeom prst="rect">
            <a:avLst/>
          </a:prstGeom>
          <a:noFill/>
          <a:ln/>
        </p:spPr>
        <p:txBody>
          <a:bodyPr wrap="square" rtlCol="0" anchor="ctr"/>
          <a:lstStyle/>
          <a:p>
            <a:pPr marL="0" indent="0">
              <a:buNone/>
            </a:pPr>
            <a:r>
              <a:rPr lang="en-US" sz="1000" dirty="0">
                <a:solidFill>
                  <a:srgbClr val="FFFFFF"/>
                </a:solidFill>
              </a:rPr>
              <a:t>Dashboard</a:t>
            </a:r>
            <a:endParaRPr lang="en-US" sz="1000" dirty="0"/>
          </a:p>
        </p:txBody>
      </p:sp>
      <p:sp>
        <p:nvSpPr>
          <p:cNvPr id="40" name="Shape 38"/>
          <p:cNvSpPr/>
          <p:nvPr/>
        </p:nvSpPr>
        <p:spPr>
          <a:xfrm>
            <a:off x="6263640" y="1783080"/>
            <a:ext cx="749808" cy="347472"/>
          </a:xfrm>
          <a:prstGeom prst="rect">
            <a:avLst/>
          </a:prstGeom>
          <a:solidFill>
            <a:srgbClr val="0D2137"/>
          </a:solidFill>
          <a:ln w="3810">
            <a:solidFill>
              <a:srgbClr val="0096B4"/>
            </a:solidFill>
            <a:prstDash val="solid"/>
          </a:ln>
        </p:spPr>
        <p:txBody>
          <a:bodyPr/>
          <a:lstStyle/>
          <a:p>
            <a:endParaRPr lang="en-IN"/>
          </a:p>
        </p:txBody>
      </p:sp>
      <p:sp>
        <p:nvSpPr>
          <p:cNvPr id="41" name="Text 39"/>
          <p:cNvSpPr/>
          <p:nvPr/>
        </p:nvSpPr>
        <p:spPr>
          <a:xfrm>
            <a:off x="6263640" y="178308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42" name="Shape 40"/>
          <p:cNvSpPr/>
          <p:nvPr/>
        </p:nvSpPr>
        <p:spPr>
          <a:xfrm>
            <a:off x="7013448" y="1783080"/>
            <a:ext cx="749808" cy="347472"/>
          </a:xfrm>
          <a:prstGeom prst="rect">
            <a:avLst/>
          </a:prstGeom>
          <a:solidFill>
            <a:srgbClr val="0D2137"/>
          </a:solidFill>
          <a:ln w="3810">
            <a:solidFill>
              <a:srgbClr val="0096B4"/>
            </a:solidFill>
            <a:prstDash val="solid"/>
          </a:ln>
        </p:spPr>
        <p:txBody>
          <a:bodyPr/>
          <a:lstStyle/>
          <a:p>
            <a:endParaRPr lang="en-IN"/>
          </a:p>
        </p:txBody>
      </p:sp>
      <p:sp>
        <p:nvSpPr>
          <p:cNvPr id="43" name="Text 41"/>
          <p:cNvSpPr/>
          <p:nvPr/>
        </p:nvSpPr>
        <p:spPr>
          <a:xfrm>
            <a:off x="7013448" y="178308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44" name="Shape 42"/>
          <p:cNvSpPr/>
          <p:nvPr/>
        </p:nvSpPr>
        <p:spPr>
          <a:xfrm>
            <a:off x="7763256" y="1783080"/>
            <a:ext cx="749808" cy="347472"/>
          </a:xfrm>
          <a:prstGeom prst="rect">
            <a:avLst/>
          </a:prstGeom>
          <a:solidFill>
            <a:srgbClr val="0D2137"/>
          </a:solidFill>
          <a:ln w="3810">
            <a:solidFill>
              <a:srgbClr val="0096B4"/>
            </a:solidFill>
            <a:prstDash val="solid"/>
          </a:ln>
        </p:spPr>
        <p:txBody>
          <a:bodyPr/>
          <a:lstStyle/>
          <a:p>
            <a:endParaRPr lang="en-IN"/>
          </a:p>
        </p:txBody>
      </p:sp>
      <p:sp>
        <p:nvSpPr>
          <p:cNvPr id="45" name="Text 43"/>
          <p:cNvSpPr/>
          <p:nvPr/>
        </p:nvSpPr>
        <p:spPr>
          <a:xfrm>
            <a:off x="7763256" y="178308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46" name="Shape 44"/>
          <p:cNvSpPr/>
          <p:nvPr/>
        </p:nvSpPr>
        <p:spPr>
          <a:xfrm>
            <a:off x="4800600" y="2148840"/>
            <a:ext cx="1463040" cy="347472"/>
          </a:xfrm>
          <a:prstGeom prst="rect">
            <a:avLst/>
          </a:prstGeom>
          <a:solidFill>
            <a:srgbClr val="112240"/>
          </a:solidFill>
          <a:ln w="3810">
            <a:solidFill>
              <a:srgbClr val="0096B4"/>
            </a:solidFill>
            <a:prstDash val="solid"/>
          </a:ln>
        </p:spPr>
        <p:txBody>
          <a:bodyPr/>
          <a:lstStyle/>
          <a:p>
            <a:endParaRPr lang="en-IN"/>
          </a:p>
        </p:txBody>
      </p:sp>
      <p:sp>
        <p:nvSpPr>
          <p:cNvPr id="47" name="Text 45"/>
          <p:cNvSpPr/>
          <p:nvPr/>
        </p:nvSpPr>
        <p:spPr>
          <a:xfrm>
            <a:off x="4846320" y="2148840"/>
            <a:ext cx="1371600" cy="347472"/>
          </a:xfrm>
          <a:prstGeom prst="rect">
            <a:avLst/>
          </a:prstGeom>
          <a:noFill/>
          <a:ln/>
        </p:spPr>
        <p:txBody>
          <a:bodyPr wrap="square" rtlCol="0" anchor="ctr"/>
          <a:lstStyle/>
          <a:p>
            <a:pPr marL="0" indent="0">
              <a:buNone/>
            </a:pPr>
            <a:r>
              <a:rPr lang="en-US" sz="1000" dirty="0">
                <a:solidFill>
                  <a:srgbClr val="FFFFFF"/>
                </a:solidFill>
              </a:rPr>
              <a:t>Create Policy</a:t>
            </a:r>
            <a:endParaRPr lang="en-US" sz="1000" dirty="0"/>
          </a:p>
        </p:txBody>
      </p:sp>
      <p:sp>
        <p:nvSpPr>
          <p:cNvPr id="48" name="Shape 46"/>
          <p:cNvSpPr/>
          <p:nvPr/>
        </p:nvSpPr>
        <p:spPr>
          <a:xfrm>
            <a:off x="6263640" y="2148840"/>
            <a:ext cx="749808" cy="347472"/>
          </a:xfrm>
          <a:prstGeom prst="rect">
            <a:avLst/>
          </a:prstGeom>
          <a:solidFill>
            <a:srgbClr val="112240"/>
          </a:solidFill>
          <a:ln w="3810">
            <a:solidFill>
              <a:srgbClr val="0096B4"/>
            </a:solidFill>
            <a:prstDash val="solid"/>
          </a:ln>
        </p:spPr>
        <p:txBody>
          <a:bodyPr/>
          <a:lstStyle/>
          <a:p>
            <a:endParaRPr lang="en-IN"/>
          </a:p>
        </p:txBody>
      </p:sp>
      <p:sp>
        <p:nvSpPr>
          <p:cNvPr id="49" name="Text 47"/>
          <p:cNvSpPr/>
          <p:nvPr/>
        </p:nvSpPr>
        <p:spPr>
          <a:xfrm>
            <a:off x="6263640" y="214884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52" name="Shape 50"/>
          <p:cNvSpPr/>
          <p:nvPr/>
        </p:nvSpPr>
        <p:spPr>
          <a:xfrm>
            <a:off x="7763256" y="2148840"/>
            <a:ext cx="749808" cy="347472"/>
          </a:xfrm>
          <a:prstGeom prst="rect">
            <a:avLst/>
          </a:prstGeom>
          <a:solidFill>
            <a:srgbClr val="112240"/>
          </a:solidFill>
          <a:ln w="3810">
            <a:solidFill>
              <a:srgbClr val="0096B4"/>
            </a:solidFill>
            <a:prstDash val="solid"/>
          </a:ln>
        </p:spPr>
        <p:txBody>
          <a:bodyPr/>
          <a:lstStyle/>
          <a:p>
            <a:endParaRPr lang="en-IN"/>
          </a:p>
        </p:txBody>
      </p:sp>
      <p:sp>
        <p:nvSpPr>
          <p:cNvPr id="53" name="Text 51"/>
          <p:cNvSpPr/>
          <p:nvPr/>
        </p:nvSpPr>
        <p:spPr>
          <a:xfrm>
            <a:off x="7763256" y="2148840"/>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
        <p:nvSpPr>
          <p:cNvPr id="54" name="Shape 52"/>
          <p:cNvSpPr/>
          <p:nvPr/>
        </p:nvSpPr>
        <p:spPr>
          <a:xfrm>
            <a:off x="4800600" y="2514600"/>
            <a:ext cx="1463040" cy="347472"/>
          </a:xfrm>
          <a:prstGeom prst="rect">
            <a:avLst/>
          </a:prstGeom>
          <a:solidFill>
            <a:srgbClr val="0D2137"/>
          </a:solidFill>
          <a:ln w="3810">
            <a:solidFill>
              <a:srgbClr val="0096B4"/>
            </a:solidFill>
            <a:prstDash val="solid"/>
          </a:ln>
        </p:spPr>
        <p:txBody>
          <a:bodyPr/>
          <a:lstStyle/>
          <a:p>
            <a:endParaRPr lang="en-IN"/>
          </a:p>
        </p:txBody>
      </p:sp>
      <p:sp>
        <p:nvSpPr>
          <p:cNvPr id="55" name="Text 53"/>
          <p:cNvSpPr/>
          <p:nvPr/>
        </p:nvSpPr>
        <p:spPr>
          <a:xfrm>
            <a:off x="4846320" y="2514600"/>
            <a:ext cx="1371600" cy="347472"/>
          </a:xfrm>
          <a:prstGeom prst="rect">
            <a:avLst/>
          </a:prstGeom>
          <a:noFill/>
          <a:ln/>
        </p:spPr>
        <p:txBody>
          <a:bodyPr wrap="square" rtlCol="0" anchor="ctr"/>
          <a:lstStyle/>
          <a:p>
            <a:pPr marL="0" indent="0">
              <a:buNone/>
            </a:pPr>
            <a:r>
              <a:rPr lang="en-US" sz="1000" dirty="0">
                <a:solidFill>
                  <a:srgbClr val="FFFFFF"/>
                </a:solidFill>
              </a:rPr>
              <a:t>Raise Claim</a:t>
            </a:r>
            <a:endParaRPr lang="en-US" sz="1000" dirty="0"/>
          </a:p>
        </p:txBody>
      </p:sp>
      <p:sp>
        <p:nvSpPr>
          <p:cNvPr id="56" name="Shape 54"/>
          <p:cNvSpPr/>
          <p:nvPr/>
        </p:nvSpPr>
        <p:spPr>
          <a:xfrm>
            <a:off x="6263640" y="2514600"/>
            <a:ext cx="749808" cy="347472"/>
          </a:xfrm>
          <a:prstGeom prst="rect">
            <a:avLst/>
          </a:prstGeom>
          <a:solidFill>
            <a:srgbClr val="0D2137"/>
          </a:solidFill>
          <a:ln w="3810">
            <a:solidFill>
              <a:srgbClr val="0096B4"/>
            </a:solidFill>
            <a:prstDash val="solid"/>
          </a:ln>
        </p:spPr>
        <p:txBody>
          <a:bodyPr/>
          <a:lstStyle/>
          <a:p>
            <a:endParaRPr lang="en-IN"/>
          </a:p>
        </p:txBody>
      </p:sp>
      <p:sp>
        <p:nvSpPr>
          <p:cNvPr id="58" name="Shape 56"/>
          <p:cNvSpPr/>
          <p:nvPr/>
        </p:nvSpPr>
        <p:spPr>
          <a:xfrm>
            <a:off x="7013448" y="2514600"/>
            <a:ext cx="749808" cy="347472"/>
          </a:xfrm>
          <a:prstGeom prst="rect">
            <a:avLst/>
          </a:prstGeom>
          <a:solidFill>
            <a:srgbClr val="0D2137"/>
          </a:solidFill>
          <a:ln w="3810">
            <a:solidFill>
              <a:srgbClr val="0096B4"/>
            </a:solidFill>
            <a:prstDash val="solid"/>
          </a:ln>
        </p:spPr>
        <p:txBody>
          <a:bodyPr/>
          <a:lstStyle/>
          <a:p>
            <a:endParaRPr lang="en-IN"/>
          </a:p>
        </p:txBody>
      </p:sp>
      <p:sp>
        <p:nvSpPr>
          <p:cNvPr id="59" name="Text 57"/>
          <p:cNvSpPr/>
          <p:nvPr/>
        </p:nvSpPr>
        <p:spPr>
          <a:xfrm>
            <a:off x="7013448" y="2514600"/>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
        <p:nvSpPr>
          <p:cNvPr id="60" name="Shape 58"/>
          <p:cNvSpPr/>
          <p:nvPr/>
        </p:nvSpPr>
        <p:spPr>
          <a:xfrm>
            <a:off x="7763256" y="2514600"/>
            <a:ext cx="749808" cy="347472"/>
          </a:xfrm>
          <a:prstGeom prst="rect">
            <a:avLst/>
          </a:prstGeom>
          <a:solidFill>
            <a:srgbClr val="0D2137"/>
          </a:solidFill>
          <a:ln w="3810">
            <a:solidFill>
              <a:srgbClr val="0096B4"/>
            </a:solidFill>
            <a:prstDash val="solid"/>
          </a:ln>
        </p:spPr>
        <p:txBody>
          <a:bodyPr/>
          <a:lstStyle/>
          <a:p>
            <a:endParaRPr lang="en-IN"/>
          </a:p>
        </p:txBody>
      </p:sp>
      <p:sp>
        <p:nvSpPr>
          <p:cNvPr id="61" name="Text 59"/>
          <p:cNvSpPr/>
          <p:nvPr/>
        </p:nvSpPr>
        <p:spPr>
          <a:xfrm>
            <a:off x="7763256" y="251460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62" name="Shape 60"/>
          <p:cNvSpPr/>
          <p:nvPr/>
        </p:nvSpPr>
        <p:spPr>
          <a:xfrm>
            <a:off x="4800600" y="2880360"/>
            <a:ext cx="1463040" cy="347472"/>
          </a:xfrm>
          <a:prstGeom prst="rect">
            <a:avLst/>
          </a:prstGeom>
          <a:solidFill>
            <a:srgbClr val="112240"/>
          </a:solidFill>
          <a:ln w="3810">
            <a:solidFill>
              <a:srgbClr val="0096B4"/>
            </a:solidFill>
            <a:prstDash val="solid"/>
          </a:ln>
        </p:spPr>
        <p:txBody>
          <a:bodyPr/>
          <a:lstStyle/>
          <a:p>
            <a:endParaRPr lang="en-IN"/>
          </a:p>
        </p:txBody>
      </p:sp>
      <p:sp>
        <p:nvSpPr>
          <p:cNvPr id="63" name="Text 61"/>
          <p:cNvSpPr/>
          <p:nvPr/>
        </p:nvSpPr>
        <p:spPr>
          <a:xfrm>
            <a:off x="4846320" y="2880360"/>
            <a:ext cx="1371600" cy="347472"/>
          </a:xfrm>
          <a:prstGeom prst="rect">
            <a:avLst/>
          </a:prstGeom>
          <a:noFill/>
          <a:ln/>
        </p:spPr>
        <p:txBody>
          <a:bodyPr wrap="square" rtlCol="0" anchor="ctr"/>
          <a:lstStyle/>
          <a:p>
            <a:pPr marL="0" indent="0">
              <a:buNone/>
            </a:pPr>
            <a:r>
              <a:rPr lang="en-US" sz="1000" dirty="0">
                <a:solidFill>
                  <a:srgbClr val="FFFFFF"/>
                </a:solidFill>
              </a:rPr>
              <a:t>Reports</a:t>
            </a:r>
            <a:endParaRPr lang="en-US" sz="1000" dirty="0"/>
          </a:p>
        </p:txBody>
      </p:sp>
      <p:sp>
        <p:nvSpPr>
          <p:cNvPr id="64" name="Shape 62"/>
          <p:cNvSpPr/>
          <p:nvPr/>
        </p:nvSpPr>
        <p:spPr>
          <a:xfrm>
            <a:off x="6263640" y="2880360"/>
            <a:ext cx="749808" cy="347472"/>
          </a:xfrm>
          <a:prstGeom prst="rect">
            <a:avLst/>
          </a:prstGeom>
          <a:solidFill>
            <a:srgbClr val="112240"/>
          </a:solidFill>
          <a:ln w="3810">
            <a:solidFill>
              <a:srgbClr val="0096B4"/>
            </a:solidFill>
            <a:prstDash val="solid"/>
          </a:ln>
        </p:spPr>
        <p:txBody>
          <a:bodyPr/>
          <a:lstStyle/>
          <a:p>
            <a:endParaRPr lang="en-IN"/>
          </a:p>
        </p:txBody>
      </p:sp>
      <p:sp>
        <p:nvSpPr>
          <p:cNvPr id="65" name="Text 63"/>
          <p:cNvSpPr/>
          <p:nvPr/>
        </p:nvSpPr>
        <p:spPr>
          <a:xfrm>
            <a:off x="6263640" y="288036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66" name="Shape 64"/>
          <p:cNvSpPr/>
          <p:nvPr/>
        </p:nvSpPr>
        <p:spPr>
          <a:xfrm>
            <a:off x="7013448" y="2880360"/>
            <a:ext cx="749808" cy="347472"/>
          </a:xfrm>
          <a:prstGeom prst="rect">
            <a:avLst/>
          </a:prstGeom>
          <a:solidFill>
            <a:srgbClr val="112240"/>
          </a:solidFill>
          <a:ln w="3810">
            <a:solidFill>
              <a:srgbClr val="0096B4"/>
            </a:solidFill>
            <a:prstDash val="solid"/>
          </a:ln>
        </p:spPr>
        <p:txBody>
          <a:bodyPr/>
          <a:lstStyle/>
          <a:p>
            <a:endParaRPr lang="en-IN"/>
          </a:p>
        </p:txBody>
      </p:sp>
      <p:sp>
        <p:nvSpPr>
          <p:cNvPr id="67" name="Text 65"/>
          <p:cNvSpPr/>
          <p:nvPr/>
        </p:nvSpPr>
        <p:spPr>
          <a:xfrm>
            <a:off x="7013448" y="2880360"/>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
        <p:nvSpPr>
          <p:cNvPr id="68" name="Shape 66"/>
          <p:cNvSpPr/>
          <p:nvPr/>
        </p:nvSpPr>
        <p:spPr>
          <a:xfrm>
            <a:off x="7763256" y="2880360"/>
            <a:ext cx="749808" cy="347472"/>
          </a:xfrm>
          <a:prstGeom prst="rect">
            <a:avLst/>
          </a:prstGeom>
          <a:solidFill>
            <a:srgbClr val="112240"/>
          </a:solidFill>
          <a:ln w="3810">
            <a:solidFill>
              <a:srgbClr val="0096B4"/>
            </a:solidFill>
            <a:prstDash val="solid"/>
          </a:ln>
        </p:spPr>
        <p:txBody>
          <a:bodyPr/>
          <a:lstStyle/>
          <a:p>
            <a:endParaRPr lang="en-IN"/>
          </a:p>
        </p:txBody>
      </p:sp>
      <p:sp>
        <p:nvSpPr>
          <p:cNvPr id="69" name="Text 67"/>
          <p:cNvSpPr/>
          <p:nvPr/>
        </p:nvSpPr>
        <p:spPr>
          <a:xfrm>
            <a:off x="7763256" y="2880360"/>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
        <p:nvSpPr>
          <p:cNvPr id="70" name="Shape 68"/>
          <p:cNvSpPr/>
          <p:nvPr/>
        </p:nvSpPr>
        <p:spPr>
          <a:xfrm>
            <a:off x="4800600" y="3246120"/>
            <a:ext cx="1463040" cy="347472"/>
          </a:xfrm>
          <a:prstGeom prst="rect">
            <a:avLst/>
          </a:prstGeom>
          <a:solidFill>
            <a:srgbClr val="0D2137"/>
          </a:solidFill>
          <a:ln w="3810">
            <a:solidFill>
              <a:srgbClr val="0096B4"/>
            </a:solidFill>
            <a:prstDash val="solid"/>
          </a:ln>
        </p:spPr>
        <p:txBody>
          <a:bodyPr/>
          <a:lstStyle/>
          <a:p>
            <a:endParaRPr lang="en-IN"/>
          </a:p>
        </p:txBody>
      </p:sp>
      <p:sp>
        <p:nvSpPr>
          <p:cNvPr id="71" name="Text 69"/>
          <p:cNvSpPr/>
          <p:nvPr/>
        </p:nvSpPr>
        <p:spPr>
          <a:xfrm>
            <a:off x="4846320" y="3246120"/>
            <a:ext cx="1371600" cy="347472"/>
          </a:xfrm>
          <a:prstGeom prst="rect">
            <a:avLst/>
          </a:prstGeom>
          <a:noFill/>
          <a:ln/>
        </p:spPr>
        <p:txBody>
          <a:bodyPr wrap="square" rtlCol="0" anchor="ctr"/>
          <a:lstStyle/>
          <a:p>
            <a:pPr marL="0" indent="0">
              <a:buNone/>
            </a:pPr>
            <a:r>
              <a:rPr lang="en-US" sz="1000" dirty="0">
                <a:solidFill>
                  <a:srgbClr val="FFFFFF"/>
                </a:solidFill>
              </a:rPr>
              <a:t>User Mgmt</a:t>
            </a:r>
            <a:endParaRPr lang="en-US" sz="1000" dirty="0"/>
          </a:p>
        </p:txBody>
      </p:sp>
      <p:sp>
        <p:nvSpPr>
          <p:cNvPr id="72" name="Shape 70"/>
          <p:cNvSpPr/>
          <p:nvPr/>
        </p:nvSpPr>
        <p:spPr>
          <a:xfrm>
            <a:off x="6263640" y="3246120"/>
            <a:ext cx="749808" cy="347472"/>
          </a:xfrm>
          <a:prstGeom prst="rect">
            <a:avLst/>
          </a:prstGeom>
          <a:solidFill>
            <a:srgbClr val="0D2137"/>
          </a:solidFill>
          <a:ln w="3810">
            <a:solidFill>
              <a:srgbClr val="0096B4"/>
            </a:solidFill>
            <a:prstDash val="solid"/>
          </a:ln>
        </p:spPr>
        <p:txBody>
          <a:bodyPr/>
          <a:lstStyle/>
          <a:p>
            <a:endParaRPr lang="en-IN"/>
          </a:p>
        </p:txBody>
      </p:sp>
      <p:sp>
        <p:nvSpPr>
          <p:cNvPr id="73" name="Text 71"/>
          <p:cNvSpPr/>
          <p:nvPr/>
        </p:nvSpPr>
        <p:spPr>
          <a:xfrm>
            <a:off x="6263640" y="324612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74" name="Shape 72"/>
          <p:cNvSpPr/>
          <p:nvPr/>
        </p:nvSpPr>
        <p:spPr>
          <a:xfrm>
            <a:off x="7013448" y="3246120"/>
            <a:ext cx="749808" cy="347472"/>
          </a:xfrm>
          <a:prstGeom prst="rect">
            <a:avLst/>
          </a:prstGeom>
          <a:solidFill>
            <a:srgbClr val="0D2137"/>
          </a:solidFill>
          <a:ln w="3810">
            <a:solidFill>
              <a:srgbClr val="0096B4"/>
            </a:solidFill>
            <a:prstDash val="solid"/>
          </a:ln>
        </p:spPr>
        <p:txBody>
          <a:bodyPr/>
          <a:lstStyle/>
          <a:p>
            <a:endParaRPr lang="en-IN"/>
          </a:p>
        </p:txBody>
      </p:sp>
      <p:sp>
        <p:nvSpPr>
          <p:cNvPr id="75" name="Text 73"/>
          <p:cNvSpPr/>
          <p:nvPr/>
        </p:nvSpPr>
        <p:spPr>
          <a:xfrm>
            <a:off x="7013448" y="3246120"/>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
        <p:nvSpPr>
          <p:cNvPr id="76" name="Shape 74"/>
          <p:cNvSpPr/>
          <p:nvPr/>
        </p:nvSpPr>
        <p:spPr>
          <a:xfrm>
            <a:off x="7763256" y="3246120"/>
            <a:ext cx="749808" cy="347472"/>
          </a:xfrm>
          <a:prstGeom prst="rect">
            <a:avLst/>
          </a:prstGeom>
          <a:solidFill>
            <a:srgbClr val="0D2137"/>
          </a:solidFill>
          <a:ln w="3810">
            <a:solidFill>
              <a:srgbClr val="0096B4"/>
            </a:solidFill>
            <a:prstDash val="solid"/>
          </a:ln>
        </p:spPr>
        <p:txBody>
          <a:bodyPr/>
          <a:lstStyle/>
          <a:p>
            <a:endParaRPr lang="en-IN"/>
          </a:p>
        </p:txBody>
      </p:sp>
      <p:sp>
        <p:nvSpPr>
          <p:cNvPr id="77" name="Text 75"/>
          <p:cNvSpPr/>
          <p:nvPr/>
        </p:nvSpPr>
        <p:spPr>
          <a:xfrm>
            <a:off x="7763256" y="3246120"/>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
        <p:nvSpPr>
          <p:cNvPr id="78" name="Shape 76"/>
          <p:cNvSpPr/>
          <p:nvPr/>
        </p:nvSpPr>
        <p:spPr>
          <a:xfrm>
            <a:off x="4800600" y="3611880"/>
            <a:ext cx="1463040" cy="347472"/>
          </a:xfrm>
          <a:prstGeom prst="rect">
            <a:avLst/>
          </a:prstGeom>
          <a:solidFill>
            <a:srgbClr val="112240"/>
          </a:solidFill>
          <a:ln w="3810">
            <a:solidFill>
              <a:srgbClr val="0096B4"/>
            </a:solidFill>
            <a:prstDash val="solid"/>
          </a:ln>
        </p:spPr>
        <p:txBody>
          <a:bodyPr/>
          <a:lstStyle/>
          <a:p>
            <a:endParaRPr lang="en-IN"/>
          </a:p>
        </p:txBody>
      </p:sp>
      <p:sp>
        <p:nvSpPr>
          <p:cNvPr id="79" name="Text 77"/>
          <p:cNvSpPr/>
          <p:nvPr/>
        </p:nvSpPr>
        <p:spPr>
          <a:xfrm>
            <a:off x="4846320" y="3611880"/>
            <a:ext cx="1371600" cy="347472"/>
          </a:xfrm>
          <a:prstGeom prst="rect">
            <a:avLst/>
          </a:prstGeom>
          <a:noFill/>
          <a:ln/>
        </p:spPr>
        <p:txBody>
          <a:bodyPr wrap="square" rtlCol="0" anchor="ctr"/>
          <a:lstStyle/>
          <a:p>
            <a:pPr marL="0" indent="0">
              <a:buNone/>
            </a:pPr>
            <a:r>
              <a:rPr lang="en-US" sz="1000" dirty="0">
                <a:solidFill>
                  <a:srgbClr val="FFFFFF"/>
                </a:solidFill>
              </a:rPr>
              <a:t>Billing</a:t>
            </a:r>
            <a:endParaRPr lang="en-US" sz="1000" dirty="0"/>
          </a:p>
        </p:txBody>
      </p:sp>
      <p:sp>
        <p:nvSpPr>
          <p:cNvPr id="80" name="Shape 78"/>
          <p:cNvSpPr/>
          <p:nvPr/>
        </p:nvSpPr>
        <p:spPr>
          <a:xfrm>
            <a:off x="6263640" y="3611880"/>
            <a:ext cx="749808" cy="347472"/>
          </a:xfrm>
          <a:prstGeom prst="rect">
            <a:avLst/>
          </a:prstGeom>
          <a:solidFill>
            <a:srgbClr val="112240"/>
          </a:solidFill>
          <a:ln w="3810">
            <a:solidFill>
              <a:srgbClr val="0096B4"/>
            </a:solidFill>
            <a:prstDash val="solid"/>
          </a:ln>
        </p:spPr>
        <p:txBody>
          <a:bodyPr/>
          <a:lstStyle/>
          <a:p>
            <a:endParaRPr lang="en-IN"/>
          </a:p>
        </p:txBody>
      </p:sp>
      <p:sp>
        <p:nvSpPr>
          <p:cNvPr id="81" name="Text 79"/>
          <p:cNvSpPr/>
          <p:nvPr/>
        </p:nvSpPr>
        <p:spPr>
          <a:xfrm>
            <a:off x="6263640" y="361188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82" name="Shape 80"/>
          <p:cNvSpPr/>
          <p:nvPr/>
        </p:nvSpPr>
        <p:spPr>
          <a:xfrm>
            <a:off x="7013448" y="3611880"/>
            <a:ext cx="749808" cy="347472"/>
          </a:xfrm>
          <a:prstGeom prst="rect">
            <a:avLst/>
          </a:prstGeom>
          <a:solidFill>
            <a:srgbClr val="112240"/>
          </a:solidFill>
          <a:ln w="3810">
            <a:solidFill>
              <a:srgbClr val="0096B4"/>
            </a:solidFill>
            <a:prstDash val="solid"/>
          </a:ln>
        </p:spPr>
        <p:txBody>
          <a:bodyPr/>
          <a:lstStyle/>
          <a:p>
            <a:endParaRPr lang="en-IN"/>
          </a:p>
        </p:txBody>
      </p:sp>
      <p:sp>
        <p:nvSpPr>
          <p:cNvPr id="83" name="Text 81"/>
          <p:cNvSpPr/>
          <p:nvPr/>
        </p:nvSpPr>
        <p:spPr>
          <a:xfrm>
            <a:off x="7013448" y="361188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84" name="Shape 82"/>
          <p:cNvSpPr/>
          <p:nvPr/>
        </p:nvSpPr>
        <p:spPr>
          <a:xfrm>
            <a:off x="7763256" y="3611880"/>
            <a:ext cx="749808" cy="347472"/>
          </a:xfrm>
          <a:prstGeom prst="rect">
            <a:avLst/>
          </a:prstGeom>
          <a:solidFill>
            <a:srgbClr val="112240"/>
          </a:solidFill>
          <a:ln w="3810">
            <a:solidFill>
              <a:srgbClr val="0096B4"/>
            </a:solidFill>
            <a:prstDash val="solid"/>
          </a:ln>
        </p:spPr>
        <p:txBody>
          <a:bodyPr/>
          <a:lstStyle/>
          <a:p>
            <a:endParaRPr lang="en-IN"/>
          </a:p>
        </p:txBody>
      </p:sp>
      <p:sp>
        <p:nvSpPr>
          <p:cNvPr id="85" name="Text 83"/>
          <p:cNvSpPr/>
          <p:nvPr/>
        </p:nvSpPr>
        <p:spPr>
          <a:xfrm>
            <a:off x="7763256" y="3611880"/>
            <a:ext cx="749808" cy="347472"/>
          </a:xfrm>
          <a:prstGeom prst="rect">
            <a:avLst/>
          </a:prstGeom>
          <a:noFill/>
          <a:ln/>
        </p:spPr>
        <p:txBody>
          <a:bodyPr wrap="square" rtlCol="0" anchor="ctr"/>
          <a:lstStyle/>
          <a:p>
            <a:pPr marL="0" indent="0" algn="ctr">
              <a:buNone/>
            </a:pPr>
            <a:r>
              <a:rPr lang="en-US" sz="1400" b="1" dirty="0">
                <a:solidFill>
                  <a:srgbClr val="06D6A0"/>
                </a:solidFill>
              </a:rPr>
              <a:t>✓</a:t>
            </a:r>
            <a:endParaRPr lang="en-US" sz="1400" dirty="0"/>
          </a:p>
        </p:txBody>
      </p:sp>
      <p:sp>
        <p:nvSpPr>
          <p:cNvPr id="86" name="Text 84"/>
          <p:cNvSpPr/>
          <p:nvPr/>
        </p:nvSpPr>
        <p:spPr>
          <a:xfrm>
            <a:off x="4800600" y="4069080"/>
            <a:ext cx="3931920" cy="201168"/>
          </a:xfrm>
          <a:prstGeom prst="rect">
            <a:avLst/>
          </a:prstGeom>
          <a:noFill/>
          <a:ln/>
        </p:spPr>
        <p:txBody>
          <a:bodyPr wrap="square" rtlCol="0" anchor="ctr"/>
          <a:lstStyle/>
          <a:p>
            <a:pPr marL="0" indent="0">
              <a:buNone/>
            </a:pPr>
            <a:r>
              <a:rPr lang="en-US" sz="850" i="1" dirty="0">
                <a:solidFill>
                  <a:srgbClr val="8FA8C8"/>
                </a:solidFill>
              </a:rPr>
              <a:t>AuthInterceptor attaches Bearer token  ·  ErrorInterceptor handles 401/403 auto-logout</a:t>
            </a:r>
            <a:endParaRPr lang="en-US" sz="850" dirty="0"/>
          </a:p>
        </p:txBody>
      </p:sp>
      <p:sp>
        <p:nvSpPr>
          <p:cNvPr id="87" name="Text 51">
            <a:extLst>
              <a:ext uri="{FF2B5EF4-FFF2-40B4-BE49-F238E27FC236}">
                <a16:creationId xmlns:a16="http://schemas.microsoft.com/office/drawing/2014/main" id="{6B7A9716-0113-4036-07C0-1FDA4701EC27}"/>
              </a:ext>
            </a:extLst>
          </p:cNvPr>
          <p:cNvSpPr/>
          <p:nvPr/>
        </p:nvSpPr>
        <p:spPr>
          <a:xfrm>
            <a:off x="7013448" y="2155874"/>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
        <p:nvSpPr>
          <p:cNvPr id="88" name="Shape 50">
            <a:extLst>
              <a:ext uri="{FF2B5EF4-FFF2-40B4-BE49-F238E27FC236}">
                <a16:creationId xmlns:a16="http://schemas.microsoft.com/office/drawing/2014/main" id="{76261BE6-F67D-03A2-A892-A41BFC5B44E6}"/>
              </a:ext>
            </a:extLst>
          </p:cNvPr>
          <p:cNvSpPr/>
          <p:nvPr/>
        </p:nvSpPr>
        <p:spPr>
          <a:xfrm>
            <a:off x="6263640" y="2513193"/>
            <a:ext cx="749808" cy="347472"/>
          </a:xfrm>
          <a:prstGeom prst="rect">
            <a:avLst/>
          </a:prstGeom>
          <a:solidFill>
            <a:srgbClr val="112240"/>
          </a:solidFill>
          <a:ln w="3810">
            <a:solidFill>
              <a:srgbClr val="0096B4"/>
            </a:solidFill>
            <a:prstDash val="solid"/>
          </a:ln>
        </p:spPr>
        <p:txBody>
          <a:bodyPr/>
          <a:lstStyle/>
          <a:p>
            <a:endParaRPr lang="en-IN"/>
          </a:p>
        </p:txBody>
      </p:sp>
      <p:sp>
        <p:nvSpPr>
          <p:cNvPr id="90" name="Text 51">
            <a:extLst>
              <a:ext uri="{FF2B5EF4-FFF2-40B4-BE49-F238E27FC236}">
                <a16:creationId xmlns:a16="http://schemas.microsoft.com/office/drawing/2014/main" id="{ACECE197-1A26-5477-84E1-8DF3B3533269}"/>
              </a:ext>
            </a:extLst>
          </p:cNvPr>
          <p:cNvSpPr/>
          <p:nvPr/>
        </p:nvSpPr>
        <p:spPr>
          <a:xfrm>
            <a:off x="6250979" y="2516710"/>
            <a:ext cx="749808" cy="347472"/>
          </a:xfrm>
          <a:prstGeom prst="rect">
            <a:avLst/>
          </a:prstGeom>
          <a:noFill/>
          <a:ln/>
        </p:spPr>
        <p:txBody>
          <a:bodyPr wrap="square" rtlCol="0" anchor="ctr"/>
          <a:lstStyle/>
          <a:p>
            <a:pPr marL="0" indent="0" algn="ctr">
              <a:buNone/>
            </a:pPr>
            <a:r>
              <a:rPr lang="en-US" sz="1400" b="1" dirty="0">
                <a:solidFill>
                  <a:srgbClr val="EF476F"/>
                </a:solidFill>
              </a:rPr>
              <a: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07 · KEY FEATURES</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What the System Can Do</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Shape 4"/>
          <p:cNvSpPr/>
          <p:nvPr/>
        </p:nvSpPr>
        <p:spPr>
          <a:xfrm>
            <a:off x="274320" y="1051560"/>
            <a:ext cx="2834640" cy="1938528"/>
          </a:xfrm>
          <a:prstGeom prst="rect">
            <a:avLst/>
          </a:prstGeom>
          <a:solidFill>
            <a:srgbClr val="1E4D8C"/>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7" name="Shape 5"/>
          <p:cNvSpPr/>
          <p:nvPr/>
        </p:nvSpPr>
        <p:spPr>
          <a:xfrm>
            <a:off x="274320" y="1051560"/>
            <a:ext cx="2834640" cy="64008"/>
          </a:xfrm>
          <a:prstGeom prst="rect">
            <a:avLst/>
          </a:prstGeom>
          <a:solidFill>
            <a:srgbClr val="00B4D8"/>
          </a:solidFill>
          <a:ln w="12700">
            <a:solidFill>
              <a:srgbClr val="00B4D8"/>
            </a:solidFill>
            <a:prstDash val="solid"/>
          </a:ln>
        </p:spPr>
        <p:txBody>
          <a:bodyPr/>
          <a:lstStyle/>
          <a:p>
            <a:endParaRPr lang="en-IN"/>
          </a:p>
        </p:txBody>
      </p:sp>
      <p:sp>
        <p:nvSpPr>
          <p:cNvPr id="8" name="Text 6"/>
          <p:cNvSpPr/>
          <p:nvPr/>
        </p:nvSpPr>
        <p:spPr>
          <a:xfrm>
            <a:off x="365760" y="1143000"/>
            <a:ext cx="2651760" cy="347472"/>
          </a:xfrm>
          <a:prstGeom prst="rect">
            <a:avLst/>
          </a:prstGeom>
          <a:noFill/>
          <a:ln/>
        </p:spPr>
        <p:txBody>
          <a:bodyPr wrap="square" rtlCol="0" anchor="ctr"/>
          <a:lstStyle/>
          <a:p>
            <a:pPr marL="0" indent="0">
              <a:buNone/>
            </a:pPr>
            <a:r>
              <a:rPr lang="en-US" sz="1100" b="1" dirty="0">
                <a:solidFill>
                  <a:srgbClr val="FFFFFF"/>
                </a:solidFill>
              </a:rPr>
              <a:t>📊  Analytics Dashboard</a:t>
            </a:r>
            <a:endParaRPr lang="en-US" sz="1100" dirty="0"/>
          </a:p>
        </p:txBody>
      </p:sp>
      <p:sp>
        <p:nvSpPr>
          <p:cNvPr id="9" name="Text 7"/>
          <p:cNvSpPr/>
          <p:nvPr/>
        </p:nvSpPr>
        <p:spPr>
          <a:xfrm>
            <a:off x="411480" y="1527048"/>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4 live KPI cards</a:t>
            </a:r>
            <a:endParaRPr lang="en-US" sz="1000" dirty="0"/>
          </a:p>
        </p:txBody>
      </p:sp>
      <p:sp>
        <p:nvSpPr>
          <p:cNvPr id="10" name="Text 8"/>
          <p:cNvSpPr/>
          <p:nvPr/>
        </p:nvSpPr>
        <p:spPr>
          <a:xfrm>
            <a:off x="411480" y="1856232"/>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Monthly revenue bar chart</a:t>
            </a:r>
            <a:endParaRPr lang="en-US" sz="1000" dirty="0"/>
          </a:p>
        </p:txBody>
      </p:sp>
      <p:sp>
        <p:nvSpPr>
          <p:cNvPr id="11" name="Text 9"/>
          <p:cNvSpPr/>
          <p:nvPr/>
        </p:nvSpPr>
        <p:spPr>
          <a:xfrm>
            <a:off x="411480" y="2185416"/>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Policy type donut chart</a:t>
            </a:r>
            <a:endParaRPr lang="en-US" sz="1000" dirty="0"/>
          </a:p>
        </p:txBody>
      </p:sp>
      <p:sp>
        <p:nvSpPr>
          <p:cNvPr id="12" name="Text 10"/>
          <p:cNvSpPr/>
          <p:nvPr/>
        </p:nvSpPr>
        <p:spPr>
          <a:xfrm>
            <a:off x="411480" y="2514600"/>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Expiring policy alerts</a:t>
            </a:r>
            <a:endParaRPr lang="en-US" sz="1000" dirty="0"/>
          </a:p>
        </p:txBody>
      </p:sp>
      <p:sp>
        <p:nvSpPr>
          <p:cNvPr id="13" name="Shape 11"/>
          <p:cNvSpPr/>
          <p:nvPr/>
        </p:nvSpPr>
        <p:spPr>
          <a:xfrm>
            <a:off x="3246120" y="1051560"/>
            <a:ext cx="2834640" cy="1938528"/>
          </a:xfrm>
          <a:prstGeom prst="rect">
            <a:avLst/>
          </a:prstGeom>
          <a:solidFill>
            <a:srgbClr val="174F7A"/>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14" name="Shape 12"/>
          <p:cNvSpPr/>
          <p:nvPr/>
        </p:nvSpPr>
        <p:spPr>
          <a:xfrm>
            <a:off x="3246120" y="1051560"/>
            <a:ext cx="2834640" cy="64008"/>
          </a:xfrm>
          <a:prstGeom prst="rect">
            <a:avLst/>
          </a:prstGeom>
          <a:solidFill>
            <a:srgbClr val="00B4D8"/>
          </a:solidFill>
          <a:ln w="12700">
            <a:solidFill>
              <a:srgbClr val="00B4D8"/>
            </a:solidFill>
            <a:prstDash val="solid"/>
          </a:ln>
        </p:spPr>
        <p:txBody>
          <a:bodyPr/>
          <a:lstStyle/>
          <a:p>
            <a:endParaRPr lang="en-IN"/>
          </a:p>
        </p:txBody>
      </p:sp>
      <p:sp>
        <p:nvSpPr>
          <p:cNvPr id="15" name="Text 13"/>
          <p:cNvSpPr/>
          <p:nvPr/>
        </p:nvSpPr>
        <p:spPr>
          <a:xfrm>
            <a:off x="3337560" y="1143000"/>
            <a:ext cx="2651760" cy="347472"/>
          </a:xfrm>
          <a:prstGeom prst="rect">
            <a:avLst/>
          </a:prstGeom>
          <a:noFill/>
          <a:ln/>
        </p:spPr>
        <p:txBody>
          <a:bodyPr wrap="square" rtlCol="0" anchor="ctr"/>
          <a:lstStyle/>
          <a:p>
            <a:pPr marL="0" indent="0">
              <a:buNone/>
            </a:pPr>
            <a:r>
              <a:rPr lang="en-US" sz="1100" b="1" dirty="0">
                <a:solidFill>
                  <a:srgbClr val="FFFFFF"/>
                </a:solidFill>
              </a:rPr>
              <a:t>📄  Policy Management</a:t>
            </a:r>
            <a:endParaRPr lang="en-US" sz="1100" dirty="0"/>
          </a:p>
        </p:txBody>
      </p:sp>
      <p:sp>
        <p:nvSpPr>
          <p:cNvPr id="16" name="Text 14"/>
          <p:cNvSpPr/>
          <p:nvPr/>
        </p:nvSpPr>
        <p:spPr>
          <a:xfrm>
            <a:off x="3383280" y="1527048"/>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Create with live premium calc</a:t>
            </a:r>
            <a:endParaRPr lang="en-US" sz="1000" dirty="0"/>
          </a:p>
        </p:txBody>
      </p:sp>
      <p:sp>
        <p:nvSpPr>
          <p:cNvPr id="17" name="Text 15"/>
          <p:cNvSpPr/>
          <p:nvPr/>
        </p:nvSpPr>
        <p:spPr>
          <a:xfrm>
            <a:off x="3383280" y="1856232"/>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Issue, Renew, Cancel actions</a:t>
            </a:r>
            <a:endParaRPr lang="en-US" sz="1000" dirty="0"/>
          </a:p>
        </p:txBody>
      </p:sp>
      <p:sp>
        <p:nvSpPr>
          <p:cNvPr id="18" name="Text 16"/>
          <p:cNvSpPr/>
          <p:nvPr/>
        </p:nvSpPr>
        <p:spPr>
          <a:xfrm>
            <a:off x="3383280" y="2185416"/>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NCB + add-on coverage</a:t>
            </a:r>
            <a:endParaRPr lang="en-US" sz="1000" dirty="0"/>
          </a:p>
        </p:txBody>
      </p:sp>
      <p:sp>
        <p:nvSpPr>
          <p:cNvPr id="19" name="Text 17"/>
          <p:cNvSpPr/>
          <p:nvPr/>
        </p:nvSpPr>
        <p:spPr>
          <a:xfrm>
            <a:off x="3383280" y="2514600"/>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Full payment history</a:t>
            </a:r>
            <a:endParaRPr lang="en-US" sz="1000" dirty="0"/>
          </a:p>
        </p:txBody>
      </p:sp>
      <p:sp>
        <p:nvSpPr>
          <p:cNvPr id="20" name="Shape 18"/>
          <p:cNvSpPr/>
          <p:nvPr/>
        </p:nvSpPr>
        <p:spPr>
          <a:xfrm>
            <a:off x="6217920" y="1051560"/>
            <a:ext cx="2834640" cy="1938528"/>
          </a:xfrm>
          <a:prstGeom prst="rect">
            <a:avLst/>
          </a:prstGeom>
          <a:solidFill>
            <a:srgbClr val="113D60"/>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21" name="Shape 19"/>
          <p:cNvSpPr/>
          <p:nvPr/>
        </p:nvSpPr>
        <p:spPr>
          <a:xfrm>
            <a:off x="6217920" y="1051560"/>
            <a:ext cx="2834640" cy="64008"/>
          </a:xfrm>
          <a:prstGeom prst="rect">
            <a:avLst/>
          </a:prstGeom>
          <a:solidFill>
            <a:srgbClr val="00B4D8"/>
          </a:solidFill>
          <a:ln w="12700">
            <a:solidFill>
              <a:srgbClr val="00B4D8"/>
            </a:solidFill>
            <a:prstDash val="solid"/>
          </a:ln>
        </p:spPr>
        <p:txBody>
          <a:bodyPr/>
          <a:lstStyle/>
          <a:p>
            <a:endParaRPr lang="en-IN"/>
          </a:p>
        </p:txBody>
      </p:sp>
      <p:sp>
        <p:nvSpPr>
          <p:cNvPr id="22" name="Text 20"/>
          <p:cNvSpPr/>
          <p:nvPr/>
        </p:nvSpPr>
        <p:spPr>
          <a:xfrm>
            <a:off x="6309360" y="1143000"/>
            <a:ext cx="2651760" cy="347472"/>
          </a:xfrm>
          <a:prstGeom prst="rect">
            <a:avLst/>
          </a:prstGeom>
          <a:noFill/>
          <a:ln/>
        </p:spPr>
        <p:txBody>
          <a:bodyPr wrap="square" rtlCol="0" anchor="ctr"/>
          <a:lstStyle/>
          <a:p>
            <a:pPr marL="0" indent="0">
              <a:buNone/>
            </a:pPr>
            <a:r>
              <a:rPr lang="en-US" sz="1100" b="1" dirty="0">
                <a:solidFill>
                  <a:srgbClr val="FFFFFF"/>
                </a:solidFill>
              </a:rPr>
              <a:t>⚖️  Claims Workflow</a:t>
            </a:r>
            <a:endParaRPr lang="en-US" sz="1100" dirty="0"/>
          </a:p>
        </p:txBody>
      </p:sp>
      <p:sp>
        <p:nvSpPr>
          <p:cNvPr id="23" name="Text 21"/>
          <p:cNvSpPr/>
          <p:nvPr/>
        </p:nvSpPr>
        <p:spPr>
          <a:xfrm>
            <a:off x="6355080" y="1527048"/>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Status counter quick-filters</a:t>
            </a:r>
            <a:endParaRPr lang="en-US" sz="1000" dirty="0"/>
          </a:p>
        </p:txBody>
      </p:sp>
      <p:sp>
        <p:nvSpPr>
          <p:cNvPr id="24" name="Text 22"/>
          <p:cNvSpPr/>
          <p:nvPr/>
        </p:nvSpPr>
        <p:spPr>
          <a:xfrm>
            <a:off x="6355080" y="1856232"/>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Document upload system</a:t>
            </a:r>
            <a:endParaRPr lang="en-US" sz="1000" dirty="0"/>
          </a:p>
        </p:txBody>
      </p:sp>
      <p:sp>
        <p:nvSpPr>
          <p:cNvPr id="25" name="Text 23"/>
          <p:cNvSpPr/>
          <p:nvPr/>
        </p:nvSpPr>
        <p:spPr>
          <a:xfrm>
            <a:off x="6355080" y="2185416"/>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Fraud risk score display</a:t>
            </a:r>
            <a:endParaRPr lang="en-US" sz="1000" dirty="0"/>
          </a:p>
        </p:txBody>
      </p:sp>
      <p:sp>
        <p:nvSpPr>
          <p:cNvPr id="26" name="Text 24"/>
          <p:cNvSpPr/>
          <p:nvPr/>
        </p:nvSpPr>
        <p:spPr>
          <a:xfrm>
            <a:off x="6355080" y="2514600"/>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Approve / Reject / Settle</a:t>
            </a:r>
            <a:endParaRPr lang="en-US" sz="1000" dirty="0"/>
          </a:p>
        </p:txBody>
      </p:sp>
      <p:sp>
        <p:nvSpPr>
          <p:cNvPr id="41" name="Shape 39"/>
          <p:cNvSpPr/>
          <p:nvPr/>
        </p:nvSpPr>
        <p:spPr>
          <a:xfrm>
            <a:off x="3268980" y="3122676"/>
            <a:ext cx="2834640" cy="1938528"/>
          </a:xfrm>
          <a:prstGeom prst="rect">
            <a:avLst/>
          </a:prstGeom>
          <a:solidFill>
            <a:srgbClr val="051B2C"/>
          </a:solidFill>
          <a:ln w="12700">
            <a:solidFill>
              <a:srgbClr val="00B4D8"/>
            </a:solidFill>
            <a:prstDash val="solid"/>
          </a:ln>
          <a:effectLst>
            <a:outerShdw blurRad="101600" dist="38100" dir="8100000" algn="bl" rotWithShape="0">
              <a:srgbClr val="000000">
                <a:alpha val="20000"/>
              </a:srgbClr>
            </a:outerShdw>
          </a:effectLst>
        </p:spPr>
        <p:txBody>
          <a:bodyPr/>
          <a:lstStyle/>
          <a:p>
            <a:endParaRPr lang="en-IN"/>
          </a:p>
        </p:txBody>
      </p:sp>
      <p:sp>
        <p:nvSpPr>
          <p:cNvPr id="43" name="Text 41"/>
          <p:cNvSpPr/>
          <p:nvPr/>
        </p:nvSpPr>
        <p:spPr>
          <a:xfrm>
            <a:off x="3337560" y="3197586"/>
            <a:ext cx="2651760" cy="347472"/>
          </a:xfrm>
          <a:prstGeom prst="rect">
            <a:avLst/>
          </a:prstGeom>
          <a:noFill/>
          <a:ln/>
        </p:spPr>
        <p:txBody>
          <a:bodyPr wrap="square" rtlCol="0" anchor="ctr"/>
          <a:lstStyle/>
          <a:p>
            <a:pPr marL="0" indent="0">
              <a:buNone/>
            </a:pPr>
            <a:r>
              <a:rPr lang="en-US" sz="1100" b="1" dirty="0">
                <a:solidFill>
                  <a:srgbClr val="FFFFFF"/>
                </a:solidFill>
              </a:rPr>
              <a:t>👥  User Management</a:t>
            </a:r>
            <a:endParaRPr lang="en-US" sz="1100" dirty="0"/>
          </a:p>
        </p:txBody>
      </p:sp>
      <p:sp>
        <p:nvSpPr>
          <p:cNvPr id="44" name="Text 42"/>
          <p:cNvSpPr/>
          <p:nvPr/>
        </p:nvSpPr>
        <p:spPr>
          <a:xfrm>
            <a:off x="3383280" y="3584448"/>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Full user table + search</a:t>
            </a:r>
            <a:endParaRPr lang="en-US" sz="1000" dirty="0"/>
          </a:p>
        </p:txBody>
      </p:sp>
      <p:sp>
        <p:nvSpPr>
          <p:cNvPr id="45" name="Text 43"/>
          <p:cNvSpPr/>
          <p:nvPr/>
        </p:nvSpPr>
        <p:spPr>
          <a:xfrm>
            <a:off x="3383280" y="3931920"/>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Role filter (4 roles)</a:t>
            </a:r>
            <a:endParaRPr lang="en-US" sz="1000" dirty="0"/>
          </a:p>
        </p:txBody>
      </p:sp>
      <p:sp>
        <p:nvSpPr>
          <p:cNvPr id="46" name="Text 44"/>
          <p:cNvSpPr/>
          <p:nvPr/>
        </p:nvSpPr>
        <p:spPr>
          <a:xfrm>
            <a:off x="3383280" y="4279392"/>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Toggle active/inactive</a:t>
            </a:r>
            <a:endParaRPr lang="en-US" sz="1000" dirty="0"/>
          </a:p>
        </p:txBody>
      </p:sp>
      <p:sp>
        <p:nvSpPr>
          <p:cNvPr id="47" name="Text 45"/>
          <p:cNvSpPr/>
          <p:nvPr/>
        </p:nvSpPr>
        <p:spPr>
          <a:xfrm>
            <a:off x="3383280" y="4607169"/>
            <a:ext cx="2606040" cy="292608"/>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90E0EF"/>
                </a:solidFill>
              </a:rPr>
              <a:t>Admin-only access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50292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475488" y="182880"/>
            <a:ext cx="4572000" cy="256032"/>
          </a:xfrm>
          <a:prstGeom prst="rect">
            <a:avLst/>
          </a:prstGeom>
          <a:noFill/>
          <a:ln/>
        </p:spPr>
        <p:txBody>
          <a:bodyPr wrap="square" lIns="0" tIns="0" rIns="0" bIns="0" rtlCol="0" anchor="ctr"/>
          <a:lstStyle/>
          <a:p>
            <a:pPr marL="0" indent="0">
              <a:buNone/>
            </a:pPr>
            <a:r>
              <a:rPr lang="en-US" sz="1000" b="1" kern="0" spc="200" dirty="0">
                <a:solidFill>
                  <a:srgbClr val="00B4D8"/>
                </a:solidFill>
              </a:rPr>
              <a:t>08 · SUMMARY &amp; LEARNINGS</a:t>
            </a:r>
            <a:endParaRPr lang="en-US" sz="1000" dirty="0"/>
          </a:p>
        </p:txBody>
      </p:sp>
      <p:sp>
        <p:nvSpPr>
          <p:cNvPr id="4" name="Text 2"/>
          <p:cNvSpPr/>
          <p:nvPr/>
        </p:nvSpPr>
        <p:spPr>
          <a:xfrm>
            <a:off x="475488" y="420624"/>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What Was Built &amp; What Was Learned</a:t>
            </a:r>
            <a:endParaRPr lang="en-US" sz="2600" dirty="0"/>
          </a:p>
        </p:txBody>
      </p:sp>
      <p:sp>
        <p:nvSpPr>
          <p:cNvPr id="5" name="Shape 3"/>
          <p:cNvSpPr/>
          <p:nvPr/>
        </p:nvSpPr>
        <p:spPr>
          <a:xfrm>
            <a:off x="320040" y="932688"/>
            <a:ext cx="8503920" cy="0"/>
          </a:xfrm>
          <a:prstGeom prst="line">
            <a:avLst/>
          </a:prstGeom>
          <a:noFill/>
          <a:ln w="12700">
            <a:solidFill>
              <a:srgbClr val="1E4D8C"/>
            </a:solidFill>
            <a:prstDash val="solid"/>
          </a:ln>
        </p:spPr>
        <p:txBody>
          <a:bodyPr/>
          <a:lstStyle/>
          <a:p>
            <a:endParaRPr lang="en-IN"/>
          </a:p>
        </p:txBody>
      </p:sp>
      <p:sp>
        <p:nvSpPr>
          <p:cNvPr id="6" name="Shape 4"/>
          <p:cNvSpPr/>
          <p:nvPr/>
        </p:nvSpPr>
        <p:spPr>
          <a:xfrm>
            <a:off x="274320" y="1051560"/>
            <a:ext cx="2651760" cy="338328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a:p>
        </p:txBody>
      </p:sp>
      <p:sp>
        <p:nvSpPr>
          <p:cNvPr id="7" name="Text 5"/>
          <p:cNvSpPr/>
          <p:nvPr/>
        </p:nvSpPr>
        <p:spPr>
          <a:xfrm>
            <a:off x="365760" y="1115568"/>
            <a:ext cx="2468880" cy="320040"/>
          </a:xfrm>
          <a:prstGeom prst="rect">
            <a:avLst/>
          </a:prstGeom>
          <a:noFill/>
          <a:ln/>
        </p:spPr>
        <p:txBody>
          <a:bodyPr wrap="square" rtlCol="0" anchor="ctr"/>
          <a:lstStyle/>
          <a:p>
            <a:pPr marL="0" indent="0">
              <a:buNone/>
            </a:pPr>
            <a:r>
              <a:rPr lang="en-US" sz="1200" b="1" dirty="0">
                <a:solidFill>
                  <a:srgbClr val="00B4D8"/>
                </a:solidFill>
              </a:rPr>
              <a:t>🏗️  What Was Built</a:t>
            </a:r>
            <a:endParaRPr lang="en-US" sz="1200" dirty="0"/>
          </a:p>
        </p:txBody>
      </p:sp>
      <p:sp>
        <p:nvSpPr>
          <p:cNvPr id="8" name="Text 6"/>
          <p:cNvSpPr/>
          <p:nvPr/>
        </p:nvSpPr>
        <p:spPr>
          <a:xfrm>
            <a:off x="365760" y="1508760"/>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Full-stack app: Angular 20 + .NET 8 + SQL Server</a:t>
            </a:r>
            <a:endParaRPr lang="en-US" sz="1100" dirty="0"/>
          </a:p>
        </p:txBody>
      </p:sp>
      <p:sp>
        <p:nvSpPr>
          <p:cNvPr id="9" name="Text 7"/>
          <p:cNvSpPr/>
          <p:nvPr/>
        </p:nvSpPr>
        <p:spPr>
          <a:xfrm>
            <a:off x="365760" y="1856232"/>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Clean Architecture with 4 distinct layers</a:t>
            </a:r>
            <a:endParaRPr lang="en-US" sz="1100" dirty="0"/>
          </a:p>
        </p:txBody>
      </p:sp>
      <p:sp>
        <p:nvSpPr>
          <p:cNvPr id="10" name="Text 8"/>
          <p:cNvSpPr/>
          <p:nvPr/>
        </p:nvSpPr>
        <p:spPr>
          <a:xfrm>
            <a:off x="365760" y="2203704"/>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3 custom business engines (premium, fraud, risk)</a:t>
            </a:r>
            <a:endParaRPr lang="en-US" sz="1100" dirty="0"/>
          </a:p>
        </p:txBody>
      </p:sp>
      <p:sp>
        <p:nvSpPr>
          <p:cNvPr id="11" name="Text 9"/>
          <p:cNvSpPr/>
          <p:nvPr/>
        </p:nvSpPr>
        <p:spPr>
          <a:xfrm>
            <a:off x="365760" y="2551176"/>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JWT + RBAC security across frontend &amp; backend</a:t>
            </a:r>
            <a:endParaRPr lang="en-US" sz="1100" dirty="0"/>
          </a:p>
        </p:txBody>
      </p:sp>
      <p:sp>
        <p:nvSpPr>
          <p:cNvPr id="12" name="Text 10"/>
          <p:cNvSpPr/>
          <p:nvPr/>
        </p:nvSpPr>
        <p:spPr>
          <a:xfrm>
            <a:off x="365760" y="2898648"/>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Signal-based reactive state in Angular (modern)</a:t>
            </a:r>
            <a:endParaRPr lang="en-US" sz="1100" dirty="0"/>
          </a:p>
        </p:txBody>
      </p:sp>
      <p:sp>
        <p:nvSpPr>
          <p:cNvPr id="13" name="Text 11"/>
          <p:cNvSpPr/>
          <p:nvPr/>
        </p:nvSpPr>
        <p:spPr>
          <a:xfrm>
            <a:off x="365760" y="3246120"/>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Lazy-loaded routes with role-based guards</a:t>
            </a:r>
            <a:endParaRPr lang="en-US" sz="1100" dirty="0"/>
          </a:p>
        </p:txBody>
      </p:sp>
      <p:sp>
        <p:nvSpPr>
          <p:cNvPr id="14" name="Text 12"/>
          <p:cNvSpPr/>
          <p:nvPr/>
        </p:nvSpPr>
        <p:spPr>
          <a:xfrm>
            <a:off x="365760" y="3593592"/>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36 Angular standalone component files</a:t>
            </a:r>
            <a:endParaRPr lang="en-US" sz="1100" dirty="0"/>
          </a:p>
        </p:txBody>
      </p:sp>
      <p:sp>
        <p:nvSpPr>
          <p:cNvPr id="15" name="Text 13"/>
          <p:cNvSpPr/>
          <p:nvPr/>
        </p:nvSpPr>
        <p:spPr>
          <a:xfrm>
            <a:off x="365760" y="3941064"/>
            <a:ext cx="2468880" cy="310896"/>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EF Core with navigation properties (no raw SQL)</a:t>
            </a:r>
            <a:endParaRPr lang="en-US" sz="1100" dirty="0"/>
          </a:p>
        </p:txBody>
      </p:sp>
      <p:sp>
        <p:nvSpPr>
          <p:cNvPr id="16" name="Shape 14"/>
          <p:cNvSpPr/>
          <p:nvPr/>
        </p:nvSpPr>
        <p:spPr>
          <a:xfrm>
            <a:off x="3172968" y="1056484"/>
            <a:ext cx="2834640" cy="338328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a:p>
        </p:txBody>
      </p:sp>
      <p:sp>
        <p:nvSpPr>
          <p:cNvPr id="17" name="Text 15"/>
          <p:cNvSpPr/>
          <p:nvPr/>
        </p:nvSpPr>
        <p:spPr>
          <a:xfrm>
            <a:off x="3246120" y="1115568"/>
            <a:ext cx="2651760" cy="320040"/>
          </a:xfrm>
          <a:prstGeom prst="rect">
            <a:avLst/>
          </a:prstGeom>
          <a:noFill/>
          <a:ln/>
        </p:spPr>
        <p:txBody>
          <a:bodyPr wrap="square" rtlCol="0" anchor="ctr"/>
          <a:lstStyle/>
          <a:p>
            <a:pPr marL="0" indent="0">
              <a:buNone/>
            </a:pPr>
            <a:r>
              <a:rPr lang="en-US" sz="1200" b="1" dirty="0">
                <a:solidFill>
                  <a:srgbClr val="FFB703"/>
                </a:solidFill>
              </a:rPr>
              <a:t>💡  Key Learnings</a:t>
            </a:r>
            <a:endParaRPr lang="en-US" sz="1200" dirty="0"/>
          </a:p>
        </p:txBody>
      </p:sp>
      <p:sp>
        <p:nvSpPr>
          <p:cNvPr id="18" name="Shape 16"/>
          <p:cNvSpPr/>
          <p:nvPr/>
        </p:nvSpPr>
        <p:spPr>
          <a:xfrm>
            <a:off x="3246120" y="1508760"/>
            <a:ext cx="2651760" cy="566928"/>
          </a:xfrm>
          <a:prstGeom prst="rect">
            <a:avLst/>
          </a:prstGeom>
          <a:solidFill>
            <a:srgbClr val="0D2137"/>
          </a:solidFill>
          <a:ln w="8890">
            <a:solidFill>
              <a:srgbClr val="FFB703"/>
            </a:solidFill>
            <a:prstDash val="solid"/>
          </a:ln>
        </p:spPr>
        <p:txBody>
          <a:bodyPr/>
          <a:lstStyle/>
          <a:p>
            <a:endParaRPr lang="en-IN"/>
          </a:p>
        </p:txBody>
      </p:sp>
      <p:sp>
        <p:nvSpPr>
          <p:cNvPr id="19" name="Text 17"/>
          <p:cNvSpPr/>
          <p:nvPr/>
        </p:nvSpPr>
        <p:spPr>
          <a:xfrm>
            <a:off x="3337560" y="1508760"/>
            <a:ext cx="2468880" cy="566928"/>
          </a:xfrm>
          <a:prstGeom prst="rect">
            <a:avLst/>
          </a:prstGeom>
          <a:noFill/>
          <a:ln/>
        </p:spPr>
        <p:txBody>
          <a:bodyPr wrap="square" rtlCol="0" anchor="ctr"/>
          <a:lstStyle/>
          <a:p>
            <a:pPr marL="0" indent="0">
              <a:buNone/>
            </a:pPr>
            <a:r>
              <a:rPr lang="en-US" sz="1300" b="1" dirty="0">
                <a:solidFill>
                  <a:srgbClr val="FFB703"/>
                </a:solidFill>
              </a:rPr>
              <a:t>1  </a:t>
            </a:r>
            <a:r>
              <a:rPr lang="en-US" sz="1000" dirty="0">
                <a:solidFill>
                  <a:srgbClr val="FFFFFF"/>
                </a:solidFill>
              </a:rPr>
              <a:t>Clean Architecture at scale separates concerns cleanly</a:t>
            </a:r>
            <a:endParaRPr lang="en-US" sz="1300" dirty="0"/>
          </a:p>
        </p:txBody>
      </p:sp>
      <p:sp>
        <p:nvSpPr>
          <p:cNvPr id="22" name="Shape 20"/>
          <p:cNvSpPr/>
          <p:nvPr/>
        </p:nvSpPr>
        <p:spPr>
          <a:xfrm>
            <a:off x="3264408" y="2290924"/>
            <a:ext cx="2651760" cy="566928"/>
          </a:xfrm>
          <a:prstGeom prst="rect">
            <a:avLst/>
          </a:prstGeom>
          <a:solidFill>
            <a:srgbClr val="0D2137"/>
          </a:solidFill>
          <a:ln w="8890">
            <a:solidFill>
              <a:srgbClr val="FFB703"/>
            </a:solidFill>
            <a:prstDash val="solid"/>
          </a:ln>
        </p:spPr>
        <p:txBody>
          <a:bodyPr/>
          <a:lstStyle/>
          <a:p>
            <a:endParaRPr lang="en-IN"/>
          </a:p>
        </p:txBody>
      </p:sp>
      <p:sp>
        <p:nvSpPr>
          <p:cNvPr id="23" name="Text 21"/>
          <p:cNvSpPr/>
          <p:nvPr/>
        </p:nvSpPr>
        <p:spPr>
          <a:xfrm>
            <a:off x="3337560" y="2299716"/>
            <a:ext cx="2468880" cy="566928"/>
          </a:xfrm>
          <a:prstGeom prst="rect">
            <a:avLst/>
          </a:prstGeom>
          <a:noFill/>
          <a:ln/>
        </p:spPr>
        <p:txBody>
          <a:bodyPr wrap="square" rtlCol="0" anchor="ctr"/>
          <a:lstStyle/>
          <a:p>
            <a:pPr marL="0" indent="0">
              <a:buNone/>
            </a:pPr>
            <a:r>
              <a:rPr lang="en-US" sz="1300" b="1" dirty="0">
                <a:solidFill>
                  <a:srgbClr val="FFB703"/>
                </a:solidFill>
              </a:rPr>
              <a:t>2  </a:t>
            </a:r>
            <a:r>
              <a:rPr lang="en-US" sz="1000" dirty="0">
                <a:solidFill>
                  <a:srgbClr val="FFFFFF"/>
                </a:solidFill>
              </a:rPr>
              <a:t>EF Core Include() chaining avoids N+1 query problems</a:t>
            </a:r>
            <a:endParaRPr lang="en-US" sz="1300" dirty="0"/>
          </a:p>
        </p:txBody>
      </p:sp>
      <p:sp>
        <p:nvSpPr>
          <p:cNvPr id="24" name="Shape 22"/>
          <p:cNvSpPr/>
          <p:nvPr/>
        </p:nvSpPr>
        <p:spPr>
          <a:xfrm>
            <a:off x="3264408" y="2995715"/>
            <a:ext cx="2651760" cy="566928"/>
          </a:xfrm>
          <a:prstGeom prst="rect">
            <a:avLst/>
          </a:prstGeom>
          <a:solidFill>
            <a:srgbClr val="0D2137"/>
          </a:solidFill>
          <a:ln w="8890">
            <a:solidFill>
              <a:srgbClr val="FFB703"/>
            </a:solidFill>
            <a:prstDash val="solid"/>
          </a:ln>
        </p:spPr>
        <p:txBody>
          <a:bodyPr/>
          <a:lstStyle/>
          <a:p>
            <a:endParaRPr lang="en-IN"/>
          </a:p>
        </p:txBody>
      </p:sp>
      <p:sp>
        <p:nvSpPr>
          <p:cNvPr id="25" name="Text 23"/>
          <p:cNvSpPr/>
          <p:nvPr/>
        </p:nvSpPr>
        <p:spPr>
          <a:xfrm>
            <a:off x="3337560" y="2990440"/>
            <a:ext cx="2468880" cy="566928"/>
          </a:xfrm>
          <a:prstGeom prst="rect">
            <a:avLst/>
          </a:prstGeom>
          <a:noFill/>
          <a:ln/>
        </p:spPr>
        <p:txBody>
          <a:bodyPr wrap="square" rtlCol="0" anchor="ctr"/>
          <a:lstStyle/>
          <a:p>
            <a:pPr marL="0" indent="0">
              <a:buNone/>
            </a:pPr>
            <a:r>
              <a:rPr lang="en-US" sz="1300" b="1" dirty="0">
                <a:solidFill>
                  <a:srgbClr val="FFB703"/>
                </a:solidFill>
              </a:rPr>
              <a:t>3  </a:t>
            </a:r>
            <a:r>
              <a:rPr lang="en-US" sz="1000" dirty="0">
                <a:solidFill>
                  <a:srgbClr val="FFFFFF"/>
                </a:solidFill>
              </a:rPr>
              <a:t>Fraud detection must be composite — no single flag is sufficient</a:t>
            </a:r>
            <a:endParaRPr lang="en-US" sz="1300" dirty="0"/>
          </a:p>
        </p:txBody>
      </p:sp>
      <p:sp>
        <p:nvSpPr>
          <p:cNvPr id="26" name="Shape 24"/>
          <p:cNvSpPr/>
          <p:nvPr/>
        </p:nvSpPr>
        <p:spPr>
          <a:xfrm>
            <a:off x="6217920" y="1051560"/>
            <a:ext cx="2606040" cy="3383280"/>
          </a:xfrm>
          <a:prstGeom prst="rect">
            <a:avLst/>
          </a:prstGeom>
          <a:solidFill>
            <a:srgbClr val="112240"/>
          </a:solidFill>
          <a:ln w="12700">
            <a:solidFill>
              <a:srgbClr val="1E4D8C"/>
            </a:solidFill>
            <a:prstDash val="solid"/>
          </a:ln>
          <a:effectLst>
            <a:outerShdw blurRad="101600" dist="38100" dir="8100000" algn="bl" rotWithShape="0">
              <a:srgbClr val="000000">
                <a:alpha val="20000"/>
              </a:srgbClr>
            </a:outerShdw>
          </a:effectLst>
        </p:spPr>
        <p:txBody>
          <a:bodyPr/>
          <a:lstStyle/>
          <a:p>
            <a:endParaRPr lang="en-IN"/>
          </a:p>
        </p:txBody>
      </p:sp>
      <p:sp>
        <p:nvSpPr>
          <p:cNvPr id="27" name="Text 25"/>
          <p:cNvSpPr/>
          <p:nvPr/>
        </p:nvSpPr>
        <p:spPr>
          <a:xfrm>
            <a:off x="6309360" y="1115568"/>
            <a:ext cx="2423160" cy="320040"/>
          </a:xfrm>
          <a:prstGeom prst="rect">
            <a:avLst/>
          </a:prstGeom>
          <a:noFill/>
          <a:ln/>
        </p:spPr>
        <p:txBody>
          <a:bodyPr wrap="square" rtlCol="0" anchor="ctr"/>
          <a:lstStyle/>
          <a:p>
            <a:pPr marL="0" indent="0">
              <a:buNone/>
            </a:pPr>
            <a:r>
              <a:rPr lang="en-US" sz="1200" b="1" dirty="0">
                <a:solidFill>
                  <a:srgbClr val="06D6A0"/>
                </a:solidFill>
              </a:rPr>
              <a:t>🚀  Future Scope</a:t>
            </a:r>
            <a:endParaRPr lang="en-US" sz="1200" dirty="0"/>
          </a:p>
        </p:txBody>
      </p:sp>
      <p:sp>
        <p:nvSpPr>
          <p:cNvPr id="28" name="Shape 26"/>
          <p:cNvSpPr/>
          <p:nvPr/>
        </p:nvSpPr>
        <p:spPr>
          <a:xfrm>
            <a:off x="6309360" y="1508760"/>
            <a:ext cx="2423160" cy="457200"/>
          </a:xfrm>
          <a:prstGeom prst="roundRect">
            <a:avLst>
              <a:gd name="adj" fmla="val 10000"/>
            </a:avLst>
          </a:prstGeom>
          <a:solidFill>
            <a:srgbClr val="0B3020"/>
          </a:solidFill>
          <a:ln w="10160">
            <a:solidFill>
              <a:srgbClr val="06D6A0"/>
            </a:solidFill>
            <a:prstDash val="solid"/>
          </a:ln>
        </p:spPr>
        <p:txBody>
          <a:bodyPr/>
          <a:lstStyle/>
          <a:p>
            <a:endParaRPr lang="en-IN"/>
          </a:p>
        </p:txBody>
      </p:sp>
      <p:sp>
        <p:nvSpPr>
          <p:cNvPr id="29" name="Text 27"/>
          <p:cNvSpPr/>
          <p:nvPr/>
        </p:nvSpPr>
        <p:spPr>
          <a:xfrm>
            <a:off x="6400800" y="1508760"/>
            <a:ext cx="2286000" cy="457200"/>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Real-time notifications via SignalR WebSockets</a:t>
            </a:r>
            <a:endParaRPr lang="en-US" sz="1100" dirty="0"/>
          </a:p>
        </p:txBody>
      </p:sp>
      <p:sp>
        <p:nvSpPr>
          <p:cNvPr id="30" name="Shape 28"/>
          <p:cNvSpPr/>
          <p:nvPr/>
        </p:nvSpPr>
        <p:spPr>
          <a:xfrm>
            <a:off x="6309360" y="2057400"/>
            <a:ext cx="2423160" cy="457200"/>
          </a:xfrm>
          <a:prstGeom prst="roundRect">
            <a:avLst>
              <a:gd name="adj" fmla="val 10000"/>
            </a:avLst>
          </a:prstGeom>
          <a:solidFill>
            <a:srgbClr val="0D2137"/>
          </a:solidFill>
          <a:ln w="10160">
            <a:solidFill>
              <a:srgbClr val="06D6A0"/>
            </a:solidFill>
            <a:prstDash val="solid"/>
          </a:ln>
        </p:spPr>
        <p:txBody>
          <a:bodyPr/>
          <a:lstStyle/>
          <a:p>
            <a:endParaRPr lang="en-IN"/>
          </a:p>
        </p:txBody>
      </p:sp>
      <p:sp>
        <p:nvSpPr>
          <p:cNvPr id="31" name="Text 29"/>
          <p:cNvSpPr/>
          <p:nvPr/>
        </p:nvSpPr>
        <p:spPr>
          <a:xfrm>
            <a:off x="6400800" y="2057400"/>
            <a:ext cx="2286000" cy="457200"/>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ML-based dynamic fraud scoring</a:t>
            </a:r>
            <a:endParaRPr lang="en-US" sz="1100" dirty="0"/>
          </a:p>
        </p:txBody>
      </p:sp>
      <p:sp>
        <p:nvSpPr>
          <p:cNvPr id="32" name="Shape 30"/>
          <p:cNvSpPr/>
          <p:nvPr/>
        </p:nvSpPr>
        <p:spPr>
          <a:xfrm>
            <a:off x="6309360" y="2606040"/>
            <a:ext cx="2423160" cy="457200"/>
          </a:xfrm>
          <a:prstGeom prst="roundRect">
            <a:avLst>
              <a:gd name="adj" fmla="val 10000"/>
            </a:avLst>
          </a:prstGeom>
          <a:solidFill>
            <a:srgbClr val="0B3020"/>
          </a:solidFill>
          <a:ln w="10160">
            <a:solidFill>
              <a:srgbClr val="06D6A0"/>
            </a:solidFill>
            <a:prstDash val="solid"/>
          </a:ln>
        </p:spPr>
        <p:txBody>
          <a:bodyPr/>
          <a:lstStyle/>
          <a:p>
            <a:endParaRPr lang="en-IN"/>
          </a:p>
        </p:txBody>
      </p:sp>
      <p:sp>
        <p:nvSpPr>
          <p:cNvPr id="33" name="Text 31"/>
          <p:cNvSpPr/>
          <p:nvPr/>
        </p:nvSpPr>
        <p:spPr>
          <a:xfrm>
            <a:off x="6400800" y="2606040"/>
            <a:ext cx="2286000" cy="457200"/>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Mobile app with Angular Capacitor</a:t>
            </a:r>
            <a:endParaRPr lang="en-US" sz="1100" dirty="0"/>
          </a:p>
        </p:txBody>
      </p:sp>
      <p:sp>
        <p:nvSpPr>
          <p:cNvPr id="34" name="Shape 32"/>
          <p:cNvSpPr/>
          <p:nvPr/>
        </p:nvSpPr>
        <p:spPr>
          <a:xfrm>
            <a:off x="6309360" y="3154680"/>
            <a:ext cx="2423160" cy="457200"/>
          </a:xfrm>
          <a:prstGeom prst="roundRect">
            <a:avLst>
              <a:gd name="adj" fmla="val 10000"/>
            </a:avLst>
          </a:prstGeom>
          <a:solidFill>
            <a:srgbClr val="0D2137"/>
          </a:solidFill>
          <a:ln w="10160">
            <a:solidFill>
              <a:srgbClr val="06D6A0"/>
            </a:solidFill>
            <a:prstDash val="solid"/>
          </a:ln>
        </p:spPr>
        <p:txBody>
          <a:bodyPr/>
          <a:lstStyle/>
          <a:p>
            <a:endParaRPr lang="en-IN"/>
          </a:p>
        </p:txBody>
      </p:sp>
      <p:sp>
        <p:nvSpPr>
          <p:cNvPr id="35" name="Text 33"/>
          <p:cNvSpPr/>
          <p:nvPr/>
        </p:nvSpPr>
        <p:spPr>
          <a:xfrm>
            <a:off x="6400800" y="3154680"/>
            <a:ext cx="2286000" cy="457200"/>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Azure deployment with CI/CD pipeline</a:t>
            </a:r>
            <a:endParaRPr lang="en-US" sz="1100" dirty="0"/>
          </a:p>
        </p:txBody>
      </p:sp>
      <p:sp>
        <p:nvSpPr>
          <p:cNvPr id="36" name="Shape 34"/>
          <p:cNvSpPr/>
          <p:nvPr/>
        </p:nvSpPr>
        <p:spPr>
          <a:xfrm>
            <a:off x="6309360" y="3703320"/>
            <a:ext cx="2423160" cy="457200"/>
          </a:xfrm>
          <a:prstGeom prst="roundRect">
            <a:avLst>
              <a:gd name="adj" fmla="val 10000"/>
            </a:avLst>
          </a:prstGeom>
          <a:solidFill>
            <a:srgbClr val="0B3020"/>
          </a:solidFill>
          <a:ln w="10160">
            <a:solidFill>
              <a:srgbClr val="06D6A0"/>
            </a:solidFill>
            <a:prstDash val="solid"/>
          </a:ln>
        </p:spPr>
        <p:txBody>
          <a:bodyPr/>
          <a:lstStyle/>
          <a:p>
            <a:endParaRPr lang="en-IN"/>
          </a:p>
        </p:txBody>
      </p:sp>
      <p:sp>
        <p:nvSpPr>
          <p:cNvPr id="37" name="Text 35"/>
          <p:cNvSpPr/>
          <p:nvPr/>
        </p:nvSpPr>
        <p:spPr>
          <a:xfrm>
            <a:off x="6400800" y="3703320"/>
            <a:ext cx="2286000" cy="457200"/>
          </a:xfrm>
          <a:prstGeom prst="rect">
            <a:avLst/>
          </a:prstGeom>
          <a:noFill/>
          <a:ln/>
        </p:spPr>
        <p:txBody>
          <a:bodyPr wrap="square" rtlCol="0" anchor="ctr"/>
          <a:lstStyle/>
          <a:p>
            <a:pPr marL="0" indent="0">
              <a:buNone/>
            </a:pPr>
            <a:r>
              <a:rPr lang="en-US" sz="1100" b="1" dirty="0">
                <a:solidFill>
                  <a:srgbClr val="06D6A0"/>
                </a:solidFill>
              </a:rPr>
              <a:t>→  </a:t>
            </a:r>
            <a:r>
              <a:rPr lang="en-US" sz="950" dirty="0">
                <a:solidFill>
                  <a:srgbClr val="FFFFFF"/>
                </a:solidFill>
              </a:rPr>
              <a:t>PDF policy certificate generation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E4D8C">
              <a:alpha val="20000"/>
            </a:srgbClr>
          </a:solidFill>
          <a:ln w="12700">
            <a:solidFill>
              <a:srgbClr val="1E4D8C">
                <a:alpha val="20000"/>
              </a:srgbClr>
            </a:solidFill>
            <a:prstDash val="solid"/>
          </a:ln>
        </p:spPr>
        <p:txBody>
          <a:bodyPr/>
          <a:lstStyle/>
          <a:p>
            <a:endParaRPr lang="en-IN"/>
          </a:p>
        </p:txBody>
      </p:sp>
      <p:sp>
        <p:nvSpPr>
          <p:cNvPr id="3" name="Shape 1"/>
          <p:cNvSpPr/>
          <p:nvPr/>
        </p:nvSpPr>
        <p:spPr>
          <a:xfrm>
            <a:off x="6400800" y="2743200"/>
            <a:ext cx="3657600" cy="3657600"/>
          </a:xfrm>
          <a:prstGeom prst="ellipse">
            <a:avLst/>
          </a:prstGeom>
          <a:solidFill>
            <a:srgbClr val="0096B4">
              <a:alpha val="20000"/>
            </a:srgbClr>
          </a:solidFill>
          <a:ln w="12700">
            <a:solidFill>
              <a:srgbClr val="0096B4">
                <a:alpha val="20000"/>
              </a:srgbClr>
            </a:solidFill>
            <a:prstDash val="solid"/>
          </a:ln>
        </p:spPr>
        <p:txBody>
          <a:bodyPr/>
          <a:lstStyle/>
          <a:p>
            <a:endParaRPr lang="en-IN"/>
          </a:p>
        </p:txBody>
      </p:sp>
      <p:sp>
        <p:nvSpPr>
          <p:cNvPr id="4" name="Shape 2"/>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12" name="Text 2">
            <a:extLst>
              <a:ext uri="{FF2B5EF4-FFF2-40B4-BE49-F238E27FC236}">
                <a16:creationId xmlns:a16="http://schemas.microsoft.com/office/drawing/2014/main" id="{F3DD1AFF-A526-4B4C-65F2-20AE6AC4FC16}"/>
              </a:ext>
            </a:extLst>
          </p:cNvPr>
          <p:cNvSpPr/>
          <p:nvPr/>
        </p:nvSpPr>
        <p:spPr>
          <a:xfrm>
            <a:off x="475488" y="252960"/>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Acknowledgement</a:t>
            </a:r>
            <a:endParaRPr lang="en-US" sz="2600" dirty="0"/>
          </a:p>
        </p:txBody>
      </p:sp>
      <p:sp>
        <p:nvSpPr>
          <p:cNvPr id="14" name="TextBox 13">
            <a:extLst>
              <a:ext uri="{FF2B5EF4-FFF2-40B4-BE49-F238E27FC236}">
                <a16:creationId xmlns:a16="http://schemas.microsoft.com/office/drawing/2014/main" id="{62DD6909-43C7-1FD3-055F-D454BC5EFE33}"/>
              </a:ext>
            </a:extLst>
          </p:cNvPr>
          <p:cNvSpPr txBox="1"/>
          <p:nvPr/>
        </p:nvSpPr>
        <p:spPr>
          <a:xfrm>
            <a:off x="351694" y="877824"/>
            <a:ext cx="8686798" cy="4154984"/>
          </a:xfrm>
          <a:prstGeom prst="rect">
            <a:avLst/>
          </a:prstGeom>
          <a:noFill/>
        </p:spPr>
        <p:txBody>
          <a:bodyPr wrap="square">
            <a:spAutoFit/>
          </a:bodyPr>
          <a:lstStyle/>
          <a:p>
            <a:r>
              <a:rPr lang="en-IN" sz="1600" dirty="0">
                <a:solidFill>
                  <a:schemeClr val="bg1">
                    <a:lumMod val="85000"/>
                  </a:schemeClr>
                </a:solidFill>
              </a:rPr>
              <a:t>I would like to express my sincere appreciation to The Hartford for offering this opportunity and for encouraging innovation, learning, and practical exposure to real-world enterprise systems.</a:t>
            </a:r>
          </a:p>
          <a:p>
            <a:pPr>
              <a:spcBef>
                <a:spcPts val="1200"/>
              </a:spcBef>
            </a:pPr>
            <a:r>
              <a:rPr lang="en-IN" sz="1600" dirty="0">
                <a:solidFill>
                  <a:schemeClr val="bg1">
                    <a:lumMod val="85000"/>
                  </a:schemeClr>
                </a:solidFill>
              </a:rPr>
              <a:t>I am grateful to GUVI and the entire team for organizing this program and providing continuous support, structured learning, and valuable resources throughout the journey.</a:t>
            </a:r>
          </a:p>
          <a:p>
            <a:pPr>
              <a:spcBef>
                <a:spcPts val="1200"/>
              </a:spcBef>
            </a:pPr>
            <a:r>
              <a:rPr lang="en-IN" sz="1600" dirty="0">
                <a:solidFill>
                  <a:schemeClr val="bg1">
                    <a:lumMod val="85000"/>
                  </a:schemeClr>
                </a:solidFill>
              </a:rPr>
              <a:t>I would like to extend my special thanks to Surya Thammiraju, Head and Managing Director, India – The Hartford, for his inspiring leadership and constant encouragement that made this learning experience possible.</a:t>
            </a:r>
          </a:p>
          <a:p>
            <a:pPr>
              <a:spcBef>
                <a:spcPts val="1200"/>
              </a:spcBef>
            </a:pPr>
            <a:r>
              <a:rPr lang="en-IN" sz="1600" dirty="0">
                <a:solidFill>
                  <a:schemeClr val="bg1">
                    <a:lumMod val="85000"/>
                  </a:schemeClr>
                </a:solidFill>
              </a:rPr>
              <a:t>I would also like to thank Ranjan Bhatnagar, Microsoft Certified Instructor with more than 30 years of experience, for his exceptional guidance, mentorship, and for sharing his deep knowledge of .NET technologies.</a:t>
            </a:r>
          </a:p>
          <a:p>
            <a:pPr>
              <a:spcBef>
                <a:spcPts val="1200"/>
              </a:spcBef>
            </a:pPr>
            <a:r>
              <a:rPr lang="en-IN" sz="1600" dirty="0">
                <a:solidFill>
                  <a:schemeClr val="bg1">
                    <a:lumMod val="85000"/>
                  </a:schemeClr>
                </a:solidFill>
              </a:rPr>
              <a:t>I would like to acknowledge Koti Rama Murthy Davuluri, Senior Staff Software Engineer at The Hartford, for his technical guidance, support, and valuable insights throughout the development of this project.</a:t>
            </a:r>
            <a:endParaRPr lang="en-US" sz="1600" dirty="0">
              <a:solidFill>
                <a:schemeClr val="bg1">
                  <a:lumMod val="85000"/>
                </a:schemeClr>
              </a:solidFill>
            </a:endParaRPr>
          </a:p>
          <a:p>
            <a:endParaRPr lang="en-IN" sz="1600" dirty="0">
              <a:solidFill>
                <a:schemeClr val="bg1"/>
              </a:solidFill>
            </a:endParaRPr>
          </a:p>
        </p:txBody>
      </p:sp>
      <p:sp>
        <p:nvSpPr>
          <p:cNvPr id="15" name="Shape 3">
            <a:extLst>
              <a:ext uri="{FF2B5EF4-FFF2-40B4-BE49-F238E27FC236}">
                <a16:creationId xmlns:a16="http://schemas.microsoft.com/office/drawing/2014/main" id="{3D7DE50A-8011-70FF-00DE-B33F64FFF3EB}"/>
              </a:ext>
            </a:extLst>
          </p:cNvPr>
          <p:cNvSpPr/>
          <p:nvPr/>
        </p:nvSpPr>
        <p:spPr>
          <a:xfrm>
            <a:off x="475488" y="763875"/>
            <a:ext cx="8503920" cy="0"/>
          </a:xfrm>
          <a:prstGeom prst="line">
            <a:avLst/>
          </a:prstGeom>
          <a:noFill/>
          <a:ln w="12700">
            <a:solidFill>
              <a:srgbClr val="1E4D8C"/>
            </a:solidFill>
            <a:prstDash val="solid"/>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8B20ABFA-DD42-0CC8-C90A-62BC55C1E58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59E768-DA73-173B-87E9-1DEBEB9B9F07}"/>
              </a:ext>
            </a:extLst>
          </p:cNvPr>
          <p:cNvSpPr/>
          <p:nvPr/>
        </p:nvSpPr>
        <p:spPr>
          <a:xfrm>
            <a:off x="-914400" y="-914400"/>
            <a:ext cx="4572000" cy="4572000"/>
          </a:xfrm>
          <a:prstGeom prst="ellipse">
            <a:avLst/>
          </a:prstGeom>
          <a:solidFill>
            <a:srgbClr val="1E4D8C">
              <a:alpha val="20000"/>
            </a:srgbClr>
          </a:solidFill>
          <a:ln w="12700">
            <a:solidFill>
              <a:srgbClr val="1E4D8C">
                <a:alpha val="20000"/>
              </a:srgbClr>
            </a:solidFill>
            <a:prstDash val="solid"/>
          </a:ln>
        </p:spPr>
        <p:txBody>
          <a:bodyPr/>
          <a:lstStyle/>
          <a:p>
            <a:endParaRPr lang="en-IN"/>
          </a:p>
        </p:txBody>
      </p:sp>
      <p:sp>
        <p:nvSpPr>
          <p:cNvPr id="3" name="Shape 1">
            <a:extLst>
              <a:ext uri="{FF2B5EF4-FFF2-40B4-BE49-F238E27FC236}">
                <a16:creationId xmlns:a16="http://schemas.microsoft.com/office/drawing/2014/main" id="{FC272C44-CD36-D301-21B5-6472AE9853D1}"/>
              </a:ext>
            </a:extLst>
          </p:cNvPr>
          <p:cNvSpPr/>
          <p:nvPr/>
        </p:nvSpPr>
        <p:spPr>
          <a:xfrm>
            <a:off x="6400800" y="2743200"/>
            <a:ext cx="3657600" cy="3657600"/>
          </a:xfrm>
          <a:prstGeom prst="ellipse">
            <a:avLst/>
          </a:prstGeom>
          <a:solidFill>
            <a:srgbClr val="0096B4">
              <a:alpha val="20000"/>
            </a:srgbClr>
          </a:solidFill>
          <a:ln w="12700">
            <a:solidFill>
              <a:srgbClr val="0096B4">
                <a:alpha val="20000"/>
              </a:srgbClr>
            </a:solidFill>
            <a:prstDash val="solid"/>
          </a:ln>
        </p:spPr>
        <p:txBody>
          <a:bodyPr/>
          <a:lstStyle/>
          <a:p>
            <a:endParaRPr lang="en-IN"/>
          </a:p>
        </p:txBody>
      </p:sp>
      <p:sp>
        <p:nvSpPr>
          <p:cNvPr id="4" name="Shape 2">
            <a:extLst>
              <a:ext uri="{FF2B5EF4-FFF2-40B4-BE49-F238E27FC236}">
                <a16:creationId xmlns:a16="http://schemas.microsoft.com/office/drawing/2014/main" id="{D3055097-047A-55E7-DFFA-0EFABB33AAED}"/>
              </a:ext>
            </a:extLst>
          </p:cNvPr>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5" name="Text 3">
            <a:extLst>
              <a:ext uri="{FF2B5EF4-FFF2-40B4-BE49-F238E27FC236}">
                <a16:creationId xmlns:a16="http://schemas.microsoft.com/office/drawing/2014/main" id="{6CBDCCAE-F34B-24D2-9CDF-07209E68D14A}"/>
              </a:ext>
            </a:extLst>
          </p:cNvPr>
          <p:cNvSpPr/>
          <p:nvPr/>
        </p:nvSpPr>
        <p:spPr>
          <a:xfrm>
            <a:off x="457200" y="1005840"/>
            <a:ext cx="8229600" cy="914400"/>
          </a:xfrm>
          <a:prstGeom prst="rect">
            <a:avLst/>
          </a:prstGeom>
          <a:noFill/>
          <a:ln/>
        </p:spPr>
        <p:txBody>
          <a:bodyPr wrap="square" rtlCol="0" anchor="ctr"/>
          <a:lstStyle/>
          <a:p>
            <a:pPr marL="0" indent="0" algn="ctr">
              <a:buNone/>
            </a:pPr>
            <a:r>
              <a:rPr lang="en-US" sz="5400" b="1" kern="0" spc="600" dirty="0">
                <a:solidFill>
                  <a:srgbClr val="FFFFFF"/>
                </a:solidFill>
              </a:rPr>
              <a:t>THANK YOU</a:t>
            </a:r>
            <a:endParaRPr lang="en-US" sz="5400" dirty="0"/>
          </a:p>
        </p:txBody>
      </p:sp>
      <p:sp>
        <p:nvSpPr>
          <p:cNvPr id="6" name="Shape 4">
            <a:extLst>
              <a:ext uri="{FF2B5EF4-FFF2-40B4-BE49-F238E27FC236}">
                <a16:creationId xmlns:a16="http://schemas.microsoft.com/office/drawing/2014/main" id="{F09D124E-B48F-2CEB-E33A-8ED17B7F7646}"/>
              </a:ext>
            </a:extLst>
          </p:cNvPr>
          <p:cNvSpPr/>
          <p:nvPr/>
        </p:nvSpPr>
        <p:spPr>
          <a:xfrm>
            <a:off x="2286000" y="2011680"/>
            <a:ext cx="4572000" cy="0"/>
          </a:xfrm>
          <a:prstGeom prst="line">
            <a:avLst/>
          </a:prstGeom>
          <a:noFill/>
          <a:ln w="25400">
            <a:solidFill>
              <a:srgbClr val="00B4D8"/>
            </a:solidFill>
            <a:prstDash val="solid"/>
          </a:ln>
        </p:spPr>
        <p:txBody>
          <a:bodyPr/>
          <a:lstStyle/>
          <a:p>
            <a:endParaRPr lang="en-IN"/>
          </a:p>
        </p:txBody>
      </p:sp>
      <p:sp>
        <p:nvSpPr>
          <p:cNvPr id="7" name="Text 5">
            <a:extLst>
              <a:ext uri="{FF2B5EF4-FFF2-40B4-BE49-F238E27FC236}">
                <a16:creationId xmlns:a16="http://schemas.microsoft.com/office/drawing/2014/main" id="{EC944A1E-FFAA-DBA4-6CFC-F9F278B1C5B8}"/>
              </a:ext>
            </a:extLst>
          </p:cNvPr>
          <p:cNvSpPr/>
          <p:nvPr/>
        </p:nvSpPr>
        <p:spPr>
          <a:xfrm>
            <a:off x="457200" y="2148840"/>
            <a:ext cx="8229600" cy="457200"/>
          </a:xfrm>
          <a:prstGeom prst="rect">
            <a:avLst/>
          </a:prstGeom>
          <a:noFill/>
          <a:ln/>
        </p:spPr>
        <p:txBody>
          <a:bodyPr wrap="square" rtlCol="0" anchor="ctr"/>
          <a:lstStyle/>
          <a:p>
            <a:pPr marL="0" indent="0" algn="ctr">
              <a:buNone/>
            </a:pPr>
            <a:r>
              <a:rPr lang="en-US" sz="1800" b="1" dirty="0">
                <a:solidFill>
                  <a:srgbClr val="00B4D8"/>
                </a:solidFill>
              </a:rPr>
              <a:t>Vehicle Insurance Management System</a:t>
            </a:r>
            <a:endParaRPr lang="en-US" sz="1800" dirty="0"/>
          </a:p>
        </p:txBody>
      </p:sp>
      <p:sp>
        <p:nvSpPr>
          <p:cNvPr id="8" name="Text 6">
            <a:extLst>
              <a:ext uri="{FF2B5EF4-FFF2-40B4-BE49-F238E27FC236}">
                <a16:creationId xmlns:a16="http://schemas.microsoft.com/office/drawing/2014/main" id="{463E0099-BCE1-ECF9-6A7A-D62966C920C0}"/>
              </a:ext>
            </a:extLst>
          </p:cNvPr>
          <p:cNvSpPr/>
          <p:nvPr/>
        </p:nvSpPr>
        <p:spPr>
          <a:xfrm>
            <a:off x="457200" y="2651760"/>
            <a:ext cx="8229600" cy="594360"/>
          </a:xfrm>
          <a:prstGeom prst="rect">
            <a:avLst/>
          </a:prstGeom>
          <a:noFill/>
          <a:ln/>
        </p:spPr>
        <p:txBody>
          <a:bodyPr wrap="square" rtlCol="0" anchor="ctr"/>
          <a:lstStyle/>
          <a:p>
            <a:pPr marL="0" indent="0" algn="ctr">
              <a:buNone/>
            </a:pPr>
            <a:r>
              <a:rPr lang="en-US" sz="1300" dirty="0">
                <a:solidFill>
                  <a:srgbClr val="8FA8C8"/>
                </a:solidFill>
              </a:rPr>
              <a:t>Built with Angular 20  ·  .NET 8  ·  SQL Server</a:t>
            </a:r>
            <a:endParaRPr lang="en-US" sz="1300" dirty="0"/>
          </a:p>
          <a:p>
            <a:pPr marL="0" indent="0" algn="ctr">
              <a:buNone/>
            </a:pPr>
            <a:r>
              <a:rPr lang="en-US" sz="1300" dirty="0">
                <a:solidFill>
                  <a:srgbClr val="8FA8C8"/>
                </a:solidFill>
              </a:rPr>
              <a:t>Clean Architecture  ·  JWT Security  </a:t>
            </a:r>
            <a:endParaRPr lang="en-US" sz="1300" dirty="0"/>
          </a:p>
        </p:txBody>
      </p:sp>
      <p:sp>
        <p:nvSpPr>
          <p:cNvPr id="11" name="Text 9">
            <a:extLst>
              <a:ext uri="{FF2B5EF4-FFF2-40B4-BE49-F238E27FC236}">
                <a16:creationId xmlns:a16="http://schemas.microsoft.com/office/drawing/2014/main" id="{A07B95F5-1BDC-04B8-AD41-FFEA2DFE326F}"/>
              </a:ext>
            </a:extLst>
          </p:cNvPr>
          <p:cNvSpPr/>
          <p:nvPr/>
        </p:nvSpPr>
        <p:spPr>
          <a:xfrm>
            <a:off x="457200" y="4480560"/>
            <a:ext cx="8229600" cy="320040"/>
          </a:xfrm>
          <a:prstGeom prst="rect">
            <a:avLst/>
          </a:prstGeom>
          <a:noFill/>
          <a:ln/>
        </p:spPr>
        <p:txBody>
          <a:bodyPr wrap="square" rtlCol="0" anchor="ctr"/>
          <a:lstStyle/>
          <a:p>
            <a:pPr marL="0" indent="0" algn="ctr">
              <a:buNone/>
            </a:pPr>
            <a:r>
              <a:rPr lang="en-US" sz="1400" dirty="0">
                <a:solidFill>
                  <a:srgbClr val="8FA8C8"/>
                </a:solidFill>
              </a:rPr>
              <a:t>Rohith  Reddy Alumula</a:t>
            </a:r>
            <a:endParaRPr lang="en-US" sz="1400" dirty="0"/>
          </a:p>
        </p:txBody>
      </p:sp>
    </p:spTree>
    <p:extLst>
      <p:ext uri="{BB962C8B-B14F-4D97-AF65-F5344CB8AC3E}">
        <p14:creationId xmlns:p14="http://schemas.microsoft.com/office/powerpoint/2010/main" val="2030555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1205</Words>
  <Application>Microsoft Office PowerPoint</Application>
  <PresentationFormat>On-screen Show (16:9)</PresentationFormat>
  <Paragraphs>247</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VIMS – Vehicle Insurance Management System</dc:title>
  <dc:subject>PptxGenJS Presentation</dc:subject>
  <dc:creator>PptxGenJS</dc:creator>
  <cp:lastModifiedBy>Rohith Reddy</cp:lastModifiedBy>
  <cp:revision>5</cp:revision>
  <dcterms:created xsi:type="dcterms:W3CDTF">2026-03-04T08:40:09Z</dcterms:created>
  <dcterms:modified xsi:type="dcterms:W3CDTF">2026-03-09T10:32:56Z</dcterms:modified>
</cp:coreProperties>
</file>